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swald Bold" charset="1" panose="00000800000000000000"/>
      <p:regular r:id="rId12"/>
    </p:embeddedFont>
    <p:embeddedFont>
      <p:font typeface="Times New Roman Bold" charset="1" panose="02020803070505020304"/>
      <p:regular r:id="rId13"/>
    </p:embeddedFont>
    <p:embeddedFont>
      <p:font typeface="Times New Roman" charset="1" panose="020206030504050203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.pn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80009" y="-1315517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82559" y="7528223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389883" y="5388966"/>
            <a:ext cx="6492240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703990" y="186403"/>
            <a:ext cx="13084230" cy="1684595"/>
          </a:xfrm>
          <a:custGeom>
            <a:avLst/>
            <a:gdLst/>
            <a:ahLst/>
            <a:cxnLst/>
            <a:rect r="r" b="b" t="t" l="l"/>
            <a:pathLst>
              <a:path h="1684595" w="13084230">
                <a:moveTo>
                  <a:pt x="0" y="0"/>
                </a:moveTo>
                <a:lnTo>
                  <a:pt x="13084230" y="0"/>
                </a:lnTo>
                <a:lnTo>
                  <a:pt x="13084230" y="1684594"/>
                </a:lnTo>
                <a:lnTo>
                  <a:pt x="0" y="168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20812" y="2839020"/>
            <a:ext cx="10770522" cy="309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62"/>
              </a:lnSpc>
            </a:pPr>
            <a:r>
              <a:rPr lang="en-US" b="true" sz="8208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ROLE OF DATA CENTERS IN CLOUD COMPUTING</a:t>
            </a:r>
          </a:p>
          <a:p>
            <a:pPr algn="ctr">
              <a:lnSpc>
                <a:spcPts val="796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71997" y="6338396"/>
            <a:ext cx="16077670" cy="134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CS</a:t>
            </a:r>
            <a:r>
              <a:rPr lang="en-US" b="true" sz="3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A1516 - CLOUD COMPUTING AND BIG DATA ANALYTICS</a:t>
            </a:r>
          </a:p>
          <a:p>
            <a:pPr algn="ctr">
              <a:lnSpc>
                <a:spcPts val="53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517123" y="8267450"/>
            <a:ext cx="5151363" cy="1155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5"/>
              </a:lnSpc>
            </a:pPr>
            <a:r>
              <a:rPr lang="en-US" sz="32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 : R.MOHANRAM</a:t>
            </a:r>
          </a:p>
          <a:p>
            <a:pPr algn="just">
              <a:lnSpc>
                <a:spcPts val="4585"/>
              </a:lnSpc>
            </a:pPr>
            <a:r>
              <a:rPr lang="en-US" sz="32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 No: 192521117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424133" y="2312624"/>
            <a:ext cx="4029910" cy="3978620"/>
          </a:xfrm>
          <a:custGeom>
            <a:avLst/>
            <a:gdLst/>
            <a:ahLst/>
            <a:cxnLst/>
            <a:rect r="r" b="b" t="t" l="l"/>
            <a:pathLst>
              <a:path h="3978620" w="4029910">
                <a:moveTo>
                  <a:pt x="0" y="0"/>
                </a:moveTo>
                <a:lnTo>
                  <a:pt x="4029910" y="0"/>
                </a:lnTo>
                <a:lnTo>
                  <a:pt x="4029910" y="3978620"/>
                </a:lnTo>
                <a:lnTo>
                  <a:pt x="0" y="39786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4525" y="8099251"/>
            <a:ext cx="6735665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 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SANTHIYA LAKSHMI K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214804" y="-531896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108709" y="701357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16375" y="4971671"/>
            <a:ext cx="8208847" cy="488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2041" indent="-371020" lvl="1">
              <a:lnSpc>
                <a:spcPts val="4811"/>
              </a:lnSpc>
              <a:spcBef>
                <a:spcPct val="0"/>
              </a:spcBef>
              <a:buFont typeface="Arial"/>
              <a:buChar char="•"/>
            </a:pPr>
            <a:r>
              <a:rPr lang="en-US" sz="34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data center is a physical facility that contains servers and st</a:t>
            </a:r>
            <a:r>
              <a:rPr lang="en-US" sz="34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orage systems</a:t>
            </a:r>
          </a:p>
          <a:p>
            <a:pPr algn="just" marL="742041" indent="-371020" lvl="1">
              <a:lnSpc>
                <a:spcPts val="4811"/>
              </a:lnSpc>
              <a:spcBef>
                <a:spcPct val="0"/>
              </a:spcBef>
              <a:buFont typeface="Arial"/>
              <a:buChar char="•"/>
            </a:pPr>
            <a:r>
              <a:rPr lang="en-US" sz="34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stores, processes, and manages cloud data</a:t>
            </a:r>
          </a:p>
          <a:p>
            <a:pPr algn="just" marL="742041" indent="-371020" lvl="1">
              <a:lnSpc>
                <a:spcPts val="4811"/>
              </a:lnSpc>
              <a:spcBef>
                <a:spcPct val="0"/>
              </a:spcBef>
              <a:buFont typeface="Arial"/>
              <a:buChar char="•"/>
            </a:pPr>
            <a:r>
              <a:rPr lang="en-US" sz="34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service providers use multiple data centers worldwide</a:t>
            </a:r>
          </a:p>
          <a:p>
            <a:pPr algn="just" marL="742041" indent="-371020" lvl="1">
              <a:lnSpc>
                <a:spcPts val="4811"/>
              </a:lnSpc>
              <a:spcBef>
                <a:spcPct val="0"/>
              </a:spcBef>
              <a:buFont typeface="Arial"/>
              <a:buChar char="•"/>
            </a:pPr>
            <a:r>
              <a:rPr lang="en-US" sz="34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Acts as the backbone of cloud computing</a:t>
            </a:r>
          </a:p>
          <a:p>
            <a:pPr algn="just">
              <a:lnSpc>
                <a:spcPts val="4811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016375" y="3949439"/>
            <a:ext cx="8074840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b="true" sz="800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EXPLANATION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933106" y="66474"/>
            <a:ext cx="1354894" cy="1684595"/>
          </a:xfrm>
          <a:custGeom>
            <a:avLst/>
            <a:gdLst/>
            <a:ahLst/>
            <a:cxnLst/>
            <a:rect r="r" b="b" t="t" l="l"/>
            <a:pathLst>
              <a:path h="1684595" w="1354894">
                <a:moveTo>
                  <a:pt x="0" y="0"/>
                </a:moveTo>
                <a:lnTo>
                  <a:pt x="1354894" y="0"/>
                </a:lnTo>
                <a:lnTo>
                  <a:pt x="1354894" y="1684594"/>
                </a:lnTo>
                <a:lnTo>
                  <a:pt x="0" y="168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6570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1747042" cy="1525504"/>
          </a:xfrm>
          <a:custGeom>
            <a:avLst/>
            <a:gdLst/>
            <a:ahLst/>
            <a:cxnLst/>
            <a:rect r="r" b="b" t="t" l="l"/>
            <a:pathLst>
              <a:path h="1525504" w="1747042">
                <a:moveTo>
                  <a:pt x="0" y="0"/>
                </a:moveTo>
                <a:lnTo>
                  <a:pt x="1747042" y="0"/>
                </a:lnTo>
                <a:lnTo>
                  <a:pt x="1747042" y="1525504"/>
                </a:lnTo>
                <a:lnTo>
                  <a:pt x="0" y="1525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7321" t="0" r="-230886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74358" y="4820184"/>
            <a:ext cx="7166932" cy="3234078"/>
          </a:xfrm>
          <a:custGeom>
            <a:avLst/>
            <a:gdLst/>
            <a:ahLst/>
            <a:cxnLst/>
            <a:rect r="r" b="b" t="t" l="l"/>
            <a:pathLst>
              <a:path h="3234078" w="7166932">
                <a:moveTo>
                  <a:pt x="0" y="0"/>
                </a:moveTo>
                <a:lnTo>
                  <a:pt x="7166932" y="0"/>
                </a:lnTo>
                <a:lnTo>
                  <a:pt x="7166932" y="3234078"/>
                </a:lnTo>
                <a:lnTo>
                  <a:pt x="0" y="32340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16375" y="876300"/>
            <a:ext cx="8806856" cy="328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OBJECTIVE: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derstand the concept of data centers.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analyze their role in cloud computing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36254" y="1209675"/>
            <a:ext cx="12777642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6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 DA</a:t>
            </a:r>
            <a:r>
              <a:rPr lang="en-US" b="true" sz="8000" strike="noStrike" u="non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TA</a:t>
            </a:r>
            <a:r>
              <a:rPr lang="en-US" b="true" sz="8000" strike="noStrike" u="non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 CE</a:t>
            </a:r>
            <a:r>
              <a:rPr lang="en-US" b="true" sz="8000" strike="noStrike" u="non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N</a:t>
            </a:r>
            <a:r>
              <a:rPr lang="en-US" b="true" sz="8000" strike="noStrike" u="non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TER</a:t>
            </a:r>
            <a:r>
              <a:rPr lang="en-US" b="true" sz="8000" strike="noStrike" u="non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 </a:t>
            </a:r>
            <a:r>
              <a:rPr lang="en-US" b="true" sz="8000" strike="noStrike" u="non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ARCHITECT</a:t>
            </a:r>
            <a:r>
              <a:rPr lang="en-US" b="true" sz="8000" strike="noStrike" u="non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U</a:t>
            </a:r>
            <a:r>
              <a:rPr lang="en-US" b="true" sz="8000" strike="noStrike" u="non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RE</a:t>
            </a:r>
          </a:p>
          <a:p>
            <a:pPr algn="just" marL="0" indent="0" lvl="0">
              <a:lnSpc>
                <a:spcPts val="7760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981462" y="2639719"/>
            <a:ext cx="3675885" cy="1658743"/>
          </a:xfrm>
          <a:custGeom>
            <a:avLst/>
            <a:gdLst/>
            <a:ahLst/>
            <a:cxnLst/>
            <a:rect r="r" b="b" t="t" l="l"/>
            <a:pathLst>
              <a:path h="1658743" w="3675885">
                <a:moveTo>
                  <a:pt x="0" y="0"/>
                </a:moveTo>
                <a:lnTo>
                  <a:pt x="3675885" y="0"/>
                </a:lnTo>
                <a:lnTo>
                  <a:pt x="3675885" y="1658743"/>
                </a:lnTo>
                <a:lnTo>
                  <a:pt x="0" y="1658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702072" y="5281432"/>
            <a:ext cx="2552561" cy="1654318"/>
            <a:chOff x="0" y="0"/>
            <a:chExt cx="10033000" cy="650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35780" cy="6502400"/>
            </a:xfrm>
            <a:custGeom>
              <a:avLst/>
              <a:gdLst/>
              <a:ahLst/>
              <a:cxnLst/>
              <a:rect r="r" b="b" t="t" l="l"/>
              <a:pathLst>
                <a:path h="6502400" w="10035780">
                  <a:moveTo>
                    <a:pt x="9992839" y="3748081"/>
                  </a:moveTo>
                  <a:lnTo>
                    <a:pt x="9949899" y="3619260"/>
                  </a:lnTo>
                  <a:cubicBezTo>
                    <a:pt x="9907472" y="3491981"/>
                    <a:pt x="9790243" y="3245687"/>
                    <a:pt x="9718214" y="3132498"/>
                  </a:cubicBezTo>
                  <a:lnTo>
                    <a:pt x="9619355" y="2977147"/>
                  </a:lnTo>
                  <a:cubicBezTo>
                    <a:pt x="9569231" y="2898381"/>
                    <a:pt x="9452427" y="2761736"/>
                    <a:pt x="9382421" y="2699967"/>
                  </a:cubicBezTo>
                  <a:lnTo>
                    <a:pt x="9239189" y="2573585"/>
                  </a:lnTo>
                  <a:cubicBezTo>
                    <a:pt x="9172879" y="2515075"/>
                    <a:pt x="9021731" y="2409782"/>
                    <a:pt x="8943867" y="2367855"/>
                  </a:cubicBezTo>
                  <a:lnTo>
                    <a:pt x="8864121" y="2324915"/>
                  </a:lnTo>
                  <a:cubicBezTo>
                    <a:pt x="8827517" y="2305205"/>
                    <a:pt x="8738229" y="2265495"/>
                    <a:pt x="8699078" y="2251512"/>
                  </a:cubicBezTo>
                  <a:lnTo>
                    <a:pt x="8522550" y="2188465"/>
                  </a:lnTo>
                  <a:cubicBezTo>
                    <a:pt x="8472304" y="2170520"/>
                    <a:pt x="8436128" y="2126224"/>
                    <a:pt x="8428583" y="2073406"/>
                  </a:cubicBezTo>
                  <a:lnTo>
                    <a:pt x="8416314" y="1987526"/>
                  </a:lnTo>
                  <a:cubicBezTo>
                    <a:pt x="8404032" y="1901553"/>
                    <a:pt x="8357640" y="1736112"/>
                    <a:pt x="8323430" y="1656288"/>
                  </a:cubicBezTo>
                  <a:lnTo>
                    <a:pt x="8247184" y="1478384"/>
                  </a:lnTo>
                  <a:cubicBezTo>
                    <a:pt x="8210855" y="1393613"/>
                    <a:pt x="8113536" y="1216984"/>
                    <a:pt x="8061287" y="1140983"/>
                  </a:cubicBezTo>
                  <a:lnTo>
                    <a:pt x="7981158" y="1024433"/>
                  </a:lnTo>
                  <a:cubicBezTo>
                    <a:pt x="7943404" y="969519"/>
                    <a:pt x="7848139" y="854992"/>
                    <a:pt x="7801018" y="807871"/>
                  </a:cubicBezTo>
                  <a:lnTo>
                    <a:pt x="7691531" y="698383"/>
                  </a:lnTo>
                  <a:cubicBezTo>
                    <a:pt x="7639945" y="646798"/>
                    <a:pt x="7514567" y="542507"/>
                    <a:pt x="7454450" y="501176"/>
                  </a:cubicBezTo>
                  <a:lnTo>
                    <a:pt x="7321948" y="410080"/>
                  </a:lnTo>
                  <a:cubicBezTo>
                    <a:pt x="7259471" y="367128"/>
                    <a:pt x="7111793" y="284472"/>
                    <a:pt x="7042510" y="253680"/>
                  </a:cubicBezTo>
                  <a:lnTo>
                    <a:pt x="6895141" y="188184"/>
                  </a:lnTo>
                  <a:cubicBezTo>
                    <a:pt x="6826254" y="157566"/>
                    <a:pt x="6664456" y="101858"/>
                    <a:pt x="6591322" y="83574"/>
                  </a:cubicBezTo>
                  <a:lnTo>
                    <a:pt x="6473248" y="54055"/>
                  </a:lnTo>
                  <a:cubicBezTo>
                    <a:pt x="6416653" y="39907"/>
                    <a:pt x="6291857" y="22004"/>
                    <a:pt x="6233566" y="19674"/>
                  </a:cubicBezTo>
                  <a:lnTo>
                    <a:pt x="5847554" y="4233"/>
                  </a:lnTo>
                  <a:cubicBezTo>
                    <a:pt x="5777216" y="1419"/>
                    <a:pt x="5706781" y="6170"/>
                    <a:pt x="5637459" y="18403"/>
                  </a:cubicBezTo>
                  <a:lnTo>
                    <a:pt x="5533174" y="36806"/>
                  </a:lnTo>
                  <a:cubicBezTo>
                    <a:pt x="5434421" y="54233"/>
                    <a:pt x="5220401" y="113309"/>
                    <a:pt x="5126692" y="149008"/>
                  </a:cubicBezTo>
                  <a:lnTo>
                    <a:pt x="4968006" y="209460"/>
                  </a:lnTo>
                  <a:cubicBezTo>
                    <a:pt x="4891631" y="238556"/>
                    <a:pt x="4735373" y="317760"/>
                    <a:pt x="4666756" y="362160"/>
                  </a:cubicBezTo>
                  <a:lnTo>
                    <a:pt x="4529472" y="450991"/>
                  </a:lnTo>
                  <a:cubicBezTo>
                    <a:pt x="4463358" y="493771"/>
                    <a:pt x="4332246" y="599763"/>
                    <a:pt x="4276563" y="655446"/>
                  </a:cubicBezTo>
                  <a:lnTo>
                    <a:pt x="4147322" y="784686"/>
                  </a:lnTo>
                  <a:cubicBezTo>
                    <a:pt x="4102183" y="829826"/>
                    <a:pt x="4034825" y="844416"/>
                    <a:pt x="3975052" y="822001"/>
                  </a:cubicBezTo>
                  <a:lnTo>
                    <a:pt x="3876903" y="785195"/>
                  </a:lnTo>
                  <a:cubicBezTo>
                    <a:pt x="3778287" y="748214"/>
                    <a:pt x="3576706" y="702139"/>
                    <a:pt x="3471818" y="692603"/>
                  </a:cubicBezTo>
                  <a:lnTo>
                    <a:pt x="3271381" y="674381"/>
                  </a:lnTo>
                  <a:cubicBezTo>
                    <a:pt x="3184740" y="666504"/>
                    <a:pt x="3097423" y="670767"/>
                    <a:pt x="3011961" y="687046"/>
                  </a:cubicBezTo>
                  <a:lnTo>
                    <a:pt x="2883140" y="711584"/>
                  </a:lnTo>
                  <a:cubicBezTo>
                    <a:pt x="2749779" y="736986"/>
                    <a:pt x="2514430" y="821240"/>
                    <a:pt x="2395248" y="886249"/>
                  </a:cubicBezTo>
                  <a:lnTo>
                    <a:pt x="2240462" y="970677"/>
                  </a:lnTo>
                  <a:cubicBezTo>
                    <a:pt x="2159954" y="1014592"/>
                    <a:pt x="2027808" y="1116832"/>
                    <a:pt x="1965086" y="1183735"/>
                  </a:cubicBezTo>
                  <a:lnTo>
                    <a:pt x="1841350" y="1315720"/>
                  </a:lnTo>
                  <a:cubicBezTo>
                    <a:pt x="1780175" y="1380974"/>
                    <a:pt x="1673193" y="1527663"/>
                    <a:pt x="1629754" y="1605853"/>
                  </a:cubicBezTo>
                  <a:lnTo>
                    <a:pt x="1550998" y="1747615"/>
                  </a:lnTo>
                  <a:cubicBezTo>
                    <a:pt x="1513143" y="1815754"/>
                    <a:pt x="1447474" y="1969873"/>
                    <a:pt x="1424550" y="2044375"/>
                  </a:cubicBezTo>
                  <a:lnTo>
                    <a:pt x="1399320" y="2126369"/>
                  </a:lnTo>
                  <a:cubicBezTo>
                    <a:pt x="1387451" y="2164948"/>
                    <a:pt x="1368784" y="2253474"/>
                    <a:pt x="1364069" y="2293562"/>
                  </a:cubicBezTo>
                  <a:lnTo>
                    <a:pt x="1332501" y="2561892"/>
                  </a:lnTo>
                  <a:cubicBezTo>
                    <a:pt x="1327958" y="2600504"/>
                    <a:pt x="1300913" y="2632729"/>
                    <a:pt x="1263674" y="2643901"/>
                  </a:cubicBezTo>
                  <a:lnTo>
                    <a:pt x="1202331" y="2662304"/>
                  </a:lnTo>
                  <a:cubicBezTo>
                    <a:pt x="1142496" y="2680254"/>
                    <a:pt x="1022670" y="2731666"/>
                    <a:pt x="968432" y="2762659"/>
                  </a:cubicBezTo>
                  <a:lnTo>
                    <a:pt x="852277" y="2829034"/>
                  </a:lnTo>
                  <a:cubicBezTo>
                    <a:pt x="794000" y="2862335"/>
                    <a:pt x="688983" y="2942546"/>
                    <a:pt x="641523" y="2990007"/>
                  </a:cubicBezTo>
                  <a:lnTo>
                    <a:pt x="529328" y="3102200"/>
                  </a:lnTo>
                  <a:cubicBezTo>
                    <a:pt x="474984" y="3156546"/>
                    <a:pt x="373212" y="3283415"/>
                    <a:pt x="331951" y="3348255"/>
                  </a:cubicBezTo>
                  <a:lnTo>
                    <a:pt x="288662" y="3416280"/>
                  </a:lnTo>
                  <a:cubicBezTo>
                    <a:pt x="267950" y="3448830"/>
                    <a:pt x="230405" y="3523600"/>
                    <a:pt x="216670" y="3559654"/>
                  </a:cubicBezTo>
                  <a:lnTo>
                    <a:pt x="102208" y="3860113"/>
                  </a:lnTo>
                  <a:cubicBezTo>
                    <a:pt x="76862" y="3926648"/>
                    <a:pt x="36242" y="4076583"/>
                    <a:pt x="24538" y="4146814"/>
                  </a:cubicBezTo>
                  <a:lnTo>
                    <a:pt x="12268" y="4220426"/>
                  </a:lnTo>
                  <a:cubicBezTo>
                    <a:pt x="6571" y="4254610"/>
                    <a:pt x="0" y="4334008"/>
                    <a:pt x="0" y="4368666"/>
                  </a:cubicBezTo>
                  <a:lnTo>
                    <a:pt x="0" y="4515382"/>
                  </a:lnTo>
                  <a:cubicBezTo>
                    <a:pt x="0" y="4587358"/>
                    <a:pt x="17442" y="4734775"/>
                    <a:pt x="34239" y="4804763"/>
                  </a:cubicBezTo>
                  <a:lnTo>
                    <a:pt x="90731" y="5040147"/>
                  </a:lnTo>
                  <a:cubicBezTo>
                    <a:pt x="119424" y="5159702"/>
                    <a:pt x="206324" y="5378957"/>
                    <a:pt x="267324" y="5485707"/>
                  </a:cubicBezTo>
                  <a:lnTo>
                    <a:pt x="385553" y="5692609"/>
                  </a:lnTo>
                  <a:cubicBezTo>
                    <a:pt x="412128" y="5739115"/>
                    <a:pt x="480426" y="5836028"/>
                    <a:pt x="515285" y="5876697"/>
                  </a:cubicBezTo>
                  <a:lnTo>
                    <a:pt x="552091" y="5919638"/>
                  </a:lnTo>
                  <a:cubicBezTo>
                    <a:pt x="569613" y="5940080"/>
                    <a:pt x="612197" y="5980886"/>
                    <a:pt x="633368" y="5997519"/>
                  </a:cubicBezTo>
                  <a:lnTo>
                    <a:pt x="811541" y="6137514"/>
                  </a:lnTo>
                  <a:cubicBezTo>
                    <a:pt x="867744" y="6181673"/>
                    <a:pt x="1004627" y="6271875"/>
                    <a:pt x="1067375" y="6306101"/>
                  </a:cubicBezTo>
                  <a:lnTo>
                    <a:pt x="1134853" y="6342907"/>
                  </a:lnTo>
                  <a:cubicBezTo>
                    <a:pt x="1167270" y="6360589"/>
                    <a:pt x="1240584" y="6391190"/>
                    <a:pt x="1275952" y="6401800"/>
                  </a:cubicBezTo>
                  <a:lnTo>
                    <a:pt x="1361829" y="6427563"/>
                  </a:lnTo>
                  <a:cubicBezTo>
                    <a:pt x="1400437" y="6439145"/>
                    <a:pt x="1496381" y="6461439"/>
                    <a:pt x="1536141" y="6468064"/>
                  </a:cubicBezTo>
                  <a:lnTo>
                    <a:pt x="1639147" y="6485232"/>
                  </a:lnTo>
                  <a:cubicBezTo>
                    <a:pt x="1686983" y="6493205"/>
                    <a:pt x="1798084" y="6502400"/>
                    <a:pt x="1846579" y="6502400"/>
                  </a:cubicBezTo>
                  <a:lnTo>
                    <a:pt x="8083183" y="6502400"/>
                  </a:lnTo>
                  <a:cubicBezTo>
                    <a:pt x="8157357" y="6502400"/>
                    <a:pt x="8330733" y="6489141"/>
                    <a:pt x="8404044" y="6477862"/>
                  </a:cubicBezTo>
                  <a:lnTo>
                    <a:pt x="8483791" y="6465594"/>
                  </a:lnTo>
                  <a:cubicBezTo>
                    <a:pt x="8523398" y="6459501"/>
                    <a:pt x="8600866" y="6437328"/>
                    <a:pt x="8637699" y="6421542"/>
                  </a:cubicBezTo>
                  <a:lnTo>
                    <a:pt x="8956846" y="6284764"/>
                  </a:lnTo>
                  <a:cubicBezTo>
                    <a:pt x="9014316" y="6260135"/>
                    <a:pt x="9137216" y="6193560"/>
                    <a:pt x="9189241" y="6158876"/>
                  </a:cubicBezTo>
                  <a:lnTo>
                    <a:pt x="9244450" y="6122071"/>
                  </a:lnTo>
                  <a:cubicBezTo>
                    <a:pt x="9271883" y="6103782"/>
                    <a:pt x="9321918" y="6060387"/>
                    <a:pt x="9343903" y="6035816"/>
                  </a:cubicBezTo>
                  <a:lnTo>
                    <a:pt x="9552160" y="5803057"/>
                  </a:lnTo>
                  <a:cubicBezTo>
                    <a:pt x="9634758" y="5710742"/>
                    <a:pt x="9771814" y="5509014"/>
                    <a:pt x="9827212" y="5398219"/>
                  </a:cubicBezTo>
                  <a:lnTo>
                    <a:pt x="9882421" y="5287801"/>
                  </a:lnTo>
                  <a:cubicBezTo>
                    <a:pt x="9908845" y="5234954"/>
                    <a:pt x="9954216" y="5115189"/>
                    <a:pt x="9969439" y="5058100"/>
                  </a:cubicBezTo>
                  <a:lnTo>
                    <a:pt x="10002609" y="4933711"/>
                  </a:lnTo>
                  <a:cubicBezTo>
                    <a:pt x="10019184" y="4871557"/>
                    <a:pt x="10035780" y="4744913"/>
                    <a:pt x="10035780" y="4680586"/>
                  </a:cubicBezTo>
                  <a:lnTo>
                    <a:pt x="10035780" y="4012692"/>
                  </a:lnTo>
                  <a:cubicBezTo>
                    <a:pt x="10035780" y="3941901"/>
                    <a:pt x="10015225" y="3815239"/>
                    <a:pt x="9992839" y="3748081"/>
                  </a:cubicBezTo>
                  <a:lnTo>
                    <a:pt x="0" y="0"/>
                  </a:lnTo>
                  <a:cubicBezTo>
                    <a:pt x="0" y="0"/>
                    <a:pt x="9992839" y="3748081"/>
                    <a:pt x="9992839" y="3748081"/>
                  </a:cubicBezTo>
                  <a:close/>
                </a:path>
              </a:pathLst>
            </a:custGeom>
            <a:solidFill>
              <a:srgbClr val="70B2E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0033000" cy="6578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</a:pPr>
            </a:p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FEFEF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INTERNET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925075" y="3373840"/>
            <a:ext cx="7327556" cy="5915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8286" indent="-404143" lvl="1">
              <a:lnSpc>
                <a:spcPts val="5241"/>
              </a:lnSpc>
              <a:buFont typeface="Arial"/>
              <a:buChar char="•"/>
            </a:pPr>
            <a:r>
              <a:rPr lang="en-US" sz="37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 En</a:t>
            </a:r>
            <a:r>
              <a:rPr lang="en-US" sz="37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d: User devices (mobile, laptop)</a:t>
            </a:r>
          </a:p>
          <a:p>
            <a:pPr algn="l" marL="808286" indent="-404143" lvl="1">
              <a:lnSpc>
                <a:spcPts val="5241"/>
              </a:lnSpc>
              <a:buFont typeface="Arial"/>
              <a:buChar char="•"/>
            </a:pPr>
            <a:r>
              <a:rPr lang="en-US" sz="37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Internet: Communication medium</a:t>
            </a:r>
          </a:p>
          <a:p>
            <a:pPr algn="l" marL="808286" indent="-404143" lvl="1">
              <a:lnSpc>
                <a:spcPts val="5241"/>
              </a:lnSpc>
              <a:buFont typeface="Arial"/>
              <a:buChar char="•"/>
            </a:pPr>
            <a:r>
              <a:rPr lang="en-US" sz="37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End (Data Center):Servers (compute resources)</a:t>
            </a:r>
          </a:p>
          <a:p>
            <a:pPr algn="l" marL="808286" indent="-404143" lvl="1">
              <a:lnSpc>
                <a:spcPts val="5241"/>
              </a:lnSpc>
              <a:buFont typeface="Arial"/>
              <a:buChar char="•"/>
            </a:pPr>
            <a:r>
              <a:rPr lang="en-US" sz="37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systems</a:t>
            </a:r>
          </a:p>
          <a:p>
            <a:pPr algn="l" marL="808286" indent="-404143" lvl="1">
              <a:lnSpc>
                <a:spcPts val="5241"/>
              </a:lnSpc>
              <a:buFont typeface="Arial"/>
              <a:buChar char="•"/>
            </a:pPr>
            <a:r>
              <a:rPr lang="en-US" sz="37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Networking equipment</a:t>
            </a:r>
          </a:p>
          <a:p>
            <a:pPr algn="l" marL="808286" indent="-404143" lvl="1">
              <a:lnSpc>
                <a:spcPts val="5241"/>
              </a:lnSpc>
              <a:buFont typeface="Arial"/>
              <a:buChar char="•"/>
            </a:pPr>
            <a:r>
              <a:rPr lang="en-US" sz="37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and cooling systems</a:t>
            </a:r>
          </a:p>
          <a:p>
            <a:pPr algn="l">
              <a:lnSpc>
                <a:spcPts val="5241"/>
              </a:lnSpc>
            </a:pPr>
          </a:p>
        </p:txBody>
      </p:sp>
      <p:sp>
        <p:nvSpPr>
          <p:cNvPr name="AutoShape 8" id="8"/>
          <p:cNvSpPr/>
          <p:nvPr/>
        </p:nvSpPr>
        <p:spPr>
          <a:xfrm>
            <a:off x="4978352" y="4298462"/>
            <a:ext cx="0" cy="103156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4332811" y="8012075"/>
            <a:ext cx="1921822" cy="1710421"/>
          </a:xfrm>
          <a:custGeom>
            <a:avLst/>
            <a:gdLst/>
            <a:ahLst/>
            <a:cxnLst/>
            <a:rect r="r" b="b" t="t" l="l"/>
            <a:pathLst>
              <a:path h="1710421" w="1921822">
                <a:moveTo>
                  <a:pt x="0" y="0"/>
                </a:moveTo>
                <a:lnTo>
                  <a:pt x="1921822" y="0"/>
                </a:lnTo>
                <a:lnTo>
                  <a:pt x="1921822" y="1710421"/>
                </a:lnTo>
                <a:lnTo>
                  <a:pt x="0" y="17104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4978352" y="6935750"/>
            <a:ext cx="0" cy="110510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6933106" y="66474"/>
            <a:ext cx="1354894" cy="1684595"/>
          </a:xfrm>
          <a:custGeom>
            <a:avLst/>
            <a:gdLst/>
            <a:ahLst/>
            <a:cxnLst/>
            <a:rect r="r" b="b" t="t" l="l"/>
            <a:pathLst>
              <a:path h="1684595" w="1354894">
                <a:moveTo>
                  <a:pt x="0" y="0"/>
                </a:moveTo>
                <a:lnTo>
                  <a:pt x="1354894" y="0"/>
                </a:lnTo>
                <a:lnTo>
                  <a:pt x="1354894" y="1684594"/>
                </a:lnTo>
                <a:lnTo>
                  <a:pt x="0" y="16845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5701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1747042" cy="1525504"/>
          </a:xfrm>
          <a:custGeom>
            <a:avLst/>
            <a:gdLst/>
            <a:ahLst/>
            <a:cxnLst/>
            <a:rect r="r" b="b" t="t" l="l"/>
            <a:pathLst>
              <a:path h="1525504" w="1747042">
                <a:moveTo>
                  <a:pt x="0" y="0"/>
                </a:moveTo>
                <a:lnTo>
                  <a:pt x="1747042" y="0"/>
                </a:lnTo>
                <a:lnTo>
                  <a:pt x="1747042" y="1525504"/>
                </a:lnTo>
                <a:lnTo>
                  <a:pt x="0" y="15255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7321" t="0" r="-230886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3214804" y="-531896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-3108709" y="701357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57255" y="3240929"/>
            <a:ext cx="4647105" cy="4114800"/>
          </a:xfrm>
          <a:custGeom>
            <a:avLst/>
            <a:gdLst/>
            <a:ahLst/>
            <a:cxnLst/>
            <a:rect r="r" b="b" t="t" l="l"/>
            <a:pathLst>
              <a:path h="4114800" w="4647105">
                <a:moveTo>
                  <a:pt x="0" y="0"/>
                </a:moveTo>
                <a:lnTo>
                  <a:pt x="4647105" y="0"/>
                </a:lnTo>
                <a:lnTo>
                  <a:pt x="46471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91988" y="1181100"/>
            <a:ext cx="8196861" cy="86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6700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REAL-WORLD USE</a:t>
            </a:r>
            <a:r>
              <a:rPr lang="en-US" b="true" sz="670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 CASE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55120" y="3154680"/>
            <a:ext cx="7667459" cy="591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Industry Example:</a:t>
            </a:r>
          </a:p>
          <a:p>
            <a:pPr algn="l" marL="798831" indent="-399416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companies: Google, </a:t>
            </a:r>
            <a:r>
              <a:rPr lang="en-US" sz="3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Amazon, Microsoft</a:t>
            </a:r>
          </a:p>
          <a:p>
            <a:pPr algn="l" marL="798831" indent="-399416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Services like Gmail, YouTube, AWS use data centers</a:t>
            </a:r>
          </a:p>
          <a:p>
            <a:pPr algn="l" marL="798831" indent="-399416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stored and accessed globally</a:t>
            </a:r>
          </a:p>
          <a:p>
            <a:pPr algn="l" marL="798831" indent="-399416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high availability and performance</a:t>
            </a:r>
          </a:p>
          <a:p>
            <a:pPr algn="l">
              <a:lnSpc>
                <a:spcPts val="518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933106" y="66474"/>
            <a:ext cx="1354894" cy="1684595"/>
          </a:xfrm>
          <a:custGeom>
            <a:avLst/>
            <a:gdLst/>
            <a:ahLst/>
            <a:cxnLst/>
            <a:rect r="r" b="b" t="t" l="l"/>
            <a:pathLst>
              <a:path h="1684595" w="1354894">
                <a:moveTo>
                  <a:pt x="0" y="0"/>
                </a:moveTo>
                <a:lnTo>
                  <a:pt x="1354894" y="0"/>
                </a:lnTo>
                <a:lnTo>
                  <a:pt x="1354894" y="1684594"/>
                </a:lnTo>
                <a:lnTo>
                  <a:pt x="0" y="168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6570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1747042" cy="1525504"/>
          </a:xfrm>
          <a:custGeom>
            <a:avLst/>
            <a:gdLst/>
            <a:ahLst/>
            <a:cxnLst/>
            <a:rect r="r" b="b" t="t" l="l"/>
            <a:pathLst>
              <a:path h="1525504" w="1747042">
                <a:moveTo>
                  <a:pt x="0" y="0"/>
                </a:moveTo>
                <a:lnTo>
                  <a:pt x="1747042" y="0"/>
                </a:lnTo>
                <a:lnTo>
                  <a:pt x="1747042" y="1525504"/>
                </a:lnTo>
                <a:lnTo>
                  <a:pt x="0" y="1525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7321" t="0" r="-230886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3214804" y="-531896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3108709" y="701357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56946" y="3948666"/>
            <a:ext cx="4684034" cy="4744417"/>
          </a:xfrm>
          <a:custGeom>
            <a:avLst/>
            <a:gdLst/>
            <a:ahLst/>
            <a:cxnLst/>
            <a:rect r="r" b="b" t="t" l="l"/>
            <a:pathLst>
              <a:path h="4744417" w="4684034">
                <a:moveTo>
                  <a:pt x="0" y="0"/>
                </a:moveTo>
                <a:lnTo>
                  <a:pt x="4684034" y="0"/>
                </a:lnTo>
                <a:lnTo>
                  <a:pt x="4684034" y="4744418"/>
                </a:lnTo>
                <a:lnTo>
                  <a:pt x="0" y="4744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7042" y="5048250"/>
            <a:ext cx="9666879" cy="328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spcBef>
                <a:spcPct val="0"/>
              </a:spcBef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centers a</a:t>
            </a: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 essential for cloud computing</a:t>
            </a:r>
          </a:p>
          <a:p>
            <a:pPr algn="l" marL="798829" indent="-399415" lvl="1">
              <a:lnSpc>
                <a:spcPts val="5179"/>
              </a:lnSpc>
              <a:spcBef>
                <a:spcPct val="0"/>
              </a:spcBef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storage, processing, and networking</a:t>
            </a:r>
          </a:p>
          <a:p>
            <a:pPr algn="l" marL="798829" indent="-399415" lvl="1">
              <a:lnSpc>
                <a:spcPts val="5179"/>
              </a:lnSpc>
              <a:spcBef>
                <a:spcPct val="0"/>
              </a:spcBef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scalability and reliability</a:t>
            </a:r>
          </a:p>
          <a:p>
            <a:pPr algn="l" marL="798829" indent="-399415" lvl="1">
              <a:lnSpc>
                <a:spcPts val="5179"/>
              </a:lnSpc>
              <a:spcBef>
                <a:spcPct val="0"/>
              </a:spcBef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global access to cloud services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397941" y="2417123"/>
            <a:ext cx="7895441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b="true" sz="800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CONCLUSION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933106" y="66474"/>
            <a:ext cx="1354894" cy="1684595"/>
          </a:xfrm>
          <a:custGeom>
            <a:avLst/>
            <a:gdLst/>
            <a:ahLst/>
            <a:cxnLst/>
            <a:rect r="r" b="b" t="t" l="l"/>
            <a:pathLst>
              <a:path h="1684595" w="1354894">
                <a:moveTo>
                  <a:pt x="0" y="0"/>
                </a:moveTo>
                <a:lnTo>
                  <a:pt x="1354894" y="0"/>
                </a:lnTo>
                <a:lnTo>
                  <a:pt x="1354894" y="1684594"/>
                </a:lnTo>
                <a:lnTo>
                  <a:pt x="0" y="168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6570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1747042" cy="1525504"/>
          </a:xfrm>
          <a:custGeom>
            <a:avLst/>
            <a:gdLst/>
            <a:ahLst/>
            <a:cxnLst/>
            <a:rect r="r" b="b" t="t" l="l"/>
            <a:pathLst>
              <a:path h="1525504" w="1747042">
                <a:moveTo>
                  <a:pt x="0" y="0"/>
                </a:moveTo>
                <a:lnTo>
                  <a:pt x="1747042" y="0"/>
                </a:lnTo>
                <a:lnTo>
                  <a:pt x="1747042" y="1525504"/>
                </a:lnTo>
                <a:lnTo>
                  <a:pt x="0" y="1525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7321" t="0" r="-230886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3214804" y="-531896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3108709" y="701357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4133" y="3603821"/>
            <a:ext cx="11361761" cy="5250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086" indent="-231043" lvl="1">
              <a:lnSpc>
                <a:spcPts val="2996"/>
              </a:lnSpc>
              <a:spcBef>
                <a:spcPct val="0"/>
              </a:spcBef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Suciu, G., et al. (2015). Basic Internet Foundation and Cloud Computing. IEEE Confe</a:t>
            </a:r>
            <a:r>
              <a:rPr lang="en-US" sz="21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rence. </a:t>
            </a:r>
          </a:p>
          <a:p>
            <a:pPr algn="l" marL="462086" indent="-231043" lvl="1">
              <a:lnSpc>
                <a:spcPts val="2996"/>
              </a:lnSpc>
              <a:spcBef>
                <a:spcPct val="0"/>
              </a:spcBef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Sen, J., et al. (2017). Cloud Computing – Architecture and Applications. </a:t>
            </a:r>
          </a:p>
          <a:p>
            <a:pPr algn="l" marL="462086" indent="-231043" lvl="1">
              <a:lnSpc>
                <a:spcPts val="2996"/>
              </a:lnSpc>
              <a:spcBef>
                <a:spcPct val="0"/>
              </a:spcBef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Pahl, C., et al. (2017). Cloud Container Technologies: A State-of-the-Art Review. IEEE Transactions on Cloud Computing. </a:t>
            </a:r>
          </a:p>
          <a:p>
            <a:pPr algn="l" marL="462086" indent="-231043" lvl="1">
              <a:lnSpc>
                <a:spcPts val="2996"/>
              </a:lnSpc>
              <a:spcBef>
                <a:spcPct val="0"/>
              </a:spcBef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Kyi, P., &amp; Me, M. (2019). Cloud Computing Basics: Features and Services. International Journal. </a:t>
            </a:r>
          </a:p>
          <a:p>
            <a:pPr algn="l" marL="462086" indent="-231043" lvl="1">
              <a:lnSpc>
                <a:spcPts val="2996"/>
              </a:lnSpc>
              <a:spcBef>
                <a:spcPct val="0"/>
              </a:spcBef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Li, Z., et </a:t>
            </a:r>
            <a:r>
              <a:rPr lang="en-US" sz="21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al. (2017). Performance Comparison of Virtualization Technologies. </a:t>
            </a:r>
          </a:p>
          <a:p>
            <a:pPr algn="l" marL="462086" indent="-231043" lvl="1">
              <a:lnSpc>
                <a:spcPts val="2996"/>
              </a:lnSpc>
              <a:spcBef>
                <a:spcPct val="0"/>
              </a:spcBef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Srinivasan, S. (2014/Used widely in later studies). Cloud Computing Basics. Springer. </a:t>
            </a:r>
          </a:p>
          <a:p>
            <a:pPr algn="l" marL="462086" indent="-231043" lvl="1">
              <a:lnSpc>
                <a:spcPts val="2996"/>
              </a:lnSpc>
              <a:spcBef>
                <a:spcPct val="0"/>
              </a:spcBef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Surbiryala, J., &amp; Rong, C. (2019). Cloud Computing: History and Overview. IEEE. </a:t>
            </a:r>
          </a:p>
          <a:p>
            <a:pPr algn="l" marL="462086" indent="-231043" lvl="1">
              <a:lnSpc>
                <a:spcPts val="2996"/>
              </a:lnSpc>
              <a:spcBef>
                <a:spcPct val="0"/>
              </a:spcBef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Springer (2023). Essentials of Cloud Computing. </a:t>
            </a:r>
          </a:p>
          <a:p>
            <a:pPr algn="l" marL="462086" indent="-231043" lvl="1">
              <a:lnSpc>
                <a:spcPts val="2996"/>
              </a:lnSpc>
              <a:spcBef>
                <a:spcPct val="0"/>
              </a:spcBef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Noor, J., et al. (2023–2024). Cloud Performance &amp; Security Studies. </a:t>
            </a:r>
          </a:p>
          <a:p>
            <a:pPr algn="l" marL="462086" indent="-231043" lvl="1">
              <a:lnSpc>
                <a:spcPts val="2996"/>
              </a:lnSpc>
              <a:spcBef>
                <a:spcPct val="0"/>
              </a:spcBef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Baitha, M. K., et al. (2025). Cloud Computing: Evolution and Trends. </a:t>
            </a:r>
          </a:p>
          <a:p>
            <a:pPr algn="l" marL="462086" indent="-231043" lvl="1">
              <a:lnSpc>
                <a:spcPts val="2996"/>
              </a:lnSpc>
              <a:spcBef>
                <a:spcPct val="0"/>
              </a:spcBef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Kadve, D., et al. (2026). Cloud Computing Evolution to Serverless. </a:t>
            </a:r>
          </a:p>
          <a:p>
            <a:pPr algn="l" marL="462086" indent="-231043" lvl="1">
              <a:lnSpc>
                <a:spcPts val="2996"/>
              </a:lnSpc>
              <a:spcBef>
                <a:spcPct val="0"/>
              </a:spcBef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Transactions on Cloud Computing (2015–2026 issues). </a:t>
            </a:r>
          </a:p>
          <a:p>
            <a:pPr algn="l">
              <a:lnSpc>
                <a:spcPts val="2996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397941" y="2417123"/>
            <a:ext cx="7895441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REFERE</a:t>
            </a:r>
            <a:r>
              <a:rPr lang="en-US" b="true" sz="800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NCES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933106" y="66474"/>
            <a:ext cx="1354894" cy="1684595"/>
          </a:xfrm>
          <a:custGeom>
            <a:avLst/>
            <a:gdLst/>
            <a:ahLst/>
            <a:cxnLst/>
            <a:rect r="r" b="b" t="t" l="l"/>
            <a:pathLst>
              <a:path h="1684595" w="1354894">
                <a:moveTo>
                  <a:pt x="0" y="0"/>
                </a:moveTo>
                <a:lnTo>
                  <a:pt x="1354894" y="0"/>
                </a:lnTo>
                <a:lnTo>
                  <a:pt x="1354894" y="1684594"/>
                </a:lnTo>
                <a:lnTo>
                  <a:pt x="0" y="1684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6570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747042" cy="1525504"/>
          </a:xfrm>
          <a:custGeom>
            <a:avLst/>
            <a:gdLst/>
            <a:ahLst/>
            <a:cxnLst/>
            <a:rect r="r" b="b" t="t" l="l"/>
            <a:pathLst>
              <a:path h="1525504" w="1747042">
                <a:moveTo>
                  <a:pt x="0" y="0"/>
                </a:moveTo>
                <a:lnTo>
                  <a:pt x="1747042" y="0"/>
                </a:lnTo>
                <a:lnTo>
                  <a:pt x="1747042" y="1525504"/>
                </a:lnTo>
                <a:lnTo>
                  <a:pt x="0" y="1525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321" t="0" r="-230886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3214804" y="-531896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3108709" y="701357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DAHQFWb821I</dc:identifier>
  <dcterms:modified xsi:type="dcterms:W3CDTF">2011-08-01T06:04:30Z</dcterms:modified>
  <cp:revision>1</cp:revision>
  <dc:title>CSA1516 - CLOUD COMPUTING AND BIG DATA ANALYTICS</dc:title>
</cp:coreProperties>
</file>