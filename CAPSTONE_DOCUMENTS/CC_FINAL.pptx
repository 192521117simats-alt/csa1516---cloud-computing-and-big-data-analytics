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2" r:id="rId5"/>
    <p:sldId id="260" r:id="rId6"/>
    <p:sldId id="273" r:id="rId7"/>
    <p:sldId id="262" r:id="rId8"/>
    <p:sldId id="274" r:id="rId9"/>
    <p:sldId id="275" r:id="rId10"/>
    <p:sldId id="276" r:id="rId11"/>
    <p:sldId id="277" r:id="rId12"/>
    <p:sldId id="278" r:id="rId13"/>
    <p:sldId id="268" r:id="rId14"/>
    <p:sldId id="279" r:id="rId15"/>
    <p:sldId id="270" r:id="rId16"/>
    <p:sldId id="271" r:id="rId17"/>
  </p:sldIdLst>
  <p:sldSz cx="18288000" cy="10287000"/>
  <p:notesSz cx="6858000" cy="9144000"/>
  <p:embeddedFontLst>
    <p:embeddedFont>
      <p:font typeface="Bricolage Grotesque" panose="020B0604020202020204" charset="0"/>
      <p:regular r:id="rId19"/>
    </p:embeddedFont>
    <p:embeddedFont>
      <p:font typeface="Bricolage Grotesque Bold" panose="020B0604020202020204" charset="0"/>
      <p:regular r:id="rId20"/>
    </p:embeddedFont>
    <p:embeddedFont>
      <p:font typeface="Poppins Bold" panose="020B0604020202020204" charset="0"/>
      <p:regular r:id="rId21"/>
    </p:embeddedFont>
    <p:embeddedFont>
      <p:font typeface="Segoe UI Emoji" panose="020B0502040204020203" pitchFamily="3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1118"/>
    <a:srgbClr val="3E2328"/>
    <a:srgbClr val="3753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2585" autoAdjust="0"/>
  </p:normalViewPr>
  <p:slideViewPr>
    <p:cSldViewPr>
      <p:cViewPr>
        <p:scale>
          <a:sx n="57" d="100"/>
          <a:sy n="57" d="100"/>
        </p:scale>
        <p:origin x="72" y="7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BD1B95-07E0-4199-9DC8-FDD1B0E83595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054313-47A9-4434-8066-1E4A90A299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048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54313-47A9-4434-8066-1E4A90A2996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738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54313-47A9-4434-8066-1E4A90A2996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pubmed.ncbi.nlm.nih.gov/40372861/?utm_source=chatgpt.com" TargetMode="External"/><Relationship Id="rId3" Type="http://schemas.openxmlformats.org/officeDocument/2006/relationships/hyperlink" Target="https://www.sciencedirect.com/science/article/pii/S0952197625036462?utm_source=chatgpt.com" TargetMode="External"/><Relationship Id="rId7" Type="http://schemas.openxmlformats.org/officeDocument/2006/relationships/hyperlink" Target="https://www.mdpi.com/2079-9292/15/8/1572?utm_source=chatgpt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mdpi.com/2079-9292/15/13/2876?utm_source=chatgpt.com" TargetMode="External"/><Relationship Id="rId5" Type="http://schemas.openxmlformats.org/officeDocument/2006/relationships/hyperlink" Target="https://www.mdpi.com/2079-9292/15/14/3178?utm_source=chatgpt.com" TargetMode="External"/><Relationship Id="rId4" Type="http://schemas.openxmlformats.org/officeDocument/2006/relationships/hyperlink" Target="https://www.mdpi.com/2073-431X/15/3/155?utm_source=chatgpt.com" TargetMode="External"/><Relationship Id="rId9" Type="http://schemas.openxmlformats.org/officeDocument/2006/relationships/hyperlink" Target="https://www.sciencedirect.com/science/article/pii/S014036642600201X?utm_source=chatgpt.com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3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31539" y="6508078"/>
            <a:ext cx="7743367" cy="3240887"/>
            <a:chOff x="0" y="66675"/>
            <a:chExt cx="10324490" cy="432118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231531"/>
              <a:ext cx="211748" cy="211748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1308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391131" y="66675"/>
              <a:ext cx="4325078" cy="6081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1"/>
                </a:lnSpc>
              </a:pPr>
              <a:r>
                <a:rPr lang="en-US" sz="3381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PRESENTED BY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60535" y="1032683"/>
              <a:ext cx="10063955" cy="934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7"/>
                </a:lnSpc>
              </a:pPr>
              <a:r>
                <a:rPr lang="en-US" sz="3146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192521117-R MOHANRAM</a:t>
              </a:r>
            </a:p>
            <a:p>
              <a:pPr marL="0" lvl="0" indent="0" algn="l">
                <a:lnSpc>
                  <a:spcPts val="2737"/>
                </a:lnSpc>
              </a:pPr>
              <a:r>
                <a:rPr lang="en-US" sz="3146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192573009-JOTHIPRAKASH M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91131" y="2405463"/>
              <a:ext cx="4325078" cy="6081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1"/>
                </a:lnSpc>
              </a:pPr>
              <a:r>
                <a:rPr lang="en-US" sz="3381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DEPARTMENT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0534" y="3086584"/>
              <a:ext cx="9550401" cy="13012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464"/>
                </a:lnSpc>
              </a:pPr>
              <a:r>
                <a:rPr lang="en-US" sz="36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B.tech</a:t>
              </a:r>
              <a:r>
                <a:rPr lang="en-US" sz="36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832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INFORMATION TECHNOLOGY</a:t>
              </a:r>
            </a:p>
            <a:p>
              <a:pPr algn="ctr">
                <a:lnSpc>
                  <a:spcPts val="2464"/>
                </a:lnSpc>
              </a:pPr>
              <a:r>
                <a:rPr lang="en-US" sz="2832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&amp;</a:t>
              </a:r>
            </a:p>
            <a:p>
              <a:pPr marL="0" lvl="0" indent="0" algn="ctr">
                <a:lnSpc>
                  <a:spcPts val="2464"/>
                </a:lnSpc>
              </a:pPr>
              <a:r>
                <a:rPr lang="en-US" sz="2832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BE CSE-DATA SCIENCE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0" y="2570319"/>
              <a:ext cx="211748" cy="211748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1308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0" y="38646"/>
            <a:ext cx="18288000" cy="2354580"/>
          </a:xfrm>
          <a:custGeom>
            <a:avLst/>
            <a:gdLst/>
            <a:ahLst/>
            <a:cxnLst/>
            <a:rect l="l" t="t" r="r" b="b"/>
            <a:pathLst>
              <a:path w="18288000" h="2354580">
                <a:moveTo>
                  <a:pt x="0" y="0"/>
                </a:moveTo>
                <a:lnTo>
                  <a:pt x="18288000" y="0"/>
                </a:lnTo>
                <a:lnTo>
                  <a:pt x="18288000" y="2354580"/>
                </a:lnTo>
                <a:lnTo>
                  <a:pt x="0" y="2354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553005" y="6723807"/>
            <a:ext cx="5348414" cy="1948329"/>
            <a:chOff x="0" y="0"/>
            <a:chExt cx="7131219" cy="2597772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231531"/>
              <a:ext cx="211748" cy="211748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1308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391131" y="66675"/>
              <a:ext cx="4325078" cy="6081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1"/>
                </a:lnSpc>
              </a:pPr>
              <a:r>
                <a:rPr lang="en-US" sz="3381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GUIDED BY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1748" y="827619"/>
              <a:ext cx="6919470" cy="559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7"/>
                </a:lnSpc>
              </a:pPr>
              <a:r>
                <a:rPr lang="en-US" sz="314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Dr.SANTHIYA LAKSHMI 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1131" y="1989636"/>
              <a:ext cx="4325078" cy="6081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1"/>
                </a:lnSpc>
              </a:pPr>
              <a:r>
                <a:rPr lang="en-US" sz="3381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DEPARTMENT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0" y="2154493"/>
              <a:ext cx="211748" cy="211748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1308"/>
                  </a:lnSpc>
                </a:pPr>
                <a:endParaRPr/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685800" y="3409633"/>
            <a:ext cx="17373600" cy="16684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173"/>
              </a:lnSpc>
            </a:pPr>
            <a:r>
              <a:rPr lang="en-US" sz="8000" b="1" spc="-403" dirty="0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Federated Learning-Based Privacy- Preserving Big Data Analytics on Cloud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460637" y="5396763"/>
            <a:ext cx="14279792" cy="5176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893"/>
              </a:lnSpc>
            </a:pPr>
            <a:r>
              <a:rPr lang="en-US" sz="3600" spc="-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CSA1516-CLOUD COMPUTING AND BIG DATA ANALYTICS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94371" y="8773010"/>
            <a:ext cx="5189603" cy="741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37"/>
              </a:lnSpc>
            </a:pPr>
            <a:r>
              <a:rPr lang="en-US" sz="31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Electronics and Communication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6853" y="305720"/>
            <a:ext cx="49740" cy="2131307"/>
            <a:chOff x="0" y="0"/>
            <a:chExt cx="12543" cy="53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780191" y="904974"/>
            <a:ext cx="7605809" cy="12198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9042"/>
              </a:lnSpc>
            </a:pPr>
            <a:r>
              <a:rPr lang="en-US" sz="9227" spc="-590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1960" y="2532519"/>
            <a:ext cx="9944040" cy="7325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Learning-Based Privacy-Preserving Big Data Analytics on Cloud combines: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for decentralized machine learning.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 for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distributed datasets.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for centralized storage of models and results.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Preservation by keeping raw client data local.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Averaging (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FedAvg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global model aggregation. </a:t>
            </a:r>
          </a:p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Explain: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machine learning usually requires collecting data from multiple sources into a central location. This can create privacy and data-transfer concerns.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proposed system, each client performs local training using its own dataset. Only model parameters/updates are communicated to the federated server. The server aggregates the updates using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FedAvg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produces a global model.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global model, analytics results and prediction results are then stored in Azure Blob Storage.</a:t>
            </a:r>
          </a:p>
        </p:txBody>
      </p:sp>
      <p:sp>
        <p:nvSpPr>
          <p:cNvPr id="8" name="Freeform 8"/>
          <p:cNvSpPr/>
          <p:nvPr/>
        </p:nvSpPr>
        <p:spPr>
          <a:xfrm>
            <a:off x="16043470" y="0"/>
            <a:ext cx="2244530" cy="2124813"/>
          </a:xfrm>
          <a:custGeom>
            <a:avLst/>
            <a:gdLst/>
            <a:ahLst/>
            <a:cxnLst/>
            <a:rect l="l" t="t" r="r" b="b"/>
            <a:pathLst>
              <a:path w="2244530" h="2124813">
                <a:moveTo>
                  <a:pt x="0" y="0"/>
                </a:moveTo>
                <a:lnTo>
                  <a:pt x="2244530" y="0"/>
                </a:lnTo>
                <a:lnTo>
                  <a:pt x="2244530" y="2124813"/>
                </a:lnTo>
                <a:lnTo>
                  <a:pt x="0" y="2124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0402" r="-254869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38646"/>
            <a:ext cx="1640851" cy="2086167"/>
          </a:xfrm>
          <a:custGeom>
            <a:avLst/>
            <a:gdLst/>
            <a:ahLst/>
            <a:cxnLst/>
            <a:rect l="l" t="t" r="r" b="b"/>
            <a:pathLst>
              <a:path w="1640851" h="2086167">
                <a:moveTo>
                  <a:pt x="0" y="0"/>
                </a:moveTo>
                <a:lnTo>
                  <a:pt x="1640851" y="0"/>
                </a:lnTo>
                <a:lnTo>
                  <a:pt x="1640851" y="2086167"/>
                </a:lnTo>
                <a:lnTo>
                  <a:pt x="0" y="2086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887490"/>
            </a:stretch>
          </a:blipFill>
        </p:spPr>
      </p:sp>
      <p:sp>
        <p:nvSpPr>
          <p:cNvPr id="107" name="Rounded Rectangle 3">
            <a:extLst>
              <a:ext uri="{FF2B5EF4-FFF2-40B4-BE49-F238E27FC236}">
                <a16:creationId xmlns:a16="http://schemas.microsoft.com/office/drawing/2014/main" id="{86497EC8-7C8D-D432-241C-110139B7074A}"/>
              </a:ext>
            </a:extLst>
          </p:cNvPr>
          <p:cNvSpPr/>
          <p:nvPr/>
        </p:nvSpPr>
        <p:spPr>
          <a:xfrm>
            <a:off x="10972800" y="2628900"/>
            <a:ext cx="21031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4CA2948-7DA3-6D42-6224-A88CA0CE7E69}"/>
              </a:ext>
            </a:extLst>
          </p:cNvPr>
          <p:cNvSpPr txBox="1"/>
          <p:nvPr/>
        </p:nvSpPr>
        <p:spPr>
          <a:xfrm>
            <a:off x="11109960" y="2887048"/>
            <a:ext cx="1828800" cy="1113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78D4"/>
                </a:solidFill>
                <a:latin typeface="Arial"/>
              </a:defRPr>
            </a:pPr>
            <a:r>
              <a:rPr sz="1600" dirty="0"/>
              <a:t>01</a:t>
            </a:r>
          </a:p>
          <a:p>
            <a:pPr>
              <a:spcBef>
                <a:spcPts val="6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rPr sz="1600" dirty="0"/>
              <a:t>Client 1 Dataset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rPr sz="1600" dirty="0"/>
              <a:t>Local edge data collection</a:t>
            </a:r>
          </a:p>
        </p:txBody>
      </p:sp>
      <p:sp>
        <p:nvSpPr>
          <p:cNvPr id="111" name="Chevron 5">
            <a:extLst>
              <a:ext uri="{FF2B5EF4-FFF2-40B4-BE49-F238E27FC236}">
                <a16:creationId xmlns:a16="http://schemas.microsoft.com/office/drawing/2014/main" id="{E1B9CA06-9CBB-D17C-3604-3FD253DA5D4E}"/>
              </a:ext>
            </a:extLst>
          </p:cNvPr>
          <p:cNvSpPr/>
          <p:nvPr/>
        </p:nvSpPr>
        <p:spPr>
          <a:xfrm rot="5400000">
            <a:off x="11932920" y="4331445"/>
            <a:ext cx="182880" cy="274320"/>
          </a:xfrm>
          <a:prstGeom prst="chevron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3" name="Rounded Rectangle 6">
            <a:extLst>
              <a:ext uri="{FF2B5EF4-FFF2-40B4-BE49-F238E27FC236}">
                <a16:creationId xmlns:a16="http://schemas.microsoft.com/office/drawing/2014/main" id="{BE4D6891-C711-CDCE-E8F2-F9A4D27E6AA5}"/>
              </a:ext>
            </a:extLst>
          </p:cNvPr>
          <p:cNvSpPr/>
          <p:nvPr/>
        </p:nvSpPr>
        <p:spPr>
          <a:xfrm>
            <a:off x="10972800" y="4662390"/>
            <a:ext cx="21031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611C5268-2336-E9D2-DB67-7AFA8793D38A}"/>
              </a:ext>
            </a:extLst>
          </p:cNvPr>
          <p:cNvSpPr txBox="1"/>
          <p:nvPr/>
        </p:nvSpPr>
        <p:spPr>
          <a:xfrm>
            <a:off x="11109960" y="4799550"/>
            <a:ext cx="1828800" cy="1113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78D4"/>
                </a:solidFill>
                <a:latin typeface="Arial"/>
              </a:defRPr>
            </a:pPr>
            <a:r>
              <a:rPr sz="1600"/>
              <a:t>02</a:t>
            </a:r>
          </a:p>
          <a:p>
            <a:pPr>
              <a:spcBef>
                <a:spcPts val="6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rPr sz="1600"/>
              <a:t>Local Training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rPr sz="1600"/>
              <a:t>On-device model training</a:t>
            </a:r>
          </a:p>
        </p:txBody>
      </p:sp>
      <p:sp>
        <p:nvSpPr>
          <p:cNvPr id="117" name="Chevron 8">
            <a:extLst>
              <a:ext uri="{FF2B5EF4-FFF2-40B4-BE49-F238E27FC236}">
                <a16:creationId xmlns:a16="http://schemas.microsoft.com/office/drawing/2014/main" id="{F8778A62-E39D-9C62-28A6-7675B5DD4BC8}"/>
              </a:ext>
            </a:extLst>
          </p:cNvPr>
          <p:cNvSpPr/>
          <p:nvPr/>
        </p:nvSpPr>
        <p:spPr>
          <a:xfrm>
            <a:off x="13167360" y="5348190"/>
            <a:ext cx="182880" cy="274320"/>
          </a:xfrm>
          <a:prstGeom prst="chevron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9" name="Rounded Rectangle 9">
            <a:extLst>
              <a:ext uri="{FF2B5EF4-FFF2-40B4-BE49-F238E27FC236}">
                <a16:creationId xmlns:a16="http://schemas.microsoft.com/office/drawing/2014/main" id="{A9305402-29A0-C2AA-4362-BCCF8C1D32E1}"/>
              </a:ext>
            </a:extLst>
          </p:cNvPr>
          <p:cNvSpPr/>
          <p:nvPr/>
        </p:nvSpPr>
        <p:spPr>
          <a:xfrm>
            <a:off x="13441680" y="4662390"/>
            <a:ext cx="21031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0036844-CAAB-5F74-979B-EE531C3340A9}"/>
              </a:ext>
            </a:extLst>
          </p:cNvPr>
          <p:cNvSpPr txBox="1"/>
          <p:nvPr/>
        </p:nvSpPr>
        <p:spPr>
          <a:xfrm>
            <a:off x="13578840" y="4799550"/>
            <a:ext cx="1828800" cy="1113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78D4"/>
                </a:solidFill>
                <a:latin typeface="Arial"/>
              </a:defRPr>
            </a:pPr>
            <a:r>
              <a:rPr sz="1600"/>
              <a:t>03</a:t>
            </a:r>
          </a:p>
          <a:p>
            <a:pPr>
              <a:spcBef>
                <a:spcPts val="6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rPr sz="1600"/>
              <a:t>Model Update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rPr sz="1600"/>
              <a:t>Local weights optimization</a:t>
            </a:r>
          </a:p>
        </p:txBody>
      </p:sp>
      <p:sp>
        <p:nvSpPr>
          <p:cNvPr id="123" name="Chevron 11">
            <a:extLst>
              <a:ext uri="{FF2B5EF4-FFF2-40B4-BE49-F238E27FC236}">
                <a16:creationId xmlns:a16="http://schemas.microsoft.com/office/drawing/2014/main" id="{4B7EB744-4A05-324B-409C-52BD520FBA41}"/>
              </a:ext>
            </a:extLst>
          </p:cNvPr>
          <p:cNvSpPr/>
          <p:nvPr/>
        </p:nvSpPr>
        <p:spPr>
          <a:xfrm>
            <a:off x="15636240" y="5348190"/>
            <a:ext cx="182880" cy="274320"/>
          </a:xfrm>
          <a:prstGeom prst="chevron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5" name="Rounded Rectangle 12">
            <a:extLst>
              <a:ext uri="{FF2B5EF4-FFF2-40B4-BE49-F238E27FC236}">
                <a16:creationId xmlns:a16="http://schemas.microsoft.com/office/drawing/2014/main" id="{2D119BA7-231D-0355-4FBF-AEB6BD5B9FE3}"/>
              </a:ext>
            </a:extLst>
          </p:cNvPr>
          <p:cNvSpPr/>
          <p:nvPr/>
        </p:nvSpPr>
        <p:spPr>
          <a:xfrm>
            <a:off x="15910560" y="4662390"/>
            <a:ext cx="21031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0D3C229-0244-5BD5-5836-2B4452B6DE19}"/>
              </a:ext>
            </a:extLst>
          </p:cNvPr>
          <p:cNvSpPr txBox="1"/>
          <p:nvPr/>
        </p:nvSpPr>
        <p:spPr>
          <a:xfrm>
            <a:off x="16047720" y="4799550"/>
            <a:ext cx="1828800" cy="1113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78D4"/>
                </a:solidFill>
                <a:latin typeface="Arial"/>
              </a:defRPr>
            </a:pPr>
            <a:r>
              <a:rPr sz="1600"/>
              <a:t>04</a:t>
            </a:r>
          </a:p>
          <a:p>
            <a:pPr>
              <a:spcBef>
                <a:spcPts val="6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rPr sz="1600"/>
              <a:t>Federated Server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rPr sz="1600"/>
              <a:t>Central node orchestration</a:t>
            </a:r>
          </a:p>
        </p:txBody>
      </p:sp>
      <p:sp>
        <p:nvSpPr>
          <p:cNvPr id="129" name="Down Arrow 14">
            <a:extLst>
              <a:ext uri="{FF2B5EF4-FFF2-40B4-BE49-F238E27FC236}">
                <a16:creationId xmlns:a16="http://schemas.microsoft.com/office/drawing/2014/main" id="{0F6E9A35-C23B-4AE4-5CB9-B1A05EDCDD69}"/>
              </a:ext>
            </a:extLst>
          </p:cNvPr>
          <p:cNvSpPr/>
          <p:nvPr/>
        </p:nvSpPr>
        <p:spPr>
          <a:xfrm>
            <a:off x="16824960" y="6399750"/>
            <a:ext cx="274320" cy="45720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1" name="Rounded Rectangle 15">
            <a:extLst>
              <a:ext uri="{FF2B5EF4-FFF2-40B4-BE49-F238E27FC236}">
                <a16:creationId xmlns:a16="http://schemas.microsoft.com/office/drawing/2014/main" id="{6C43EA0B-BD16-A1DF-44B0-2CDD41845864}"/>
              </a:ext>
            </a:extLst>
          </p:cNvPr>
          <p:cNvSpPr/>
          <p:nvPr/>
        </p:nvSpPr>
        <p:spPr>
          <a:xfrm>
            <a:off x="15910560" y="7016970"/>
            <a:ext cx="21031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4984B82-3380-FC4B-7210-D2BDAD13B33E}"/>
              </a:ext>
            </a:extLst>
          </p:cNvPr>
          <p:cNvSpPr txBox="1"/>
          <p:nvPr/>
        </p:nvSpPr>
        <p:spPr>
          <a:xfrm>
            <a:off x="16047720" y="7199453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78D4"/>
                </a:solidFill>
                <a:latin typeface="Arial"/>
              </a:defRPr>
            </a:pPr>
            <a:r>
              <a:rPr sz="1600" dirty="0"/>
              <a:t>05</a:t>
            </a:r>
          </a:p>
          <a:p>
            <a:pPr>
              <a:spcBef>
                <a:spcPts val="6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rPr sz="1600" dirty="0" err="1"/>
              <a:t>FedAvg</a:t>
            </a:r>
            <a:r>
              <a:rPr sz="1600" dirty="0"/>
              <a:t> Aggregation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rPr sz="1600" dirty="0"/>
              <a:t>Secure multi-party weights averaging</a:t>
            </a:r>
          </a:p>
        </p:txBody>
      </p:sp>
      <p:sp>
        <p:nvSpPr>
          <p:cNvPr id="135" name="Chevron 17">
            <a:extLst>
              <a:ext uri="{FF2B5EF4-FFF2-40B4-BE49-F238E27FC236}">
                <a16:creationId xmlns:a16="http://schemas.microsoft.com/office/drawing/2014/main" id="{67985207-DCDC-D17E-61D1-B0C672D0F4F9}"/>
              </a:ext>
            </a:extLst>
          </p:cNvPr>
          <p:cNvSpPr/>
          <p:nvPr/>
        </p:nvSpPr>
        <p:spPr>
          <a:xfrm rot="10800000">
            <a:off x="13233863" y="7702770"/>
            <a:ext cx="182880" cy="274320"/>
          </a:xfrm>
          <a:prstGeom prst="chevron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7" name="Rounded Rectangle 18">
            <a:extLst>
              <a:ext uri="{FF2B5EF4-FFF2-40B4-BE49-F238E27FC236}">
                <a16:creationId xmlns:a16="http://schemas.microsoft.com/office/drawing/2014/main" id="{6412506A-9E9E-5A31-E4C5-98F5E10D7038}"/>
              </a:ext>
            </a:extLst>
          </p:cNvPr>
          <p:cNvSpPr/>
          <p:nvPr/>
        </p:nvSpPr>
        <p:spPr>
          <a:xfrm>
            <a:off x="13485323" y="7055465"/>
            <a:ext cx="21031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B64FD21-961F-DA01-1303-35C596FFFC3C}"/>
              </a:ext>
            </a:extLst>
          </p:cNvPr>
          <p:cNvSpPr txBox="1"/>
          <p:nvPr/>
        </p:nvSpPr>
        <p:spPr>
          <a:xfrm>
            <a:off x="13622483" y="7199453"/>
            <a:ext cx="1828800" cy="1113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78D4"/>
                </a:solidFill>
                <a:latin typeface="Arial"/>
              </a:defRPr>
            </a:pPr>
            <a:r>
              <a:rPr sz="1600"/>
              <a:t>06</a:t>
            </a:r>
          </a:p>
          <a:p>
            <a:pPr>
              <a:spcBef>
                <a:spcPts val="6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rPr sz="1600"/>
              <a:t>Global Model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rPr sz="1600"/>
              <a:t>Consolidated operational weights</a:t>
            </a:r>
          </a:p>
        </p:txBody>
      </p:sp>
      <p:sp>
        <p:nvSpPr>
          <p:cNvPr id="141" name="Chevron 20">
            <a:extLst>
              <a:ext uri="{FF2B5EF4-FFF2-40B4-BE49-F238E27FC236}">
                <a16:creationId xmlns:a16="http://schemas.microsoft.com/office/drawing/2014/main" id="{0CC9CC9A-8F85-3D09-9FF1-7356FAE5263C}"/>
              </a:ext>
            </a:extLst>
          </p:cNvPr>
          <p:cNvSpPr/>
          <p:nvPr/>
        </p:nvSpPr>
        <p:spPr>
          <a:xfrm rot="10800000">
            <a:off x="15659100" y="7702770"/>
            <a:ext cx="182880" cy="274320"/>
          </a:xfrm>
          <a:prstGeom prst="chevron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3" name="Rounded Rectangle 21">
            <a:extLst>
              <a:ext uri="{FF2B5EF4-FFF2-40B4-BE49-F238E27FC236}">
                <a16:creationId xmlns:a16="http://schemas.microsoft.com/office/drawing/2014/main" id="{4804DF8C-B84E-9CED-DC7E-ADB9EA0348E9}"/>
              </a:ext>
            </a:extLst>
          </p:cNvPr>
          <p:cNvSpPr/>
          <p:nvPr/>
        </p:nvSpPr>
        <p:spPr>
          <a:xfrm>
            <a:off x="11060086" y="7062293"/>
            <a:ext cx="2103120" cy="1645920"/>
          </a:xfrm>
          <a:prstGeom prst="roundRect">
            <a:avLst/>
          </a:prstGeom>
          <a:solidFill>
            <a:srgbClr val="3753D7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0EA8BBE-97E8-0F55-C027-18BCB2CD9410}"/>
              </a:ext>
            </a:extLst>
          </p:cNvPr>
          <p:cNvSpPr txBox="1"/>
          <p:nvPr/>
        </p:nvSpPr>
        <p:spPr>
          <a:xfrm>
            <a:off x="11213176" y="7222709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sz="1600" dirty="0"/>
              <a:t>07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600" dirty="0"/>
              <a:t>Azure Blob Storage</a:t>
            </a:r>
          </a:p>
          <a:p>
            <a:pPr>
              <a:spcBef>
                <a:spcPts val="400"/>
              </a:spcBef>
              <a:defRPr sz="1100">
                <a:solidFill>
                  <a:srgbClr val="C8E6FF"/>
                </a:solidFill>
                <a:latin typeface="Arial"/>
              </a:defRPr>
            </a:pPr>
            <a:r>
              <a:rPr sz="1600" dirty="0"/>
              <a:t>Secure cloud persistence bucket</a:t>
            </a:r>
          </a:p>
        </p:txBody>
      </p:sp>
      <p:grpSp>
        <p:nvGrpSpPr>
          <p:cNvPr id="146" name="Group 2">
            <a:extLst>
              <a:ext uri="{FF2B5EF4-FFF2-40B4-BE49-F238E27FC236}">
                <a16:creationId xmlns:a16="http://schemas.microsoft.com/office/drawing/2014/main" id="{BBED1519-0F70-7230-C46F-9096EF1D0044}"/>
              </a:ext>
            </a:extLst>
          </p:cNvPr>
          <p:cNvGrpSpPr/>
          <p:nvPr/>
        </p:nvGrpSpPr>
        <p:grpSpPr>
          <a:xfrm>
            <a:off x="10772605" y="2437027"/>
            <a:ext cx="45719" cy="7010400"/>
            <a:chOff x="0" y="0"/>
            <a:chExt cx="12543" cy="537460"/>
          </a:xfrm>
        </p:grpSpPr>
        <p:sp>
          <p:nvSpPr>
            <p:cNvPr id="147" name="Freeform 3">
              <a:extLst>
                <a:ext uri="{FF2B5EF4-FFF2-40B4-BE49-F238E27FC236}">
                  <a16:creationId xmlns:a16="http://schemas.microsoft.com/office/drawing/2014/main" id="{F5AD997D-0C0E-27AB-5A77-EEE0F670E18C}"/>
                </a:ext>
              </a:extLst>
            </p:cNvPr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" name="TextBox 4">
              <a:extLst>
                <a:ext uri="{FF2B5EF4-FFF2-40B4-BE49-F238E27FC236}">
                  <a16:creationId xmlns:a16="http://schemas.microsoft.com/office/drawing/2014/main" id="{0F678CDA-9ADE-8208-243D-3D319AAAD502}"/>
                </a:ext>
              </a:extLst>
            </p:cNvPr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62200" y="723900"/>
            <a:ext cx="8339864" cy="1003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62"/>
              </a:lnSpc>
            </a:pPr>
            <a:r>
              <a:rPr lang="en-US" sz="7614" spc="-487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Problem Statement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291814" y="205229"/>
            <a:ext cx="47625" cy="2040668"/>
            <a:chOff x="0" y="0"/>
            <a:chExt cx="12543" cy="5374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43804" y="2871727"/>
            <a:ext cx="9798222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machine learning requires data from multiple clients to be collected and transferred to a common server.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several challenges: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 privacy concerns 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transfer overhead 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data ownership 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risks associated with centralized data storage 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performing analytics across distributed datasets 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scalable cloud-based storage 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to verify the global model after cloud deployment </a:t>
            </a:r>
          </a:p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privacy-preserving federated learning system where clients train models locally, model updates are aggregated using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FedAvg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global model, analytics and prediction results are stored and managed using Azure Blob Storage.</a:t>
            </a:r>
          </a:p>
        </p:txBody>
      </p:sp>
      <p:sp>
        <p:nvSpPr>
          <p:cNvPr id="8" name="Freeform 8"/>
          <p:cNvSpPr/>
          <p:nvPr/>
        </p:nvSpPr>
        <p:spPr>
          <a:xfrm>
            <a:off x="16043470" y="0"/>
            <a:ext cx="2244530" cy="2124813"/>
          </a:xfrm>
          <a:custGeom>
            <a:avLst/>
            <a:gdLst/>
            <a:ahLst/>
            <a:cxnLst/>
            <a:rect l="l" t="t" r="r" b="b"/>
            <a:pathLst>
              <a:path w="2244530" h="2124813">
                <a:moveTo>
                  <a:pt x="0" y="0"/>
                </a:moveTo>
                <a:lnTo>
                  <a:pt x="2244530" y="0"/>
                </a:lnTo>
                <a:lnTo>
                  <a:pt x="2244530" y="2124813"/>
                </a:lnTo>
                <a:lnTo>
                  <a:pt x="0" y="2124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0402" r="-254869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38646"/>
            <a:ext cx="1640851" cy="2086167"/>
          </a:xfrm>
          <a:custGeom>
            <a:avLst/>
            <a:gdLst/>
            <a:ahLst/>
            <a:cxnLst/>
            <a:rect l="l" t="t" r="r" b="b"/>
            <a:pathLst>
              <a:path w="1640851" h="2086167">
                <a:moveTo>
                  <a:pt x="0" y="0"/>
                </a:moveTo>
                <a:lnTo>
                  <a:pt x="1640851" y="0"/>
                </a:lnTo>
                <a:lnTo>
                  <a:pt x="1640851" y="2086167"/>
                </a:lnTo>
                <a:lnTo>
                  <a:pt x="0" y="2086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887490"/>
            </a:stretch>
          </a:blipFill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1FE2BC-55E1-1756-FFA6-F3E19B4531FC}"/>
              </a:ext>
            </a:extLst>
          </p:cNvPr>
          <p:cNvSpPr txBox="1"/>
          <p:nvPr/>
        </p:nvSpPr>
        <p:spPr>
          <a:xfrm>
            <a:off x="11080492" y="2550791"/>
            <a:ext cx="394770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APPROACH</a:t>
            </a:r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4D231B2A-A9C4-F059-A0E0-B678BB461F14}"/>
              </a:ext>
            </a:extLst>
          </p:cNvPr>
          <p:cNvSpPr/>
          <p:nvPr/>
        </p:nvSpPr>
        <p:spPr>
          <a:xfrm>
            <a:off x="12146159" y="3224369"/>
            <a:ext cx="1246648" cy="4236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bIns="13716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Client 1</a:t>
            </a:r>
          </a:p>
          <a:p>
            <a:pPr algn="ctr">
              <a:defRPr sz="1000">
                <a:solidFill>
                  <a:srgbClr val="334155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Local Node</a:t>
            </a:r>
          </a:p>
        </p:txBody>
      </p:sp>
      <p:sp>
        <p:nvSpPr>
          <p:cNvPr id="15" name="Rounded Rectangle 5">
            <a:extLst>
              <a:ext uri="{FF2B5EF4-FFF2-40B4-BE49-F238E27FC236}">
                <a16:creationId xmlns:a16="http://schemas.microsoft.com/office/drawing/2014/main" id="{2119C156-0850-CFB6-4A95-5427B2CB3A89}"/>
              </a:ext>
            </a:extLst>
          </p:cNvPr>
          <p:cNvSpPr/>
          <p:nvPr/>
        </p:nvSpPr>
        <p:spPr>
          <a:xfrm>
            <a:off x="12146158" y="3949933"/>
            <a:ext cx="1246649" cy="51471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bIns="13716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Client 2</a:t>
            </a:r>
          </a:p>
          <a:p>
            <a:pPr algn="ctr">
              <a:defRPr sz="1000">
                <a:solidFill>
                  <a:srgbClr val="334155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Local Node</a:t>
            </a:r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5C708866-B479-5386-E038-E5B3DFAE995F}"/>
              </a:ext>
            </a:extLst>
          </p:cNvPr>
          <p:cNvSpPr/>
          <p:nvPr/>
        </p:nvSpPr>
        <p:spPr>
          <a:xfrm>
            <a:off x="12146158" y="4715045"/>
            <a:ext cx="1246649" cy="5147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bIns="13716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3</a:t>
            </a:r>
          </a:p>
          <a:p>
            <a:pPr algn="ctr">
              <a:defRPr sz="1000">
                <a:solidFill>
                  <a:srgbClr val="334155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Node</a:t>
            </a:r>
          </a:p>
        </p:txBody>
      </p:sp>
      <p:sp>
        <p:nvSpPr>
          <p:cNvPr id="19" name="Right Arrow 7">
            <a:extLst>
              <a:ext uri="{FF2B5EF4-FFF2-40B4-BE49-F238E27FC236}">
                <a16:creationId xmlns:a16="http://schemas.microsoft.com/office/drawing/2014/main" id="{83870E86-A0BE-3F74-41D3-AA87FACB949F}"/>
              </a:ext>
            </a:extLst>
          </p:cNvPr>
          <p:cNvSpPr/>
          <p:nvPr/>
        </p:nvSpPr>
        <p:spPr>
          <a:xfrm rot="16200000">
            <a:off x="14236445" y="4525908"/>
            <a:ext cx="720315" cy="518050"/>
          </a:xfrm>
          <a:prstGeom prst="rightArrow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91B1B"/>
                </a:solidFill>
              </a:defRPr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ounded Rectangle 8">
            <a:extLst>
              <a:ext uri="{FF2B5EF4-FFF2-40B4-BE49-F238E27FC236}">
                <a16:creationId xmlns:a16="http://schemas.microsoft.com/office/drawing/2014/main" id="{260B36DC-853F-0A90-8A05-D961233CE94F}"/>
              </a:ext>
            </a:extLst>
          </p:cNvPr>
          <p:cNvSpPr/>
          <p:nvPr/>
        </p:nvSpPr>
        <p:spPr>
          <a:xfrm>
            <a:off x="15176503" y="3502861"/>
            <a:ext cx="1572056" cy="1359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bIns="13716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Server</a:t>
            </a:r>
          </a:p>
          <a:p>
            <a:pPr algn="ctr">
              <a:defRPr sz="1000">
                <a:solidFill>
                  <a:srgbClr val="334155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 Collection &amp; ML Processing Model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7EBFBA-FF0F-C197-540D-FD35516BD080}"/>
              </a:ext>
            </a:extLst>
          </p:cNvPr>
          <p:cNvSpPr txBox="1"/>
          <p:nvPr/>
        </p:nvSpPr>
        <p:spPr>
          <a:xfrm>
            <a:off x="11026079" y="5720581"/>
            <a:ext cx="6212791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8D4"/>
                </a:solidFill>
              </a:defRPr>
            </a:pP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FEDERATED LEARNING PIPELINE</a:t>
            </a:r>
          </a:p>
        </p:txBody>
      </p:sp>
      <p:sp>
        <p:nvSpPr>
          <p:cNvPr id="25" name="Rounded Rectangle 10">
            <a:extLst>
              <a:ext uri="{FF2B5EF4-FFF2-40B4-BE49-F238E27FC236}">
                <a16:creationId xmlns:a16="http://schemas.microsoft.com/office/drawing/2014/main" id="{90A878A0-CEB8-928C-F33D-05A092F539E5}"/>
              </a:ext>
            </a:extLst>
          </p:cNvPr>
          <p:cNvSpPr/>
          <p:nvPr/>
        </p:nvSpPr>
        <p:spPr>
          <a:xfrm>
            <a:off x="11024860" y="6389113"/>
            <a:ext cx="1235729" cy="6165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bIns="13716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1</a:t>
            </a:r>
          </a:p>
          <a:p>
            <a:pPr algn="ctr">
              <a:defRPr sz="1000">
                <a:solidFill>
                  <a:srgbClr val="334155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Node</a:t>
            </a:r>
          </a:p>
        </p:txBody>
      </p:sp>
      <p:sp>
        <p:nvSpPr>
          <p:cNvPr id="27" name="Right Arrow 11">
            <a:extLst>
              <a:ext uri="{FF2B5EF4-FFF2-40B4-BE49-F238E27FC236}">
                <a16:creationId xmlns:a16="http://schemas.microsoft.com/office/drawing/2014/main" id="{8A7C28FE-2413-F3A0-BBB0-CEF22358244B}"/>
              </a:ext>
            </a:extLst>
          </p:cNvPr>
          <p:cNvSpPr/>
          <p:nvPr/>
        </p:nvSpPr>
        <p:spPr>
          <a:xfrm>
            <a:off x="12354932" y="6485231"/>
            <a:ext cx="685800" cy="41148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ounded Rectangle 12">
            <a:extLst>
              <a:ext uri="{FF2B5EF4-FFF2-40B4-BE49-F238E27FC236}">
                <a16:creationId xmlns:a16="http://schemas.microsoft.com/office/drawing/2014/main" id="{D53E3AFE-4EAE-83CE-8905-CC3CAD3941C3}"/>
              </a:ext>
            </a:extLst>
          </p:cNvPr>
          <p:cNvSpPr/>
          <p:nvPr/>
        </p:nvSpPr>
        <p:spPr>
          <a:xfrm>
            <a:off x="13121566" y="6280132"/>
            <a:ext cx="1696377" cy="7725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bIns="13716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Update</a:t>
            </a:r>
          </a:p>
          <a:p>
            <a:pPr algn="ctr">
              <a:defRPr sz="1000">
                <a:solidFill>
                  <a:srgbClr val="334155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 Only</a:t>
            </a:r>
          </a:p>
        </p:txBody>
      </p:sp>
      <p:sp>
        <p:nvSpPr>
          <p:cNvPr id="31" name="Rounded Rectangle 13">
            <a:extLst>
              <a:ext uri="{FF2B5EF4-FFF2-40B4-BE49-F238E27FC236}">
                <a16:creationId xmlns:a16="http://schemas.microsoft.com/office/drawing/2014/main" id="{0BBD5223-E266-BBD5-02D6-6032E12C8CA3}"/>
              </a:ext>
            </a:extLst>
          </p:cNvPr>
          <p:cNvSpPr/>
          <p:nvPr/>
        </p:nvSpPr>
        <p:spPr>
          <a:xfrm>
            <a:off x="11024861" y="7290345"/>
            <a:ext cx="1235728" cy="62913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bIns="13716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2</a:t>
            </a:r>
          </a:p>
          <a:p>
            <a:pPr algn="ctr">
              <a:defRPr sz="1000">
                <a:solidFill>
                  <a:srgbClr val="334155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Node</a:t>
            </a:r>
          </a:p>
        </p:txBody>
      </p:sp>
      <p:sp>
        <p:nvSpPr>
          <p:cNvPr id="33" name="Right Arrow 14">
            <a:extLst>
              <a:ext uri="{FF2B5EF4-FFF2-40B4-BE49-F238E27FC236}">
                <a16:creationId xmlns:a16="http://schemas.microsoft.com/office/drawing/2014/main" id="{57D8D56F-EDAB-60A0-2689-5B8275CFF36F}"/>
              </a:ext>
            </a:extLst>
          </p:cNvPr>
          <p:cNvSpPr/>
          <p:nvPr/>
        </p:nvSpPr>
        <p:spPr>
          <a:xfrm>
            <a:off x="12339739" y="7351769"/>
            <a:ext cx="685800" cy="41148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ounded Rectangle 15">
            <a:extLst>
              <a:ext uri="{FF2B5EF4-FFF2-40B4-BE49-F238E27FC236}">
                <a16:creationId xmlns:a16="http://schemas.microsoft.com/office/drawing/2014/main" id="{D878FAD8-DD3D-AF9B-BE9D-AC8B796A5442}"/>
              </a:ext>
            </a:extLst>
          </p:cNvPr>
          <p:cNvSpPr/>
          <p:nvPr/>
        </p:nvSpPr>
        <p:spPr>
          <a:xfrm>
            <a:off x="13114146" y="7181363"/>
            <a:ext cx="1711516" cy="7725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bIns="13716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Update</a:t>
            </a:r>
          </a:p>
          <a:p>
            <a:pPr algn="ctr">
              <a:defRPr sz="1000">
                <a:solidFill>
                  <a:srgbClr val="334155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 Only</a:t>
            </a:r>
          </a:p>
        </p:txBody>
      </p:sp>
      <p:sp>
        <p:nvSpPr>
          <p:cNvPr id="37" name="Down Arrow 16">
            <a:extLst>
              <a:ext uri="{FF2B5EF4-FFF2-40B4-BE49-F238E27FC236}">
                <a16:creationId xmlns:a16="http://schemas.microsoft.com/office/drawing/2014/main" id="{8C711474-B957-3581-5348-8B865D4FB8B8}"/>
              </a:ext>
            </a:extLst>
          </p:cNvPr>
          <p:cNvSpPr/>
          <p:nvPr/>
        </p:nvSpPr>
        <p:spPr>
          <a:xfrm rot="17639625">
            <a:off x="13586951" y="3361494"/>
            <a:ext cx="411480" cy="68580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ounded Rectangle 18">
            <a:extLst>
              <a:ext uri="{FF2B5EF4-FFF2-40B4-BE49-F238E27FC236}">
                <a16:creationId xmlns:a16="http://schemas.microsoft.com/office/drawing/2014/main" id="{FBF7DF34-B451-6E78-6A01-85F1F857040E}"/>
              </a:ext>
            </a:extLst>
          </p:cNvPr>
          <p:cNvSpPr/>
          <p:nvPr/>
        </p:nvSpPr>
        <p:spPr>
          <a:xfrm>
            <a:off x="15864745" y="6342981"/>
            <a:ext cx="1696377" cy="13830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bIns="13716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sz="1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FedAvg</a:t>
            </a:r>
            <a:endParaRPr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000">
                <a:solidFill>
                  <a:srgbClr val="334155"/>
                </a:solidFill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Parameter Aggregation</a:t>
            </a:r>
          </a:p>
        </p:txBody>
      </p:sp>
      <p:sp>
        <p:nvSpPr>
          <p:cNvPr id="43" name="Down Arrow 19">
            <a:extLst>
              <a:ext uri="{FF2B5EF4-FFF2-40B4-BE49-F238E27FC236}">
                <a16:creationId xmlns:a16="http://schemas.microsoft.com/office/drawing/2014/main" id="{74701CFD-B5C5-E906-A8BD-3A06830AC5AF}"/>
              </a:ext>
            </a:extLst>
          </p:cNvPr>
          <p:cNvSpPr/>
          <p:nvPr/>
        </p:nvSpPr>
        <p:spPr>
          <a:xfrm>
            <a:off x="16712933" y="8949557"/>
            <a:ext cx="205740" cy="27432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ounded Rectangle 20">
            <a:extLst>
              <a:ext uri="{FF2B5EF4-FFF2-40B4-BE49-F238E27FC236}">
                <a16:creationId xmlns:a16="http://schemas.microsoft.com/office/drawing/2014/main" id="{B12C47A6-E3B1-F7C6-94FC-EB885D8FA7AA}"/>
              </a:ext>
            </a:extLst>
          </p:cNvPr>
          <p:cNvSpPr/>
          <p:nvPr/>
        </p:nvSpPr>
        <p:spPr>
          <a:xfrm>
            <a:off x="15628133" y="8241639"/>
            <a:ext cx="2390774" cy="5819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bIns="13716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Model</a:t>
            </a:r>
          </a:p>
          <a:p>
            <a:pPr algn="ctr">
              <a:defRPr sz="1000">
                <a:solidFill>
                  <a:srgbClr val="334155"/>
                </a:solidFill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Master Model</a:t>
            </a:r>
          </a:p>
        </p:txBody>
      </p:sp>
      <p:sp>
        <p:nvSpPr>
          <p:cNvPr id="47" name="Down Arrow 21">
            <a:extLst>
              <a:ext uri="{FF2B5EF4-FFF2-40B4-BE49-F238E27FC236}">
                <a16:creationId xmlns:a16="http://schemas.microsoft.com/office/drawing/2014/main" id="{49AF986C-EC4F-B92D-071F-F51CC90B0BD3}"/>
              </a:ext>
            </a:extLst>
          </p:cNvPr>
          <p:cNvSpPr/>
          <p:nvPr/>
        </p:nvSpPr>
        <p:spPr>
          <a:xfrm>
            <a:off x="16116930" y="7839243"/>
            <a:ext cx="205740" cy="311826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ounded Rectangle 22">
            <a:extLst>
              <a:ext uri="{FF2B5EF4-FFF2-40B4-BE49-F238E27FC236}">
                <a16:creationId xmlns:a16="http://schemas.microsoft.com/office/drawing/2014/main" id="{58945354-EA6E-14D9-AD66-7E831DC6D7D8}"/>
              </a:ext>
            </a:extLst>
          </p:cNvPr>
          <p:cNvSpPr/>
          <p:nvPr/>
        </p:nvSpPr>
        <p:spPr>
          <a:xfrm>
            <a:off x="15673151" y="9355322"/>
            <a:ext cx="2277488" cy="707273"/>
          </a:xfrm>
          <a:prstGeom prst="roundRect">
            <a:avLst/>
          </a:prstGeom>
          <a:solidFill>
            <a:srgbClr val="375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bIns="13716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Storage</a:t>
            </a:r>
          </a:p>
          <a:p>
            <a:pPr algn="ctr">
              <a:defRPr sz="1000">
                <a:solidFill>
                  <a:srgbClr val="F0F9FF"/>
                </a:solidFill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Blob Container Vault</a:t>
            </a:r>
          </a:p>
        </p:txBody>
      </p:sp>
      <p:sp>
        <p:nvSpPr>
          <p:cNvPr id="52" name="Down Arrow 21">
            <a:extLst>
              <a:ext uri="{FF2B5EF4-FFF2-40B4-BE49-F238E27FC236}">
                <a16:creationId xmlns:a16="http://schemas.microsoft.com/office/drawing/2014/main" id="{C11BC503-3883-D04F-2EDF-72214363BF50}"/>
              </a:ext>
            </a:extLst>
          </p:cNvPr>
          <p:cNvSpPr/>
          <p:nvPr/>
        </p:nvSpPr>
        <p:spPr>
          <a:xfrm>
            <a:off x="17136000" y="7852218"/>
            <a:ext cx="205740" cy="311826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Down Arrow 16">
            <a:extLst>
              <a:ext uri="{FF2B5EF4-FFF2-40B4-BE49-F238E27FC236}">
                <a16:creationId xmlns:a16="http://schemas.microsoft.com/office/drawing/2014/main" id="{5C2891FA-DF3B-B4D0-A2B5-158A68401EDC}"/>
              </a:ext>
            </a:extLst>
          </p:cNvPr>
          <p:cNvSpPr/>
          <p:nvPr/>
        </p:nvSpPr>
        <p:spPr>
          <a:xfrm rot="16200000">
            <a:off x="15175956" y="7153185"/>
            <a:ext cx="411480" cy="68580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5" name="Group 3">
            <a:extLst>
              <a:ext uri="{FF2B5EF4-FFF2-40B4-BE49-F238E27FC236}">
                <a16:creationId xmlns:a16="http://schemas.microsoft.com/office/drawing/2014/main" id="{1E2FCD69-7F9D-776A-0367-6004F4E37FEB}"/>
              </a:ext>
            </a:extLst>
          </p:cNvPr>
          <p:cNvGrpSpPr/>
          <p:nvPr/>
        </p:nvGrpSpPr>
        <p:grpSpPr>
          <a:xfrm flipH="1">
            <a:off x="10582175" y="2393081"/>
            <a:ext cx="47624" cy="7257985"/>
            <a:chOff x="0" y="0"/>
            <a:chExt cx="12543" cy="537460"/>
          </a:xfrm>
        </p:grpSpPr>
        <p:sp>
          <p:nvSpPr>
            <p:cNvPr id="56" name="Freeform 4">
              <a:extLst>
                <a:ext uri="{FF2B5EF4-FFF2-40B4-BE49-F238E27FC236}">
                  <a16:creationId xmlns:a16="http://schemas.microsoft.com/office/drawing/2014/main" id="{93585B54-C634-00B5-A14A-E34B1F6D7CB9}"/>
                </a:ext>
              </a:extLst>
            </p:cNvPr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" name="TextBox 5">
              <a:extLst>
                <a:ext uri="{FF2B5EF4-FFF2-40B4-BE49-F238E27FC236}">
                  <a16:creationId xmlns:a16="http://schemas.microsoft.com/office/drawing/2014/main" id="{3D9D5C83-C587-ABC1-396D-460C75A5AD09}"/>
                </a:ext>
              </a:extLst>
            </p:cNvPr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9" name="Down Arrow 16">
            <a:extLst>
              <a:ext uri="{FF2B5EF4-FFF2-40B4-BE49-F238E27FC236}">
                <a16:creationId xmlns:a16="http://schemas.microsoft.com/office/drawing/2014/main" id="{CDA2BE44-7B76-8F63-C517-3979A5819329}"/>
              </a:ext>
            </a:extLst>
          </p:cNvPr>
          <p:cNvSpPr/>
          <p:nvPr/>
        </p:nvSpPr>
        <p:spPr>
          <a:xfrm rot="16200000">
            <a:off x="15310671" y="6501775"/>
            <a:ext cx="411480" cy="68580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Down Arrow 16">
            <a:extLst>
              <a:ext uri="{FF2B5EF4-FFF2-40B4-BE49-F238E27FC236}">
                <a16:creationId xmlns:a16="http://schemas.microsoft.com/office/drawing/2014/main" id="{CA3223C0-B4BC-FC08-776C-FB4A98AE0487}"/>
              </a:ext>
            </a:extLst>
          </p:cNvPr>
          <p:cNvSpPr/>
          <p:nvPr/>
        </p:nvSpPr>
        <p:spPr>
          <a:xfrm rot="16200000">
            <a:off x="13634958" y="3851923"/>
            <a:ext cx="411480" cy="68580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Down Arrow 16">
            <a:extLst>
              <a:ext uri="{FF2B5EF4-FFF2-40B4-BE49-F238E27FC236}">
                <a16:creationId xmlns:a16="http://schemas.microsoft.com/office/drawing/2014/main" id="{EEE19315-2A2A-C71D-BFA9-EF19E94D5345}"/>
              </a:ext>
            </a:extLst>
          </p:cNvPr>
          <p:cNvSpPr/>
          <p:nvPr/>
        </p:nvSpPr>
        <p:spPr>
          <a:xfrm rot="14509138">
            <a:off x="13599672" y="4351350"/>
            <a:ext cx="411480" cy="68580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Down Arrow 16">
            <a:extLst>
              <a:ext uri="{FF2B5EF4-FFF2-40B4-BE49-F238E27FC236}">
                <a16:creationId xmlns:a16="http://schemas.microsoft.com/office/drawing/2014/main" id="{23C8FD5A-DFBE-917A-51E1-5A48819BFEE4}"/>
              </a:ext>
            </a:extLst>
          </p:cNvPr>
          <p:cNvSpPr/>
          <p:nvPr/>
        </p:nvSpPr>
        <p:spPr>
          <a:xfrm rot="16200000">
            <a:off x="14431774" y="3851923"/>
            <a:ext cx="411480" cy="68580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664EFF4-179A-7D7C-0BC2-15DBAD75DF1C}"/>
              </a:ext>
            </a:extLst>
          </p:cNvPr>
          <p:cNvSpPr txBox="1"/>
          <p:nvPr/>
        </p:nvSpPr>
        <p:spPr>
          <a:xfrm>
            <a:off x="12846814" y="5193884"/>
            <a:ext cx="3581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Data(Exposed Transfer)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933B6-DABE-511D-047C-3CE74C9AB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C677FA5-D3BB-3ED1-DFA9-3381F7F99D3B}"/>
              </a:ext>
            </a:extLst>
          </p:cNvPr>
          <p:cNvSpPr/>
          <p:nvPr/>
        </p:nvSpPr>
        <p:spPr>
          <a:xfrm>
            <a:off x="0" y="38646"/>
            <a:ext cx="1640851" cy="1881488"/>
          </a:xfrm>
          <a:custGeom>
            <a:avLst/>
            <a:gdLst/>
            <a:ahLst/>
            <a:cxnLst/>
            <a:rect l="l" t="t" r="r" b="b"/>
            <a:pathLst>
              <a:path w="1640851" h="1881488">
                <a:moveTo>
                  <a:pt x="0" y="0"/>
                </a:moveTo>
                <a:lnTo>
                  <a:pt x="1640851" y="0"/>
                </a:lnTo>
                <a:lnTo>
                  <a:pt x="1640851" y="1881489"/>
                </a:lnTo>
                <a:lnTo>
                  <a:pt x="0" y="18814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887490" b="-10878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5E3C1AC-1670-D1B4-E90B-E95A9358305A}"/>
              </a:ext>
            </a:extLst>
          </p:cNvPr>
          <p:cNvSpPr/>
          <p:nvPr/>
        </p:nvSpPr>
        <p:spPr>
          <a:xfrm>
            <a:off x="16043470" y="0"/>
            <a:ext cx="2244530" cy="1920135"/>
          </a:xfrm>
          <a:custGeom>
            <a:avLst/>
            <a:gdLst/>
            <a:ahLst/>
            <a:cxnLst/>
            <a:rect l="l" t="t" r="r" b="b"/>
            <a:pathLst>
              <a:path w="2244530" h="1920135">
                <a:moveTo>
                  <a:pt x="0" y="0"/>
                </a:moveTo>
                <a:lnTo>
                  <a:pt x="2244530" y="0"/>
                </a:lnTo>
                <a:lnTo>
                  <a:pt x="2244530" y="1920135"/>
                </a:lnTo>
                <a:lnTo>
                  <a:pt x="0" y="19201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0402" r="-254869" b="-10659"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98E0F13-BDEE-2EAE-9938-D7177EA9AC06}"/>
              </a:ext>
            </a:extLst>
          </p:cNvPr>
          <p:cNvGrpSpPr/>
          <p:nvPr/>
        </p:nvGrpSpPr>
        <p:grpSpPr>
          <a:xfrm>
            <a:off x="2468560" y="148935"/>
            <a:ext cx="47625" cy="1651623"/>
            <a:chOff x="0" y="0"/>
            <a:chExt cx="12543" cy="43499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A89E662-2E0C-EB17-8805-CDAF2263B3EE}"/>
                </a:ext>
              </a:extLst>
            </p:cNvPr>
            <p:cNvSpPr/>
            <p:nvPr/>
          </p:nvSpPr>
          <p:spPr>
            <a:xfrm>
              <a:off x="0" y="0"/>
              <a:ext cx="12543" cy="434995"/>
            </a:xfrm>
            <a:custGeom>
              <a:avLst/>
              <a:gdLst/>
              <a:ahLst/>
              <a:cxnLst/>
              <a:rect l="l" t="t" r="r" b="b"/>
              <a:pathLst>
                <a:path w="12543" h="434995">
                  <a:moveTo>
                    <a:pt x="0" y="0"/>
                  </a:moveTo>
                  <a:lnTo>
                    <a:pt x="12543" y="0"/>
                  </a:lnTo>
                  <a:lnTo>
                    <a:pt x="12543" y="434995"/>
                  </a:lnTo>
                  <a:lnTo>
                    <a:pt x="0" y="43499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ABA8616-A96A-3CC1-E7B4-F16DB745A10D}"/>
                </a:ext>
              </a:extLst>
            </p:cNvPr>
            <p:cNvSpPr txBox="1"/>
            <p:nvPr/>
          </p:nvSpPr>
          <p:spPr>
            <a:xfrm>
              <a:off x="0" y="-38100"/>
              <a:ext cx="12543" cy="4730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8E90AF57-8E28-9F3B-0031-1CA49F2343EA}"/>
              </a:ext>
            </a:extLst>
          </p:cNvPr>
          <p:cNvSpPr txBox="1"/>
          <p:nvPr/>
        </p:nvSpPr>
        <p:spPr>
          <a:xfrm>
            <a:off x="2637105" y="549283"/>
            <a:ext cx="8339864" cy="1003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62"/>
              </a:lnSpc>
            </a:pPr>
            <a:r>
              <a:rPr lang="en-US" sz="7614" spc="-487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Literature Review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C4EA0CA-2E67-06AE-A69C-FAC53E753C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580541"/>
              </p:ext>
            </p:extLst>
          </p:nvPr>
        </p:nvGraphicFramePr>
        <p:xfrm>
          <a:off x="0" y="1928559"/>
          <a:ext cx="18288000" cy="71165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37606545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3454241787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807140026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756389712"/>
                    </a:ext>
                  </a:extLst>
                </a:gridCol>
              </a:tblGrid>
              <a:tr h="6707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 / Year / Paper Title</a:t>
                      </a:r>
                    </a:p>
                  </a:txBody>
                  <a:tcPr marL="22744" marR="22744" marT="11372" marB="11372" anchor="ctr">
                    <a:solidFill>
                      <a:srgbClr val="3753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 marL="22744" marR="22744" marT="11372" marB="11372" anchor="ctr">
                    <a:solidFill>
                      <a:srgbClr val="3753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/ Concept Used</a:t>
                      </a:r>
                    </a:p>
                  </a:txBody>
                  <a:tcPr marL="22744" marR="22744" marT="11372" marB="11372" anchor="ctr">
                    <a:solidFill>
                      <a:srgbClr val="3753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 / Limitation</a:t>
                      </a:r>
                    </a:p>
                  </a:txBody>
                  <a:tcPr marL="22744" marR="22744" marT="11372" marB="11372" anchor="ctr">
                    <a:solidFill>
                      <a:srgbClr val="3753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618850"/>
                  </a:ext>
                </a:extLst>
              </a:tr>
              <a:tr h="705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Elsevier, 2026 – Federated Learning for Big Data: A Survey on Opportunities, Applications, and Future Directions</a:t>
                      </a:r>
                    </a:p>
                  </a:txBody>
                  <a:tcPr marL="22744" marR="22744" marT="11372" marB="1137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Thippa Reddy Gadekallu, Quoc-Viet Pham, Thien Huynh-The, Hailin Feng, Kai Fang, Sharnil Pandya, Madhusanka Liyanage, Wei Wang, Thanh Thi Nguyen</a:t>
                      </a:r>
                    </a:p>
                  </a:txBody>
                  <a:tcPr marL="22744" marR="22744" marT="11372" marB="1137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Big Data Analytics, FL Architecture, Cloud/Big Data Integration</a:t>
                      </a:r>
                    </a:p>
                  </a:txBody>
                  <a:tcPr marL="22744" marR="22744" marT="11372" marB="1137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Highlights challenges including communication overhead, system/statistical heterogeneity, privacy and security issues in FL-Big Data systems. (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tooltip="Federated learning for big data: A survey on opportunities, applications, and future directions - ScienceDirect"/>
                        </a:rPr>
                        <a:t>ScienceDirect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22744" marR="22744" marT="11372" marB="1137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962981"/>
                  </a:ext>
                </a:extLst>
              </a:tr>
              <a:tr h="841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MDPI Computers, 2026 – Federated Learning: A Survey of Core Challenges, Current Methods, and Opportunities</a:t>
                      </a:r>
                    </a:p>
                  </a:txBody>
                  <a:tcPr marL="22744" marR="22744" marT="11372" marB="1137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Madan Baduwal, Priyanka Paudel, Vini Chaudhary</a:t>
                      </a:r>
                    </a:p>
                  </a:txBody>
                  <a:tcPr marL="22744" marR="22744" marT="11372" marB="1137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Client Selection, Aggregation, Optimization, Privacy Preservation</a:t>
                      </a:r>
                    </a:p>
                  </a:txBody>
                  <a:tcPr marL="22744" marR="22744" marT="11372" marB="1137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heterogeneity, computation overhead, communication bottlenecks, client selection and privacy as major challenges affecting practical FL deployment. (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 tooltip="Federated Learning: A Survey of Core Challenges, Current Methods, and Opportunities"/>
                        </a:rPr>
                        <a:t>MDPI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22744" marR="22744" marT="11372" marB="1137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550528"/>
                  </a:ext>
                </a:extLst>
              </a:tr>
              <a:tr h="636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MDPI Electronics, 2026 – A Fairness Perspective on Client Selection and Aggregation Methods for Non-IID Mitigation in Federated Learning: A Survey</a:t>
                      </a:r>
                    </a:p>
                  </a:txBody>
                  <a:tcPr marL="22744" marR="22744" marT="11372" marB="1137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Mohannad Alsofyani, Isra Alturaiki, Hassan Mathkour</a:t>
                      </a:r>
                    </a:p>
                  </a:txBody>
                  <a:tcPr marL="22744" marR="22744" marT="11372" marB="1137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Client Selection, Non-IID Data, Model Aggregation</a:t>
                      </a:r>
                    </a:p>
                  </a:txBody>
                  <a:tcPr marL="22744" marR="22744" marT="11372" marB="1137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Non-IID data can cause client drift, slower convergence and unfair client participation/influence. (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 tooltip="A Fairness Perspective on Client Selection and Aggregation Methods for Non-IID Mitigation in Federated Learning: A Survey"/>
                        </a:rPr>
                        <a:t>MDPI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22744" marR="22744" marT="11372" marB="1137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61988"/>
                  </a:ext>
                </a:extLst>
              </a:tr>
              <a:tr h="773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MDPI Electronics, 2026 – Heterogeneity-Aware Poisoning Attacks and Mitigation in Federated Learning: A Comprehensive Survey and Taxonomy</a:t>
                      </a:r>
                    </a:p>
                  </a:txBody>
                  <a:tcPr marL="22744" marR="22744" marT="11372" marB="1137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Aimen Djemaa, Djamel Djenouri, Phil Legg</a:t>
                      </a:r>
                    </a:p>
                  </a:txBody>
                  <a:tcPr marL="22744" marR="22744" marT="11372" marB="1137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 Security, Model Aggregation, Attack Detection</a:t>
                      </a:r>
                    </a:p>
                  </a:txBody>
                  <a:tcPr marL="22744" marR="22744" marT="11372" marB="1137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Heterogeneous clients make poisoning attacks harder to detect and make mitigation more difficult while preserving legitimate client diversity. (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 tooltip="Heterogeneity-Aware Poisoning Attacks and Mitigation in Federated Learning: A Comprehensive Survey and Taxonomy"/>
                        </a:rPr>
                        <a:t>MDPI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22744" marR="22744" marT="11372" marB="1137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755556"/>
                  </a:ext>
                </a:extLst>
              </a:tr>
              <a:tr h="841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MDPI Electronics, 2026 – Blockchain-Enabled Federated Learning: A Survey on System Design, Key Challenges, and Future Directions</a:t>
                      </a:r>
                    </a:p>
                  </a:txBody>
                  <a:tcPr marL="22744" marR="22744" marT="11372" marB="1137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Lingzi Zhu, Bo Zhao, Rao Peng</a:t>
                      </a:r>
                    </a:p>
                  </a:txBody>
                  <a:tcPr marL="22744" marR="22744" marT="11372" marB="1137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Privacy, Security, Trust, Decentralized FL</a:t>
                      </a:r>
                    </a:p>
                  </a:txBody>
                  <a:tcPr marL="22744" marR="22744" marT="11372" marB="1137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centralized FL can face trust and single-point-of-failure concerns; blockchain integration introduces additional efficiency and storage overhead. (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 tooltip="Blockchain-Enabled Federated Learning: A Survey on System Design, Key Challenges, and Future Directions"/>
                        </a:rPr>
                        <a:t>MDPI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22744" marR="22744" marT="11372" marB="1137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24192"/>
                  </a:ext>
                </a:extLst>
              </a:tr>
              <a:tr h="568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TNNLS, 2025 – Threats and Defenses in the Federated Learning Life Cycle: A Comprehensive Survey and Challenges</a:t>
                      </a:r>
                    </a:p>
                  </a:txBody>
                  <a:tcPr marL="22744" marR="22744" marT="11372" marB="1137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Yanli Li, Zhongliang Guo, Nan Yang, Huaming Chen, Dong Yuan, Weiping Ding</a:t>
                      </a:r>
                    </a:p>
                  </a:txBody>
                  <a:tcPr marL="22744" marR="22744" marT="11372" marB="1137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&amp; Security, Secure Aggregation, FL Threats</a:t>
                      </a:r>
                    </a:p>
                  </a:txBody>
                  <a:tcPr marL="22744" marR="22744" marT="11372" marB="1137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 remains exposed to threats such as privacy leakage, malicious updates and attacks across different stages of the FL lifecycle. (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 tooltip="Threats and Defenses in the Federated Learning Life Cycle: A Comprehensive Survey and Challenges."/>
                        </a:rPr>
                        <a:t>PubMed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22744" marR="22744" marT="11372" marB="1137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95874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A290DB2-9C78-E468-DFD5-346FD503F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540522"/>
              </p:ext>
            </p:extLst>
          </p:nvPr>
        </p:nvGraphicFramePr>
        <p:xfrm>
          <a:off x="0" y="9059634"/>
          <a:ext cx="18288000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37686784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388282353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1158079618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4936056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Elsevier, 2026 – Intent-Based Agentic AI Framework for Privacy-Preserving Cross-Cloud Federated Learning and Green Big Data Analytics in Edge-Cloud Networks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Sheng Guo, Lei Yang, Zhi Wang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Cross-Cloud FL, Privacy Preservation, Cloud Integration, Big Data Analytics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Cross-cloud coordination, communication overhead, heterogeneous resources and energy-efficient orchestration remain challenging. (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9" tooltip="Intent-based agentic AI framework for privacy-preserving cross-cloud federated learning and green big data analytics in edge-cloud networks - ScienceDirect"/>
                        </a:rPr>
                        <a:t>ScienceDirect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989974"/>
                  </a:ext>
                </a:extLst>
              </a:tr>
            </a:tbl>
          </a:graphicData>
        </a:graphic>
      </p:graphicFrame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8EC598-B722-1A30-6906-65B02842BEF2}"/>
              </a:ext>
            </a:extLst>
          </p:cNvPr>
          <p:cNvCxnSpPr/>
          <p:nvPr/>
        </p:nvCxnSpPr>
        <p:spPr>
          <a:xfrm>
            <a:off x="4572000" y="1920134"/>
            <a:ext cx="0" cy="86335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9171813-6E21-CC62-66D7-140454DE67FE}"/>
              </a:ext>
            </a:extLst>
          </p:cNvPr>
          <p:cNvCxnSpPr/>
          <p:nvPr/>
        </p:nvCxnSpPr>
        <p:spPr>
          <a:xfrm>
            <a:off x="9144000" y="1928559"/>
            <a:ext cx="0" cy="86335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F3BD426-2F85-DEB4-A5F5-28C7506EA12C}"/>
              </a:ext>
            </a:extLst>
          </p:cNvPr>
          <p:cNvCxnSpPr/>
          <p:nvPr/>
        </p:nvCxnSpPr>
        <p:spPr>
          <a:xfrm>
            <a:off x="13716000" y="1920134"/>
            <a:ext cx="0" cy="86335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B49B5D2-92EB-9546-CA32-14366E0FCD45}"/>
              </a:ext>
            </a:extLst>
          </p:cNvPr>
          <p:cNvCxnSpPr>
            <a:cxnSpLocks/>
          </p:cNvCxnSpPr>
          <p:nvPr/>
        </p:nvCxnSpPr>
        <p:spPr>
          <a:xfrm flipH="1">
            <a:off x="-381000" y="3695700"/>
            <a:ext cx="1866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217D0C9-C67A-C99D-FC59-FF78CB393909}"/>
              </a:ext>
            </a:extLst>
          </p:cNvPr>
          <p:cNvCxnSpPr>
            <a:cxnSpLocks/>
          </p:cNvCxnSpPr>
          <p:nvPr/>
        </p:nvCxnSpPr>
        <p:spPr>
          <a:xfrm flipH="1">
            <a:off x="-381000" y="4838700"/>
            <a:ext cx="1866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7D6A3CB-887F-2B3A-EE9C-888F5F5A4ED3}"/>
              </a:ext>
            </a:extLst>
          </p:cNvPr>
          <p:cNvCxnSpPr>
            <a:cxnSpLocks/>
          </p:cNvCxnSpPr>
          <p:nvPr/>
        </p:nvCxnSpPr>
        <p:spPr>
          <a:xfrm flipH="1">
            <a:off x="-190500" y="5981700"/>
            <a:ext cx="1866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876450A-7EAB-D06B-93C0-E05409BE05A6}"/>
              </a:ext>
            </a:extLst>
          </p:cNvPr>
          <p:cNvCxnSpPr>
            <a:cxnSpLocks/>
          </p:cNvCxnSpPr>
          <p:nvPr/>
        </p:nvCxnSpPr>
        <p:spPr>
          <a:xfrm flipH="1">
            <a:off x="-190500" y="7048500"/>
            <a:ext cx="1866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BC13507-F590-2868-0998-AF64C3405965}"/>
              </a:ext>
            </a:extLst>
          </p:cNvPr>
          <p:cNvCxnSpPr>
            <a:cxnSpLocks/>
          </p:cNvCxnSpPr>
          <p:nvPr/>
        </p:nvCxnSpPr>
        <p:spPr>
          <a:xfrm flipH="1">
            <a:off x="0" y="8191500"/>
            <a:ext cx="1866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C7D5241-B369-9949-7E16-B49B1B1E440B}"/>
              </a:ext>
            </a:extLst>
          </p:cNvPr>
          <p:cNvCxnSpPr>
            <a:cxnSpLocks/>
          </p:cNvCxnSpPr>
          <p:nvPr/>
        </p:nvCxnSpPr>
        <p:spPr>
          <a:xfrm flipH="1">
            <a:off x="-190500" y="9059634"/>
            <a:ext cx="1866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069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6942" y="3250597"/>
            <a:ext cx="2999720" cy="299972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gradFill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marL="0" lvl="0" indent="0" algn="ctr">
                <a:lnSpc>
                  <a:spcPts val="2659"/>
                </a:lnSpc>
              </a:pPr>
              <a:endParaRPr sz="2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495800" y="3250597"/>
            <a:ext cx="2999720" cy="299972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marL="0" lvl="0" indent="0" algn="ctr">
                <a:lnSpc>
                  <a:spcPts val="2659"/>
                </a:lnSpc>
              </a:pPr>
              <a:endParaRPr sz="2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95402" y="3250597"/>
            <a:ext cx="2999720" cy="299972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gradFill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marL="0" lvl="0" indent="0" algn="ctr">
                <a:lnSpc>
                  <a:spcPts val="2659"/>
                </a:lnSpc>
              </a:pPr>
              <a:endParaRPr sz="2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95005" y="3250597"/>
            <a:ext cx="2999720" cy="299972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marL="0" lvl="0" indent="0" algn="ctr">
                <a:lnSpc>
                  <a:spcPts val="2659"/>
                </a:lnSpc>
              </a:pPr>
              <a:endParaRPr sz="2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598492" y="3939244"/>
            <a:ext cx="2616085" cy="1600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Federated Learning system with multiple clients.</a:t>
            </a:r>
            <a:endParaRPr lang="en-US" sz="2600" spc="-5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759623" y="3854063"/>
            <a:ext cx="2554556" cy="20005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local model training without transferring raw client datasets.</a:t>
            </a:r>
            <a:endParaRPr lang="en-US" sz="2600" spc="-5" dirty="0">
              <a:solidFill>
                <a:srgbClr val="FFFF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762281" y="3872555"/>
            <a:ext cx="2651501" cy="20005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client model updates using Federated Averaging (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FedAvg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600" spc="-5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876346" y="4060000"/>
            <a:ext cx="2608340" cy="1600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Big Data Analytics on distributed client datasets.</a:t>
            </a:r>
            <a:endParaRPr lang="en-US" sz="2600" spc="-5" dirty="0">
              <a:solidFill>
                <a:srgbClr val="FFFF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3397541" y="3083375"/>
            <a:ext cx="746986" cy="747004"/>
            <a:chOff x="0" y="0"/>
            <a:chExt cx="995981" cy="996005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995981" cy="996005"/>
              <a:chOff x="0" y="0"/>
              <a:chExt cx="812800" cy="812819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19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00" y="38102"/>
                <a:ext cx="660400" cy="6985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 sz="2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75623" y="235561"/>
              <a:ext cx="644736" cy="4958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0"/>
                </a:lnSpc>
              </a:pPr>
              <a:r>
                <a:rPr lang="en-US" sz="2600" spc="-6">
                  <a:solidFill>
                    <a:srgbClr val="FFFFFF"/>
                  </a:solidFill>
                  <a:latin typeface="Times New Roman" panose="02020603050405020304" pitchFamily="18" charset="0"/>
                  <a:ea typeface="Poppins"/>
                  <a:cs typeface="Times New Roman" panose="02020603050405020304" pitchFamily="18" charset="0"/>
                  <a:sym typeface="Poppins"/>
                </a:rPr>
                <a:t>01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54119" y="3083375"/>
            <a:ext cx="746986" cy="747004"/>
            <a:chOff x="0" y="0"/>
            <a:chExt cx="995981" cy="996005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995981" cy="996005"/>
              <a:chOff x="0" y="0"/>
              <a:chExt cx="812800" cy="81281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19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sq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6200" y="38102"/>
                <a:ext cx="660400" cy="6985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 sz="2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175623" y="235561"/>
              <a:ext cx="644736" cy="4958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0"/>
                </a:lnSpc>
              </a:pPr>
              <a:r>
                <a:rPr lang="en-US" sz="2600" spc="-6">
                  <a:solidFill>
                    <a:srgbClr val="000000"/>
                  </a:solidFill>
                  <a:latin typeface="Times New Roman" panose="02020603050405020304" pitchFamily="18" charset="0"/>
                  <a:ea typeface="Poppins"/>
                  <a:cs typeface="Times New Roman" panose="02020603050405020304" pitchFamily="18" charset="0"/>
                  <a:sym typeface="Poppins"/>
                </a:rPr>
                <a:t>02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646908" y="3083375"/>
            <a:ext cx="746986" cy="747004"/>
            <a:chOff x="0" y="0"/>
            <a:chExt cx="995981" cy="996005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995981" cy="996005"/>
              <a:chOff x="0" y="0"/>
              <a:chExt cx="812800" cy="812819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19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6200" y="38102"/>
                <a:ext cx="660400" cy="6985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 sz="2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175623" y="235561"/>
              <a:ext cx="644736" cy="4958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0"/>
                </a:lnSpc>
              </a:pPr>
              <a:r>
                <a:rPr lang="en-US" sz="2600" spc="-6">
                  <a:solidFill>
                    <a:srgbClr val="FFFFFF"/>
                  </a:solidFill>
                  <a:latin typeface="Times New Roman" panose="02020603050405020304" pitchFamily="18" charset="0"/>
                  <a:ea typeface="Poppins"/>
                  <a:cs typeface="Times New Roman" panose="02020603050405020304" pitchFamily="18" charset="0"/>
                  <a:sym typeface="Poppins"/>
                </a:rPr>
                <a:t>03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843308" y="3083375"/>
            <a:ext cx="746986" cy="747004"/>
            <a:chOff x="0" y="0"/>
            <a:chExt cx="995981" cy="996005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995981" cy="996005"/>
              <a:chOff x="0" y="0"/>
              <a:chExt cx="812800" cy="812819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19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sq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6200" y="38102"/>
                <a:ext cx="660400" cy="6985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 sz="2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175623" y="235561"/>
              <a:ext cx="644736" cy="4958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0"/>
                </a:lnSpc>
              </a:pPr>
              <a:r>
                <a:rPr lang="en-US" sz="2600" spc="-6">
                  <a:solidFill>
                    <a:srgbClr val="000000"/>
                  </a:solidFill>
                  <a:latin typeface="Times New Roman" panose="02020603050405020304" pitchFamily="18" charset="0"/>
                  <a:ea typeface="Poppins"/>
                  <a:cs typeface="Times New Roman" panose="02020603050405020304" pitchFamily="18" charset="0"/>
                  <a:sym typeface="Poppins"/>
                </a:rPr>
                <a:t>04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3115995" y="819342"/>
            <a:ext cx="11560683" cy="127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96"/>
              </a:lnSpc>
            </a:pPr>
            <a:r>
              <a:rPr lang="en-US" sz="9792" spc="-626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Objective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3789975" y="3250597"/>
            <a:ext cx="2999720" cy="2999720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gradFill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marL="0" lvl="0" indent="0" algn="ctr">
                <a:lnSpc>
                  <a:spcPts val="2659"/>
                </a:lnSpc>
              </a:pPr>
              <a:endParaRPr sz="2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4049449" y="3936608"/>
            <a:ext cx="2532523" cy="1600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federated results and analytics in Azure Blob Storage.</a:t>
            </a:r>
            <a:endParaRPr lang="en-US" sz="2600" spc="-5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pSp>
        <p:nvGrpSpPr>
          <p:cNvPr id="43" name="Group 43"/>
          <p:cNvGrpSpPr/>
          <p:nvPr/>
        </p:nvGrpSpPr>
        <p:grpSpPr>
          <a:xfrm>
            <a:off x="15711703" y="3083375"/>
            <a:ext cx="746986" cy="747004"/>
            <a:chOff x="0" y="0"/>
            <a:chExt cx="995981" cy="996005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95981" cy="996005"/>
              <a:chOff x="0" y="0"/>
              <a:chExt cx="812800" cy="812819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812800" cy="8128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19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76200" y="38102"/>
                <a:ext cx="660400" cy="6985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 sz="2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175623" y="235561"/>
              <a:ext cx="644736" cy="4958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0"/>
                </a:lnSpc>
              </a:pPr>
              <a:r>
                <a:rPr lang="en-US" sz="2600" spc="-6">
                  <a:solidFill>
                    <a:srgbClr val="FFFFFF"/>
                  </a:solidFill>
                  <a:latin typeface="Times New Roman" panose="02020603050405020304" pitchFamily="18" charset="0"/>
                  <a:ea typeface="Poppins"/>
                  <a:cs typeface="Times New Roman" panose="02020603050405020304" pitchFamily="18" charset="0"/>
                  <a:sym typeface="Poppins"/>
                </a:rPr>
                <a:t>05</a:t>
              </a:r>
            </a:p>
          </p:txBody>
        </p:sp>
      </p:grpSp>
      <p:sp>
        <p:nvSpPr>
          <p:cNvPr id="48" name="Freeform 48"/>
          <p:cNvSpPr/>
          <p:nvPr/>
        </p:nvSpPr>
        <p:spPr>
          <a:xfrm>
            <a:off x="16043470" y="0"/>
            <a:ext cx="2244530" cy="2124813"/>
          </a:xfrm>
          <a:custGeom>
            <a:avLst/>
            <a:gdLst/>
            <a:ahLst/>
            <a:cxnLst/>
            <a:rect l="l" t="t" r="r" b="b"/>
            <a:pathLst>
              <a:path w="2244530" h="2124813">
                <a:moveTo>
                  <a:pt x="0" y="0"/>
                </a:moveTo>
                <a:lnTo>
                  <a:pt x="2244530" y="0"/>
                </a:lnTo>
                <a:lnTo>
                  <a:pt x="2244530" y="2124813"/>
                </a:lnTo>
                <a:lnTo>
                  <a:pt x="0" y="2124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0402" r="-254869"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-9525" y="38646"/>
            <a:ext cx="1640851" cy="2086167"/>
          </a:xfrm>
          <a:custGeom>
            <a:avLst/>
            <a:gdLst/>
            <a:ahLst/>
            <a:cxnLst/>
            <a:rect l="l" t="t" r="r" b="b"/>
            <a:pathLst>
              <a:path w="1640851" h="2086167">
                <a:moveTo>
                  <a:pt x="0" y="0"/>
                </a:moveTo>
                <a:lnTo>
                  <a:pt x="1640851" y="0"/>
                </a:lnTo>
                <a:lnTo>
                  <a:pt x="1640851" y="2086167"/>
                </a:lnTo>
                <a:lnTo>
                  <a:pt x="0" y="2086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887490"/>
            </a:stretch>
          </a:blipFill>
        </p:spPr>
      </p:sp>
      <p:grpSp>
        <p:nvGrpSpPr>
          <p:cNvPr id="54" name="Group 5">
            <a:extLst>
              <a:ext uri="{FF2B5EF4-FFF2-40B4-BE49-F238E27FC236}">
                <a16:creationId xmlns:a16="http://schemas.microsoft.com/office/drawing/2014/main" id="{FA515407-EEF2-913A-7E6C-80F7F042D963}"/>
              </a:ext>
            </a:extLst>
          </p:cNvPr>
          <p:cNvGrpSpPr/>
          <p:nvPr/>
        </p:nvGrpSpPr>
        <p:grpSpPr>
          <a:xfrm>
            <a:off x="2991307" y="6646389"/>
            <a:ext cx="2999720" cy="2999720"/>
            <a:chOff x="0" y="0"/>
            <a:chExt cx="812800" cy="812800"/>
          </a:xfrm>
        </p:grpSpPr>
        <p:sp>
          <p:nvSpPr>
            <p:cNvPr id="55" name="Freeform 6">
              <a:extLst>
                <a:ext uri="{FF2B5EF4-FFF2-40B4-BE49-F238E27FC236}">
                  <a16:creationId xmlns:a16="http://schemas.microsoft.com/office/drawing/2014/main" id="{493FF95A-6B02-7E16-BA54-B7425E90D33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56" name="TextBox 7">
              <a:extLst>
                <a:ext uri="{FF2B5EF4-FFF2-40B4-BE49-F238E27FC236}">
                  <a16:creationId xmlns:a16="http://schemas.microsoft.com/office/drawing/2014/main" id="{49A3BED1-F2CA-8140-D171-E41F733DD21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marL="0" lvl="0" indent="0" algn="ctr">
                <a:lnSpc>
                  <a:spcPts val="2659"/>
                </a:lnSpc>
              </a:pPr>
              <a:endParaRPr sz="2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7" name="Group 8">
            <a:extLst>
              <a:ext uri="{FF2B5EF4-FFF2-40B4-BE49-F238E27FC236}">
                <a16:creationId xmlns:a16="http://schemas.microsoft.com/office/drawing/2014/main" id="{B545FC36-6982-C979-38F4-862D9D151FE9}"/>
              </a:ext>
            </a:extLst>
          </p:cNvPr>
          <p:cNvGrpSpPr/>
          <p:nvPr/>
        </p:nvGrpSpPr>
        <p:grpSpPr>
          <a:xfrm>
            <a:off x="6090909" y="6646389"/>
            <a:ext cx="2999720" cy="2999720"/>
            <a:chOff x="0" y="0"/>
            <a:chExt cx="812800" cy="812800"/>
          </a:xfrm>
        </p:grpSpPr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0DAB831A-79C6-B3E3-15BE-97012A6BA6B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gradFill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59" name="TextBox 10">
              <a:extLst>
                <a:ext uri="{FF2B5EF4-FFF2-40B4-BE49-F238E27FC236}">
                  <a16:creationId xmlns:a16="http://schemas.microsoft.com/office/drawing/2014/main" id="{BA9E7101-BE2B-F377-44D3-465C7451BD0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marL="0" lvl="0" indent="0" algn="ctr">
                <a:lnSpc>
                  <a:spcPts val="2659"/>
                </a:lnSpc>
              </a:pPr>
              <a:endParaRPr sz="2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0" name="Group 11">
            <a:extLst>
              <a:ext uri="{FF2B5EF4-FFF2-40B4-BE49-F238E27FC236}">
                <a16:creationId xmlns:a16="http://schemas.microsoft.com/office/drawing/2014/main" id="{775354B7-1B52-8C83-1ECA-0E133F24EE6C}"/>
              </a:ext>
            </a:extLst>
          </p:cNvPr>
          <p:cNvGrpSpPr/>
          <p:nvPr/>
        </p:nvGrpSpPr>
        <p:grpSpPr>
          <a:xfrm>
            <a:off x="9190512" y="6646389"/>
            <a:ext cx="2999720" cy="2999720"/>
            <a:chOff x="0" y="0"/>
            <a:chExt cx="812800" cy="812800"/>
          </a:xfrm>
        </p:grpSpPr>
        <p:sp>
          <p:nvSpPr>
            <p:cNvPr id="61" name="Freeform 12">
              <a:extLst>
                <a:ext uri="{FF2B5EF4-FFF2-40B4-BE49-F238E27FC236}">
                  <a16:creationId xmlns:a16="http://schemas.microsoft.com/office/drawing/2014/main" id="{0E1B309A-0162-C08B-5819-2562EED91C1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62" name="TextBox 13">
              <a:extLst>
                <a:ext uri="{FF2B5EF4-FFF2-40B4-BE49-F238E27FC236}">
                  <a16:creationId xmlns:a16="http://schemas.microsoft.com/office/drawing/2014/main" id="{C323BCEB-D2DE-C96F-FBB2-4AF9F679DF5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marL="0" lvl="0" indent="0" algn="ctr">
                <a:lnSpc>
                  <a:spcPts val="2659"/>
                </a:lnSpc>
              </a:pPr>
              <a:endParaRPr sz="2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4" name="TextBox 15">
            <a:extLst>
              <a:ext uri="{FF2B5EF4-FFF2-40B4-BE49-F238E27FC236}">
                <a16:creationId xmlns:a16="http://schemas.microsoft.com/office/drawing/2014/main" id="{8F4004B4-D36E-F285-BBD9-3FD8BBFBF453}"/>
              </a:ext>
            </a:extLst>
          </p:cNvPr>
          <p:cNvSpPr txBox="1"/>
          <p:nvPr/>
        </p:nvSpPr>
        <p:spPr>
          <a:xfrm>
            <a:off x="3215592" y="7434806"/>
            <a:ext cx="2594094" cy="1600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and retrieve the global federated model from Azure.</a:t>
            </a:r>
            <a:endParaRPr lang="en-US" sz="2600" spc="-5" dirty="0">
              <a:solidFill>
                <a:srgbClr val="FFFF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5" name="TextBox 16">
            <a:extLst>
              <a:ext uri="{FF2B5EF4-FFF2-40B4-BE49-F238E27FC236}">
                <a16:creationId xmlns:a16="http://schemas.microsoft.com/office/drawing/2014/main" id="{6CF2A4BF-AA60-E102-2B47-3F0D6B249BC3}"/>
              </a:ext>
            </a:extLst>
          </p:cNvPr>
          <p:cNvSpPr txBox="1"/>
          <p:nvPr/>
        </p:nvSpPr>
        <p:spPr>
          <a:xfrm>
            <a:off x="6187428" y="7385051"/>
            <a:ext cx="2789881" cy="1600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Independently evaluate the downloaded global model.</a:t>
            </a:r>
            <a:endParaRPr lang="en-US" sz="2600" spc="-5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6" name="TextBox 17">
            <a:extLst>
              <a:ext uri="{FF2B5EF4-FFF2-40B4-BE49-F238E27FC236}">
                <a16:creationId xmlns:a16="http://schemas.microsoft.com/office/drawing/2014/main" id="{3596A042-ABD3-4784-4FFD-9E9F46033BDA}"/>
              </a:ext>
            </a:extLst>
          </p:cNvPr>
          <p:cNvSpPr txBox="1"/>
          <p:nvPr/>
        </p:nvSpPr>
        <p:spPr>
          <a:xfrm>
            <a:off x="9312169" y="7409730"/>
            <a:ext cx="2810057" cy="1600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for visualization and live prediction.</a:t>
            </a:r>
            <a:endParaRPr lang="en-US" sz="2600" spc="-5" dirty="0">
              <a:solidFill>
                <a:srgbClr val="FFFF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pSp>
        <p:nvGrpSpPr>
          <p:cNvPr id="50" name="Group 39">
            <a:extLst>
              <a:ext uri="{FF2B5EF4-FFF2-40B4-BE49-F238E27FC236}">
                <a16:creationId xmlns:a16="http://schemas.microsoft.com/office/drawing/2014/main" id="{41EEA97D-AB01-8622-7EF9-EE9EAA37400D}"/>
              </a:ext>
            </a:extLst>
          </p:cNvPr>
          <p:cNvGrpSpPr/>
          <p:nvPr/>
        </p:nvGrpSpPr>
        <p:grpSpPr>
          <a:xfrm>
            <a:off x="12290115" y="6702373"/>
            <a:ext cx="2999720" cy="2999720"/>
            <a:chOff x="0" y="0"/>
            <a:chExt cx="812800" cy="812800"/>
          </a:xfrm>
        </p:grpSpPr>
        <p:sp>
          <p:nvSpPr>
            <p:cNvPr id="51" name="Freeform 40">
              <a:extLst>
                <a:ext uri="{FF2B5EF4-FFF2-40B4-BE49-F238E27FC236}">
                  <a16:creationId xmlns:a16="http://schemas.microsoft.com/office/drawing/2014/main" id="{B1E32FA8-F1EC-614C-4594-83A003E146D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gradFill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52" name="TextBox 41">
              <a:extLst>
                <a:ext uri="{FF2B5EF4-FFF2-40B4-BE49-F238E27FC236}">
                  <a16:creationId xmlns:a16="http://schemas.microsoft.com/office/drawing/2014/main" id="{03294AE4-CB79-7032-8099-A7D9433EBF1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marL="0" lvl="0" indent="0" algn="ctr">
                <a:lnSpc>
                  <a:spcPts val="2659"/>
                </a:lnSpc>
              </a:pPr>
              <a:endParaRPr sz="2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3" name="TextBox 42">
            <a:extLst>
              <a:ext uri="{FF2B5EF4-FFF2-40B4-BE49-F238E27FC236}">
                <a16:creationId xmlns:a16="http://schemas.microsoft.com/office/drawing/2014/main" id="{CC12C827-D4C4-AD9E-883A-7843A2605E75}"/>
              </a:ext>
            </a:extLst>
          </p:cNvPr>
          <p:cNvSpPr txBox="1"/>
          <p:nvPr/>
        </p:nvSpPr>
        <p:spPr>
          <a:xfrm>
            <a:off x="12440993" y="7246710"/>
            <a:ext cx="2697964" cy="20005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privacy preservation by keeping raw client data local. </a:t>
            </a:r>
          </a:p>
        </p:txBody>
      </p:sp>
      <p:grpSp>
        <p:nvGrpSpPr>
          <p:cNvPr id="63" name="Group 43">
            <a:extLst>
              <a:ext uri="{FF2B5EF4-FFF2-40B4-BE49-F238E27FC236}">
                <a16:creationId xmlns:a16="http://schemas.microsoft.com/office/drawing/2014/main" id="{B3F5FD46-FD44-05B8-CA7E-6AB7F1505DA8}"/>
              </a:ext>
            </a:extLst>
          </p:cNvPr>
          <p:cNvGrpSpPr/>
          <p:nvPr/>
        </p:nvGrpSpPr>
        <p:grpSpPr>
          <a:xfrm>
            <a:off x="14176452" y="6547190"/>
            <a:ext cx="746986" cy="747004"/>
            <a:chOff x="0" y="0"/>
            <a:chExt cx="995981" cy="996005"/>
          </a:xfrm>
        </p:grpSpPr>
        <p:grpSp>
          <p:nvGrpSpPr>
            <p:cNvPr id="67" name="Group 44">
              <a:extLst>
                <a:ext uri="{FF2B5EF4-FFF2-40B4-BE49-F238E27FC236}">
                  <a16:creationId xmlns:a16="http://schemas.microsoft.com/office/drawing/2014/main" id="{FCCF8E0B-C5BF-B1BF-6288-36BDD0D4833D}"/>
                </a:ext>
              </a:extLst>
            </p:cNvPr>
            <p:cNvGrpSpPr/>
            <p:nvPr/>
          </p:nvGrpSpPr>
          <p:grpSpPr>
            <a:xfrm>
              <a:off x="0" y="0"/>
              <a:ext cx="995981" cy="996005"/>
              <a:chOff x="0" y="0"/>
              <a:chExt cx="812800" cy="812819"/>
            </a:xfrm>
          </p:grpSpPr>
          <p:sp>
            <p:nvSpPr>
              <p:cNvPr id="69" name="Freeform 45">
                <a:extLst>
                  <a:ext uri="{FF2B5EF4-FFF2-40B4-BE49-F238E27FC236}">
                    <a16:creationId xmlns:a16="http://schemas.microsoft.com/office/drawing/2014/main" id="{6A1BB42D-243F-A216-C1B4-0D682B25047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19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id="70" name="TextBox 46">
                <a:extLst>
                  <a:ext uri="{FF2B5EF4-FFF2-40B4-BE49-F238E27FC236}">
                    <a16:creationId xmlns:a16="http://schemas.microsoft.com/office/drawing/2014/main" id="{4F9246D9-0C36-5458-EC1F-94274B984258}"/>
                  </a:ext>
                </a:extLst>
              </p:cNvPr>
              <p:cNvSpPr txBox="1"/>
              <p:nvPr/>
            </p:nvSpPr>
            <p:spPr>
              <a:xfrm>
                <a:off x="76200" y="38102"/>
                <a:ext cx="660400" cy="6985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 sz="2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8" name="TextBox 47">
              <a:extLst>
                <a:ext uri="{FF2B5EF4-FFF2-40B4-BE49-F238E27FC236}">
                  <a16:creationId xmlns:a16="http://schemas.microsoft.com/office/drawing/2014/main" id="{14221203-5293-B1DA-6E4B-1632BAE9D22F}"/>
                </a:ext>
              </a:extLst>
            </p:cNvPr>
            <p:cNvSpPr txBox="1"/>
            <p:nvPr/>
          </p:nvSpPr>
          <p:spPr>
            <a:xfrm>
              <a:off x="175623" y="235561"/>
              <a:ext cx="644736" cy="4958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0"/>
                </a:lnSpc>
              </a:pPr>
              <a:r>
                <a:rPr lang="en-US" sz="2600" spc="-6" dirty="0">
                  <a:solidFill>
                    <a:srgbClr val="FFFFFF"/>
                  </a:solidFill>
                  <a:latin typeface="Times New Roman" panose="02020603050405020304" pitchFamily="18" charset="0"/>
                  <a:ea typeface="Poppins"/>
                  <a:cs typeface="Times New Roman" panose="02020603050405020304" pitchFamily="18" charset="0"/>
                  <a:sym typeface="Poppins"/>
                </a:rPr>
                <a:t>09</a:t>
              </a:r>
            </a:p>
          </p:txBody>
        </p:sp>
      </p:grpSp>
      <p:grpSp>
        <p:nvGrpSpPr>
          <p:cNvPr id="71" name="Group 18">
            <a:extLst>
              <a:ext uri="{FF2B5EF4-FFF2-40B4-BE49-F238E27FC236}">
                <a16:creationId xmlns:a16="http://schemas.microsoft.com/office/drawing/2014/main" id="{A4B41D77-4BA7-D4F0-33B1-0527FC9635A8}"/>
              </a:ext>
            </a:extLst>
          </p:cNvPr>
          <p:cNvGrpSpPr/>
          <p:nvPr/>
        </p:nvGrpSpPr>
        <p:grpSpPr>
          <a:xfrm>
            <a:off x="8059699" y="6581147"/>
            <a:ext cx="746986" cy="747004"/>
            <a:chOff x="0" y="0"/>
            <a:chExt cx="995981" cy="996005"/>
          </a:xfrm>
        </p:grpSpPr>
        <p:grpSp>
          <p:nvGrpSpPr>
            <p:cNvPr id="72" name="Group 19">
              <a:extLst>
                <a:ext uri="{FF2B5EF4-FFF2-40B4-BE49-F238E27FC236}">
                  <a16:creationId xmlns:a16="http://schemas.microsoft.com/office/drawing/2014/main" id="{F931CE2C-0C63-2CAD-1E9D-AAA77331D360}"/>
                </a:ext>
              </a:extLst>
            </p:cNvPr>
            <p:cNvGrpSpPr/>
            <p:nvPr/>
          </p:nvGrpSpPr>
          <p:grpSpPr>
            <a:xfrm>
              <a:off x="0" y="0"/>
              <a:ext cx="995981" cy="996005"/>
              <a:chOff x="0" y="0"/>
              <a:chExt cx="812800" cy="812819"/>
            </a:xfrm>
          </p:grpSpPr>
          <p:sp>
            <p:nvSpPr>
              <p:cNvPr id="74" name="Freeform 20">
                <a:extLst>
                  <a:ext uri="{FF2B5EF4-FFF2-40B4-BE49-F238E27FC236}">
                    <a16:creationId xmlns:a16="http://schemas.microsoft.com/office/drawing/2014/main" id="{273F61EB-2B85-C71A-641B-F4CECE8EC0C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19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id="75" name="TextBox 21">
                <a:extLst>
                  <a:ext uri="{FF2B5EF4-FFF2-40B4-BE49-F238E27FC236}">
                    <a16:creationId xmlns:a16="http://schemas.microsoft.com/office/drawing/2014/main" id="{B7804A8B-67E7-5943-EFE0-F27F6ACEF43D}"/>
                  </a:ext>
                </a:extLst>
              </p:cNvPr>
              <p:cNvSpPr txBox="1"/>
              <p:nvPr/>
            </p:nvSpPr>
            <p:spPr>
              <a:xfrm>
                <a:off x="76200" y="38102"/>
                <a:ext cx="660400" cy="6985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 sz="2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3" name="TextBox 22">
              <a:extLst>
                <a:ext uri="{FF2B5EF4-FFF2-40B4-BE49-F238E27FC236}">
                  <a16:creationId xmlns:a16="http://schemas.microsoft.com/office/drawing/2014/main" id="{F49812E1-663A-ED40-5B4D-7F5186618C44}"/>
                </a:ext>
              </a:extLst>
            </p:cNvPr>
            <p:cNvSpPr txBox="1"/>
            <p:nvPr/>
          </p:nvSpPr>
          <p:spPr>
            <a:xfrm>
              <a:off x="175623" y="235561"/>
              <a:ext cx="644736" cy="4958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0"/>
                </a:lnSpc>
              </a:pPr>
              <a:r>
                <a:rPr lang="en-US" sz="2600" spc="-6" dirty="0">
                  <a:solidFill>
                    <a:srgbClr val="FFFFFF"/>
                  </a:solidFill>
                  <a:latin typeface="Times New Roman" panose="02020603050405020304" pitchFamily="18" charset="0"/>
                  <a:ea typeface="Poppins"/>
                  <a:cs typeface="Times New Roman" panose="02020603050405020304" pitchFamily="18" charset="0"/>
                  <a:sym typeface="Poppins"/>
                </a:rPr>
                <a:t>07</a:t>
              </a:r>
            </a:p>
          </p:txBody>
        </p:sp>
      </p:grpSp>
      <p:grpSp>
        <p:nvGrpSpPr>
          <p:cNvPr id="77" name="Group 23">
            <a:extLst>
              <a:ext uri="{FF2B5EF4-FFF2-40B4-BE49-F238E27FC236}">
                <a16:creationId xmlns:a16="http://schemas.microsoft.com/office/drawing/2014/main" id="{AF11524B-E247-84DA-A048-122F09EC47D0}"/>
              </a:ext>
            </a:extLst>
          </p:cNvPr>
          <p:cNvGrpSpPr/>
          <p:nvPr/>
        </p:nvGrpSpPr>
        <p:grpSpPr>
          <a:xfrm>
            <a:off x="4871909" y="6547190"/>
            <a:ext cx="746986" cy="747004"/>
            <a:chOff x="0" y="0"/>
            <a:chExt cx="995981" cy="996005"/>
          </a:xfrm>
        </p:grpSpPr>
        <p:grpSp>
          <p:nvGrpSpPr>
            <p:cNvPr id="78" name="Group 24">
              <a:extLst>
                <a:ext uri="{FF2B5EF4-FFF2-40B4-BE49-F238E27FC236}">
                  <a16:creationId xmlns:a16="http://schemas.microsoft.com/office/drawing/2014/main" id="{A968FA34-A58F-B7D5-71FF-11CE9ED90F64}"/>
                </a:ext>
              </a:extLst>
            </p:cNvPr>
            <p:cNvGrpSpPr/>
            <p:nvPr/>
          </p:nvGrpSpPr>
          <p:grpSpPr>
            <a:xfrm>
              <a:off x="0" y="0"/>
              <a:ext cx="995981" cy="996005"/>
              <a:chOff x="0" y="0"/>
              <a:chExt cx="812800" cy="812819"/>
            </a:xfrm>
          </p:grpSpPr>
          <p:sp>
            <p:nvSpPr>
              <p:cNvPr id="80" name="Freeform 25">
                <a:extLst>
                  <a:ext uri="{FF2B5EF4-FFF2-40B4-BE49-F238E27FC236}">
                    <a16:creationId xmlns:a16="http://schemas.microsoft.com/office/drawing/2014/main" id="{2270410B-DD17-EA45-FBB6-AF134CCDB9A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19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sq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prstDash val="solid"/>
                <a:miter/>
              </a:ln>
            </p:spPr>
          </p:sp>
          <p:sp>
            <p:nvSpPr>
              <p:cNvPr id="81" name="TextBox 26">
                <a:extLst>
                  <a:ext uri="{FF2B5EF4-FFF2-40B4-BE49-F238E27FC236}">
                    <a16:creationId xmlns:a16="http://schemas.microsoft.com/office/drawing/2014/main" id="{DE61CECE-B270-AD24-24F9-F6133ADFC21D}"/>
                  </a:ext>
                </a:extLst>
              </p:cNvPr>
              <p:cNvSpPr txBox="1"/>
              <p:nvPr/>
            </p:nvSpPr>
            <p:spPr>
              <a:xfrm>
                <a:off x="76200" y="38102"/>
                <a:ext cx="660400" cy="6985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 sz="2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9" name="TextBox 27">
              <a:extLst>
                <a:ext uri="{FF2B5EF4-FFF2-40B4-BE49-F238E27FC236}">
                  <a16:creationId xmlns:a16="http://schemas.microsoft.com/office/drawing/2014/main" id="{419409B7-371F-A633-3C45-9162E66189A6}"/>
                </a:ext>
              </a:extLst>
            </p:cNvPr>
            <p:cNvSpPr txBox="1"/>
            <p:nvPr/>
          </p:nvSpPr>
          <p:spPr>
            <a:xfrm>
              <a:off x="175623" y="235561"/>
              <a:ext cx="644736" cy="4958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0"/>
                </a:lnSpc>
              </a:pPr>
              <a:r>
                <a:rPr lang="en-US" sz="2600" spc="-6" dirty="0">
                  <a:solidFill>
                    <a:srgbClr val="000000"/>
                  </a:solidFill>
                  <a:latin typeface="Times New Roman" panose="02020603050405020304" pitchFamily="18" charset="0"/>
                  <a:ea typeface="Poppins"/>
                  <a:cs typeface="Times New Roman" panose="02020603050405020304" pitchFamily="18" charset="0"/>
                  <a:sym typeface="Poppins"/>
                </a:rPr>
                <a:t>06</a:t>
              </a:r>
            </a:p>
          </p:txBody>
        </p:sp>
      </p:grpSp>
      <p:grpSp>
        <p:nvGrpSpPr>
          <p:cNvPr id="82" name="Group 23">
            <a:extLst>
              <a:ext uri="{FF2B5EF4-FFF2-40B4-BE49-F238E27FC236}">
                <a16:creationId xmlns:a16="http://schemas.microsoft.com/office/drawing/2014/main" id="{E032D5A7-7C3F-6401-5689-F7BD0942B395}"/>
              </a:ext>
            </a:extLst>
          </p:cNvPr>
          <p:cNvGrpSpPr/>
          <p:nvPr/>
        </p:nvGrpSpPr>
        <p:grpSpPr>
          <a:xfrm>
            <a:off x="11059419" y="6547190"/>
            <a:ext cx="746986" cy="747004"/>
            <a:chOff x="0" y="0"/>
            <a:chExt cx="995981" cy="996005"/>
          </a:xfrm>
        </p:grpSpPr>
        <p:grpSp>
          <p:nvGrpSpPr>
            <p:cNvPr id="83" name="Group 24">
              <a:extLst>
                <a:ext uri="{FF2B5EF4-FFF2-40B4-BE49-F238E27FC236}">
                  <a16:creationId xmlns:a16="http://schemas.microsoft.com/office/drawing/2014/main" id="{B654FFC3-009C-7D99-1737-AC4058E3412E}"/>
                </a:ext>
              </a:extLst>
            </p:cNvPr>
            <p:cNvGrpSpPr/>
            <p:nvPr/>
          </p:nvGrpSpPr>
          <p:grpSpPr>
            <a:xfrm>
              <a:off x="0" y="0"/>
              <a:ext cx="995981" cy="996005"/>
              <a:chOff x="0" y="0"/>
              <a:chExt cx="812800" cy="812819"/>
            </a:xfrm>
          </p:grpSpPr>
          <p:sp>
            <p:nvSpPr>
              <p:cNvPr id="85" name="Freeform 25">
                <a:extLst>
                  <a:ext uri="{FF2B5EF4-FFF2-40B4-BE49-F238E27FC236}">
                    <a16:creationId xmlns:a16="http://schemas.microsoft.com/office/drawing/2014/main" id="{20DA5131-3501-BAE2-46A7-D9DEBAED46F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19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sq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prstDash val="solid"/>
                <a:miter/>
              </a:ln>
            </p:spPr>
          </p:sp>
          <p:sp>
            <p:nvSpPr>
              <p:cNvPr id="86" name="TextBox 26">
                <a:extLst>
                  <a:ext uri="{FF2B5EF4-FFF2-40B4-BE49-F238E27FC236}">
                    <a16:creationId xmlns:a16="http://schemas.microsoft.com/office/drawing/2014/main" id="{CE6C48D4-833D-3582-EBDE-3C4C1C0F63CD}"/>
                  </a:ext>
                </a:extLst>
              </p:cNvPr>
              <p:cNvSpPr txBox="1"/>
              <p:nvPr/>
            </p:nvSpPr>
            <p:spPr>
              <a:xfrm>
                <a:off x="76200" y="38102"/>
                <a:ext cx="660400" cy="6985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 sz="2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4" name="TextBox 27">
              <a:extLst>
                <a:ext uri="{FF2B5EF4-FFF2-40B4-BE49-F238E27FC236}">
                  <a16:creationId xmlns:a16="http://schemas.microsoft.com/office/drawing/2014/main" id="{782888C5-096A-C1EA-ADC2-5E7CACF3BAE9}"/>
                </a:ext>
              </a:extLst>
            </p:cNvPr>
            <p:cNvSpPr txBox="1"/>
            <p:nvPr/>
          </p:nvSpPr>
          <p:spPr>
            <a:xfrm>
              <a:off x="175623" y="235561"/>
              <a:ext cx="644736" cy="4958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0"/>
                </a:lnSpc>
              </a:pPr>
              <a:r>
                <a:rPr lang="en-US" sz="2600" spc="-6" dirty="0">
                  <a:solidFill>
                    <a:srgbClr val="000000"/>
                  </a:solidFill>
                  <a:latin typeface="Times New Roman" panose="02020603050405020304" pitchFamily="18" charset="0"/>
                  <a:ea typeface="Poppins"/>
                  <a:cs typeface="Times New Roman" panose="02020603050405020304" pitchFamily="18" charset="0"/>
                  <a:sym typeface="Poppins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ED934355-3BE3-D461-ED71-C2CB6D47CFC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noFill/>
          <a:ln w="9525" cap="flat">
            <a:solidFill>
              <a:srgbClr val="FFFFFF"/>
            </a:solidFill>
            <a:prstDash val="solid"/>
            <a:miter/>
          </a:ln>
        </p:spPr>
      </p:sp>
      <p:grpSp>
        <p:nvGrpSpPr>
          <p:cNvPr id="34" name="Graphic 26">
            <a:extLst>
              <a:ext uri="{FF2B5EF4-FFF2-40B4-BE49-F238E27FC236}">
                <a16:creationId xmlns:a16="http://schemas.microsoft.com/office/drawing/2014/main" id="{A220FF7A-433E-FD99-C7FB-FBDFC197D887}"/>
              </a:ext>
            </a:extLst>
          </p:cNvPr>
          <p:cNvGrpSpPr/>
          <p:nvPr/>
        </p:nvGrpSpPr>
        <p:grpSpPr>
          <a:xfrm>
            <a:off x="561242" y="1679606"/>
            <a:ext cx="8234768" cy="8131143"/>
            <a:chOff x="571500" y="1047750"/>
            <a:chExt cx="8572500" cy="8763000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F623919-5F56-2D44-2545-317A348AC3EF}"/>
                </a:ext>
              </a:extLst>
            </p:cNvPr>
            <p:cNvSpPr/>
            <p:nvPr/>
          </p:nvSpPr>
          <p:spPr>
            <a:xfrm>
              <a:off x="571500" y="1047750"/>
              <a:ext cx="8572500" cy="8763000"/>
            </a:xfrm>
            <a:prstGeom prst="roundRect">
              <a:avLst>
                <a:gd name="adj" fmla="val 1555"/>
              </a:avLst>
            </a:prstGeom>
            <a:solidFill>
              <a:srgbClr val="0D1117"/>
            </a:solidFill>
            <a:ln w="19050" cap="flat">
              <a:solidFill>
                <a:srgbClr val="30363D"/>
              </a:solidFill>
              <a:prstDash val="solid"/>
              <a:miter/>
            </a:ln>
          </p:spPr>
        </p:sp>
        <p:grpSp>
          <p:nvGrpSpPr>
            <p:cNvPr id="36" name="Graphic 26">
              <a:extLst>
                <a:ext uri="{FF2B5EF4-FFF2-40B4-BE49-F238E27FC236}">
                  <a16:creationId xmlns:a16="http://schemas.microsoft.com/office/drawing/2014/main" id="{C041CB21-7160-7158-9936-688CC8BF58B8}"/>
                </a:ext>
              </a:extLst>
            </p:cNvPr>
            <p:cNvGrpSpPr/>
            <p:nvPr/>
          </p:nvGrpSpPr>
          <p:grpSpPr>
            <a:xfrm>
              <a:off x="952500" y="1322135"/>
              <a:ext cx="7810500" cy="1285875"/>
              <a:chOff x="952500" y="1322135"/>
              <a:chExt cx="7810500" cy="1285875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4DC611BA-FB32-1A0A-3A1B-74F866578F2D}"/>
                  </a:ext>
                </a:extLst>
              </p:cNvPr>
              <p:cNvSpPr/>
              <p:nvPr/>
            </p:nvSpPr>
            <p:spPr>
              <a:xfrm>
                <a:off x="952500" y="1322135"/>
                <a:ext cx="7810500" cy="1285875"/>
              </a:xfrm>
              <a:prstGeom prst="roundRect">
                <a:avLst>
                  <a:gd name="adj" fmla="val 5925"/>
                </a:avLst>
              </a:prstGeom>
              <a:gradFill>
                <a:gsLst>
                  <a:gs pos="0">
                    <a:srgbClr val="1F2937">
                      <a:alpha val="89804"/>
                    </a:srgbClr>
                  </a:gs>
                  <a:gs pos="50000">
                    <a:srgbClr val="18202F">
                      <a:alpha val="92157"/>
                    </a:srgbClr>
                  </a:gs>
                  <a:gs pos="100000">
                    <a:srgbClr val="111827">
                      <a:alpha val="94902"/>
                    </a:srgbClr>
                  </a:gs>
                </a:gsLst>
                <a:lin ang="5400000" scaled="1"/>
              </a:gradFill>
              <a:ln w="19050" cap="flat">
                <a:solidFill>
                  <a:srgbClr val="3B82F6"/>
                </a:solidFill>
                <a:prstDash val="solid"/>
                <a:miter/>
              </a:ln>
            </p:spPr>
            <p:txBody>
              <a:bodyPr/>
              <a:lstStyle/>
              <a:p>
                <a:pPr algn="ctr"/>
                <a:endParaRPr lang="en-IN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1A96B89-BE89-B877-2B3E-F884ACA7EF38}"/>
                  </a:ext>
                </a:extLst>
              </p:cNvPr>
              <p:cNvSpPr txBox="1"/>
              <p:nvPr/>
            </p:nvSpPr>
            <p:spPr>
              <a:xfrm>
                <a:off x="4130054" y="1348939"/>
                <a:ext cx="1598994" cy="2985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200" b="1" spc="150" baseline="0">
                    <a:ln/>
                    <a:solidFill>
                      <a:srgbClr val="60A5F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/>
                    <a:rtl val="0"/>
                  </a:rPr>
                  <a:t>CLIENT LAYER</a:t>
                </a:r>
              </a:p>
            </p:txBody>
          </p:sp>
          <p:grpSp>
            <p:nvGrpSpPr>
              <p:cNvPr id="39" name="Graphic 26">
                <a:extLst>
                  <a:ext uri="{FF2B5EF4-FFF2-40B4-BE49-F238E27FC236}">
                    <a16:creationId xmlns:a16="http://schemas.microsoft.com/office/drawing/2014/main" id="{7788C88C-2E9F-D604-C3B3-5A59C998F8E5}"/>
                  </a:ext>
                </a:extLst>
              </p:cNvPr>
              <p:cNvGrpSpPr/>
              <p:nvPr/>
            </p:nvGrpSpPr>
            <p:grpSpPr>
              <a:xfrm>
                <a:off x="1333500" y="1666875"/>
                <a:ext cx="3333750" cy="720831"/>
                <a:chOff x="1333500" y="1666875"/>
                <a:chExt cx="3333750" cy="720831"/>
              </a:xfrm>
            </p:grpSpPr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C070C0B1-E6EC-F9C5-5210-BA2234F1A4D1}"/>
                    </a:ext>
                  </a:extLst>
                </p:cNvPr>
                <p:cNvSpPr/>
                <p:nvPr/>
              </p:nvSpPr>
              <p:spPr>
                <a:xfrm>
                  <a:off x="1333500" y="1666875"/>
                  <a:ext cx="3333750" cy="714375"/>
                </a:xfrm>
                <a:prstGeom prst="roundRect">
                  <a:avLst>
                    <a:gd name="adj" fmla="val 8000"/>
                  </a:avLst>
                </a:prstGeom>
                <a:solidFill>
                  <a:srgbClr val="111827"/>
                </a:solidFill>
                <a:ln w="9525" cap="flat">
                  <a:solidFill>
                    <a:srgbClr val="374151"/>
                  </a:solidFill>
                  <a:prstDash val="solid"/>
                  <a:miter/>
                </a:ln>
              </p:spPr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787E2E4E-EAF6-7D68-A446-3357A20FF8D4}"/>
                    </a:ext>
                  </a:extLst>
                </p:cNvPr>
                <p:cNvSpPr txBox="1"/>
                <p:nvPr/>
              </p:nvSpPr>
              <p:spPr>
                <a:xfrm>
                  <a:off x="2482724" y="1705856"/>
                  <a:ext cx="1031620" cy="2985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N" sz="1200" b="1" spc="0" baseline="0" dirty="0">
                      <a:ln/>
                      <a:solidFill>
                        <a:srgbClr val="F3F4F6"/>
                      </a:solidFill>
                      <a:latin typeface="Arial" panose="020B0604020202020204" pitchFamily="34" charset="0"/>
                      <a:ea typeface="Segoe UI Emoji"/>
                      <a:cs typeface="Arial" panose="020B0604020202020204" pitchFamily="34" charset="0"/>
                      <a:sym typeface="Segoe UI Emoji"/>
                      <a:rtl val="0"/>
                    </a:rPr>
                    <a:t>🟦</a:t>
                  </a:r>
                  <a:r>
                    <a:rPr lang="en-IN" sz="1200" b="1" spc="0" baseline="0" dirty="0">
                      <a:ln/>
                      <a:solidFill>
                        <a:srgbClr val="F3F4F6"/>
                      </a:solidFill>
                      <a:latin typeface="Arial" panose="020B0604020202020204" pitchFamily="34" charset="0"/>
                      <a:ea typeface="Segoe UI Emoji"/>
                      <a:cs typeface="Arial" panose="020B0604020202020204" pitchFamily="34" charset="0"/>
                      <a:sym typeface="Arial"/>
                      <a:rtl val="0"/>
                    </a:rPr>
                    <a:t> Client 1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0A216165-325F-A45C-2A3A-3D8A9376EC67}"/>
                    </a:ext>
                  </a:extLst>
                </p:cNvPr>
                <p:cNvSpPr txBox="1"/>
                <p:nvPr/>
              </p:nvSpPr>
              <p:spPr>
                <a:xfrm>
                  <a:off x="2109437" y="1936782"/>
                  <a:ext cx="1794238" cy="2985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N" sz="1200" spc="0" baseline="0">
                      <a:ln/>
                      <a:solidFill>
                        <a:srgbClr val="9CA3AF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/>
                      <a:rtl val="0"/>
                    </a:rPr>
                    <a:t>Local Dataset (N=227)</a:t>
                  </a: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F76961AA-7450-BBB3-398B-C6EA7400C1F2}"/>
                    </a:ext>
                  </a:extLst>
                </p:cNvPr>
                <p:cNvSpPr txBox="1"/>
                <p:nvPr/>
              </p:nvSpPr>
              <p:spPr>
                <a:xfrm>
                  <a:off x="2410982" y="2089182"/>
                  <a:ext cx="1193489" cy="2985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N" sz="1200" spc="0" baseline="0">
                      <a:ln/>
                      <a:solidFill>
                        <a:srgbClr val="9CA3AF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/>
                      <a:rtl val="0"/>
                    </a:rPr>
                    <a:t>Local Training</a:t>
                  </a:r>
                </a:p>
              </p:txBody>
            </p:sp>
          </p:grpSp>
          <p:grpSp>
            <p:nvGrpSpPr>
              <p:cNvPr id="44" name="Graphic 26">
                <a:extLst>
                  <a:ext uri="{FF2B5EF4-FFF2-40B4-BE49-F238E27FC236}">
                    <a16:creationId xmlns:a16="http://schemas.microsoft.com/office/drawing/2014/main" id="{F7A96F60-F404-EE70-E1F5-5C285AC07F4A}"/>
                  </a:ext>
                </a:extLst>
              </p:cNvPr>
              <p:cNvGrpSpPr/>
              <p:nvPr/>
            </p:nvGrpSpPr>
            <p:grpSpPr>
              <a:xfrm>
                <a:off x="5048250" y="1666875"/>
                <a:ext cx="3333750" cy="720831"/>
                <a:chOff x="5048250" y="1666875"/>
                <a:chExt cx="3333750" cy="720831"/>
              </a:xfrm>
            </p:grpSpPr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E7198A4A-8FE5-64DE-3EDB-31B6CF341631}"/>
                    </a:ext>
                  </a:extLst>
                </p:cNvPr>
                <p:cNvSpPr/>
                <p:nvPr/>
              </p:nvSpPr>
              <p:spPr>
                <a:xfrm>
                  <a:off x="5048250" y="1666875"/>
                  <a:ext cx="3333750" cy="714375"/>
                </a:xfrm>
                <a:prstGeom prst="roundRect">
                  <a:avLst>
                    <a:gd name="adj" fmla="val 8000"/>
                  </a:avLst>
                </a:prstGeom>
                <a:solidFill>
                  <a:srgbClr val="111827"/>
                </a:solidFill>
                <a:ln w="9525" cap="flat">
                  <a:solidFill>
                    <a:srgbClr val="374151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pPr algn="ctr"/>
                  <a:endParaRPr lang="en-IN" sz="12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DBAB553F-70D5-31E6-5FA0-83180CC0E4D3}"/>
                    </a:ext>
                  </a:extLst>
                </p:cNvPr>
                <p:cNvSpPr txBox="1"/>
                <p:nvPr/>
              </p:nvSpPr>
              <p:spPr>
                <a:xfrm>
                  <a:off x="6197474" y="1705856"/>
                  <a:ext cx="1031620" cy="2985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N" sz="1200" b="1" spc="0" baseline="0" dirty="0">
                      <a:ln/>
                      <a:solidFill>
                        <a:srgbClr val="F3F4F6"/>
                      </a:solidFill>
                      <a:latin typeface="Arial" panose="020B0604020202020204" pitchFamily="34" charset="0"/>
                      <a:ea typeface="Segoe UI Emoji"/>
                      <a:cs typeface="Arial" panose="020B0604020202020204" pitchFamily="34" charset="0"/>
                      <a:sym typeface="Segoe UI Emoji"/>
                      <a:rtl val="0"/>
                    </a:rPr>
                    <a:t>🟦</a:t>
                  </a:r>
                  <a:r>
                    <a:rPr lang="en-IN" sz="1200" b="1" spc="0" baseline="0" dirty="0">
                      <a:ln/>
                      <a:solidFill>
                        <a:srgbClr val="F3F4F6"/>
                      </a:solidFill>
                      <a:latin typeface="Arial" panose="020B0604020202020204" pitchFamily="34" charset="0"/>
                      <a:ea typeface="Segoe UI Emoji"/>
                      <a:cs typeface="Arial" panose="020B0604020202020204" pitchFamily="34" charset="0"/>
                      <a:sym typeface="Arial"/>
                      <a:rtl val="0"/>
                    </a:rPr>
                    <a:t> Client 2</a:t>
                  </a: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9EE035B-F264-C514-05CF-196FB3DB3DA7}"/>
                    </a:ext>
                  </a:extLst>
                </p:cNvPr>
                <p:cNvSpPr txBox="1"/>
                <p:nvPr/>
              </p:nvSpPr>
              <p:spPr>
                <a:xfrm>
                  <a:off x="5824187" y="1936782"/>
                  <a:ext cx="1794238" cy="2985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N" sz="1200" spc="0" baseline="0" dirty="0">
                      <a:ln/>
                      <a:solidFill>
                        <a:srgbClr val="9CA3AF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/>
                      <a:rtl val="0"/>
                    </a:rPr>
                    <a:t>Local Dataset (N=228)</a:t>
                  </a: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DC57915-D496-B229-A590-ED7BE1DC765C}"/>
                    </a:ext>
                  </a:extLst>
                </p:cNvPr>
                <p:cNvSpPr txBox="1"/>
                <p:nvPr/>
              </p:nvSpPr>
              <p:spPr>
                <a:xfrm>
                  <a:off x="6125732" y="2089182"/>
                  <a:ext cx="1193489" cy="2985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N" sz="1200" spc="0" baseline="0">
                      <a:ln/>
                      <a:solidFill>
                        <a:srgbClr val="9CA3AF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/>
                      <a:rtl val="0"/>
                    </a:rPr>
                    <a:t>Local Training</a:t>
                  </a:r>
                </a:p>
              </p:txBody>
            </p:sp>
          </p:grpSp>
        </p:grpSp>
        <p:grpSp>
          <p:nvGrpSpPr>
            <p:cNvPr id="49" name="Graphic 26">
              <a:extLst>
                <a:ext uri="{FF2B5EF4-FFF2-40B4-BE49-F238E27FC236}">
                  <a16:creationId xmlns:a16="http://schemas.microsoft.com/office/drawing/2014/main" id="{93F92563-8819-914B-D474-7124A06DA6EF}"/>
                </a:ext>
              </a:extLst>
            </p:cNvPr>
            <p:cNvGrpSpPr/>
            <p:nvPr/>
          </p:nvGrpSpPr>
          <p:grpSpPr>
            <a:xfrm>
              <a:off x="4810125" y="2571750"/>
              <a:ext cx="1260070" cy="315283"/>
              <a:chOff x="4810125" y="2571750"/>
              <a:chExt cx="1260070" cy="315283"/>
            </a:xfrm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794E8BC-276C-30C6-50B5-79B0AD827FC4}"/>
                  </a:ext>
                </a:extLst>
              </p:cNvPr>
              <p:cNvSpPr/>
              <p:nvPr/>
            </p:nvSpPr>
            <p:spPr>
              <a:xfrm>
                <a:off x="4857750" y="2571750"/>
                <a:ext cx="9525" cy="285750"/>
              </a:xfrm>
              <a:custGeom>
                <a:avLst/>
                <a:gdLst>
                  <a:gd name="csX0" fmla="*/ 510 w 9525"/>
                  <a:gd name="csY0" fmla="*/ 270 h 285750"/>
                  <a:gd name="csX1" fmla="*/ 510 w 9525"/>
                  <a:gd name="csY1" fmla="*/ 286020 h 2857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25" h="285750">
                    <a:moveTo>
                      <a:pt x="510" y="270"/>
                    </a:moveTo>
                    <a:lnTo>
                      <a:pt x="510" y="286020"/>
                    </a:lnTo>
                  </a:path>
                </a:pathLst>
              </a:custGeom>
              <a:ln w="23813" cap="flat">
                <a:solidFill>
                  <a:srgbClr val="3B82F6"/>
                </a:solidFill>
                <a:custDash>
                  <a:ds d="375000" sp="300000"/>
                </a:custDash>
                <a:miter/>
              </a:ln>
            </p:spPr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2B81CA30-D198-12E5-B00B-3CDA03FA41DE}"/>
                  </a:ext>
                </a:extLst>
              </p:cNvPr>
              <p:cNvSpPr/>
              <p:nvPr/>
            </p:nvSpPr>
            <p:spPr>
              <a:xfrm>
                <a:off x="4810125" y="2809875"/>
                <a:ext cx="95250" cy="76200"/>
              </a:xfrm>
              <a:custGeom>
                <a:avLst/>
                <a:gdLst>
                  <a:gd name="csX0" fmla="*/ 510 w 95250"/>
                  <a:gd name="csY0" fmla="*/ 270 h 76200"/>
                  <a:gd name="csX1" fmla="*/ 48135 w 95250"/>
                  <a:gd name="csY1" fmla="*/ 76470 h 76200"/>
                  <a:gd name="csX2" fmla="*/ 95760 w 95250"/>
                  <a:gd name="csY2" fmla="*/ 27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5250" h="76200">
                    <a:moveTo>
                      <a:pt x="510" y="270"/>
                    </a:moveTo>
                    <a:lnTo>
                      <a:pt x="48135" y="76470"/>
                    </a:lnTo>
                    <a:lnTo>
                      <a:pt x="95760" y="270"/>
                    </a:lnTo>
                    <a:close/>
                  </a:path>
                </a:pathLst>
              </a:custGeom>
              <a:solidFill>
                <a:srgbClr val="3B82F6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20CA94C-6EBD-8666-D474-BFA666FEF602}"/>
                  </a:ext>
                </a:extLst>
              </p:cNvPr>
              <p:cNvSpPr/>
              <p:nvPr/>
            </p:nvSpPr>
            <p:spPr>
              <a:xfrm>
                <a:off x="5000625" y="2628900"/>
                <a:ext cx="1000125" cy="190500"/>
              </a:xfrm>
              <a:prstGeom prst="roundRect">
                <a:avLst>
                  <a:gd name="adj" fmla="val 20000"/>
                </a:avLst>
              </a:prstGeom>
              <a:solidFill>
                <a:srgbClr val="1E293B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CA445E3-40CF-831D-BACF-F101C8C1E183}"/>
                  </a:ext>
                </a:extLst>
              </p:cNvPr>
              <p:cNvSpPr txBox="1"/>
              <p:nvPr/>
            </p:nvSpPr>
            <p:spPr>
              <a:xfrm>
                <a:off x="4930107" y="2621679"/>
                <a:ext cx="1140088" cy="2653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000" b="1" spc="0" baseline="0" dirty="0">
                    <a:ln/>
                    <a:solidFill>
                      <a:srgbClr val="93C5FD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/>
                    <a:rtl val="0"/>
                  </a:rPr>
                  <a:t>Model Updates</a:t>
                </a:r>
              </a:p>
            </p:txBody>
          </p:sp>
        </p:grpSp>
        <p:grpSp>
          <p:nvGrpSpPr>
            <p:cNvPr id="54" name="Graphic 26">
              <a:extLst>
                <a:ext uri="{FF2B5EF4-FFF2-40B4-BE49-F238E27FC236}">
                  <a16:creationId xmlns:a16="http://schemas.microsoft.com/office/drawing/2014/main" id="{93C08FCC-560F-6363-8711-C7F70E3441CA}"/>
                </a:ext>
              </a:extLst>
            </p:cNvPr>
            <p:cNvGrpSpPr/>
            <p:nvPr/>
          </p:nvGrpSpPr>
          <p:grpSpPr>
            <a:xfrm>
              <a:off x="952500" y="2905125"/>
              <a:ext cx="7810500" cy="1143000"/>
              <a:chOff x="952500" y="2905125"/>
              <a:chExt cx="7810500" cy="1143000"/>
            </a:xfrm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3AC83122-8069-A233-94B8-8CE0D95D8CE4}"/>
                  </a:ext>
                </a:extLst>
              </p:cNvPr>
              <p:cNvSpPr/>
              <p:nvPr/>
            </p:nvSpPr>
            <p:spPr>
              <a:xfrm>
                <a:off x="952500" y="2905125"/>
                <a:ext cx="7810500" cy="1143000"/>
              </a:xfrm>
              <a:prstGeom prst="roundRect">
                <a:avLst>
                  <a:gd name="adj" fmla="val 6666"/>
                </a:avLst>
              </a:prstGeom>
              <a:gradFill>
                <a:gsLst>
                  <a:gs pos="0">
                    <a:srgbClr val="1F2937">
                      <a:alpha val="89804"/>
                    </a:srgbClr>
                  </a:gs>
                  <a:gs pos="50000">
                    <a:srgbClr val="18202F">
                      <a:alpha val="92157"/>
                    </a:srgbClr>
                  </a:gs>
                  <a:gs pos="100000">
                    <a:srgbClr val="111827">
                      <a:alpha val="94902"/>
                    </a:srgbClr>
                  </a:gs>
                </a:gsLst>
                <a:lin ang="5400000" scaled="1"/>
              </a:gradFill>
              <a:ln w="19050" cap="flat">
                <a:solidFill>
                  <a:srgbClr val="8B5CF6"/>
                </a:solidFill>
                <a:prstDash val="solid"/>
                <a:miter/>
              </a:ln>
            </p:spPr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44C8473-6918-8304-A753-0DEF3C31E529}"/>
                  </a:ext>
                </a:extLst>
              </p:cNvPr>
              <p:cNvSpPr txBox="1"/>
              <p:nvPr/>
            </p:nvSpPr>
            <p:spPr>
              <a:xfrm>
                <a:off x="3903013" y="2968189"/>
                <a:ext cx="2057899" cy="2985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200" b="1" spc="150" baseline="0">
                    <a:ln/>
                    <a:solidFill>
                      <a:srgbClr val="C084FC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/>
                    <a:rtl val="0"/>
                  </a:rPr>
                  <a:t>FEDERATED LAYER</a:t>
                </a:r>
              </a:p>
            </p:txBody>
          </p:sp>
          <p:grpSp>
            <p:nvGrpSpPr>
              <p:cNvPr id="57" name="Graphic 26">
                <a:extLst>
                  <a:ext uri="{FF2B5EF4-FFF2-40B4-BE49-F238E27FC236}">
                    <a16:creationId xmlns:a16="http://schemas.microsoft.com/office/drawing/2014/main" id="{22CF4B40-DEB8-03B0-9105-36EDB5CF9199}"/>
                  </a:ext>
                </a:extLst>
              </p:cNvPr>
              <p:cNvGrpSpPr/>
              <p:nvPr/>
            </p:nvGrpSpPr>
            <p:grpSpPr>
              <a:xfrm>
                <a:off x="1333500" y="3286125"/>
                <a:ext cx="7048500" cy="619125"/>
                <a:chOff x="1333500" y="3286125"/>
                <a:chExt cx="7048500" cy="619125"/>
              </a:xfrm>
            </p:grpSpPr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0459917B-9B02-7AB8-11D0-76D86AB557CD}"/>
                    </a:ext>
                  </a:extLst>
                </p:cNvPr>
                <p:cNvSpPr/>
                <p:nvPr/>
              </p:nvSpPr>
              <p:spPr>
                <a:xfrm>
                  <a:off x="1333500" y="3286125"/>
                  <a:ext cx="7048500" cy="619125"/>
                </a:xfrm>
                <a:prstGeom prst="roundRect">
                  <a:avLst>
                    <a:gd name="adj" fmla="val 9230"/>
                  </a:avLst>
                </a:prstGeom>
                <a:solidFill>
                  <a:srgbClr val="111827"/>
                </a:solidFill>
                <a:ln w="9525" cap="flat">
                  <a:solidFill>
                    <a:srgbClr val="374151"/>
                  </a:solidFill>
                  <a:prstDash val="solid"/>
                  <a:miter/>
                </a:ln>
              </p:spPr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B130BA67-EA4C-F8DF-FA52-45EFEE5FAFDF}"/>
                    </a:ext>
                  </a:extLst>
                </p:cNvPr>
                <p:cNvSpPr txBox="1"/>
                <p:nvPr/>
              </p:nvSpPr>
              <p:spPr>
                <a:xfrm>
                  <a:off x="3977673" y="3314828"/>
                  <a:ext cx="1757524" cy="2985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N" sz="1200" b="1" spc="0" baseline="0">
                      <a:ln/>
                      <a:solidFill>
                        <a:srgbClr val="F3F4F6"/>
                      </a:solidFill>
                      <a:latin typeface="Arial" panose="020B0604020202020204" pitchFamily="34" charset="0"/>
                      <a:ea typeface="Segoe UI Emoji"/>
                      <a:cs typeface="Arial" panose="020B0604020202020204" pitchFamily="34" charset="0"/>
                      <a:sym typeface="Segoe UI Emoji"/>
                      <a:rtl val="0"/>
                    </a:rPr>
                    <a:t>⚙️</a:t>
                  </a:r>
                  <a:r>
                    <a:rPr lang="en-IN" sz="1200" b="1" spc="0" baseline="0">
                      <a:ln/>
                      <a:solidFill>
                        <a:srgbClr val="F3F4F6"/>
                      </a:solidFill>
                      <a:latin typeface="Arial" panose="020B0604020202020204" pitchFamily="34" charset="0"/>
                      <a:ea typeface="Segoe UI Emoji"/>
                      <a:cs typeface="Arial" panose="020B0604020202020204" pitchFamily="34" charset="0"/>
                      <a:sym typeface="Arial"/>
                      <a:rtl val="0"/>
                    </a:rPr>
                    <a:t> Federated Server</a:t>
                  </a:r>
                </a:p>
              </p:txBody>
            </p: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2A88E8C1-F614-AF8F-B117-92F75DF88C88}"/>
                    </a:ext>
                  </a:extLst>
                </p:cNvPr>
                <p:cNvSpPr txBox="1"/>
                <p:nvPr/>
              </p:nvSpPr>
              <p:spPr>
                <a:xfrm>
                  <a:off x="2638678" y="3566460"/>
                  <a:ext cx="4487594" cy="2985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N" sz="1200" b="1" spc="0" baseline="0">
                      <a:ln/>
                      <a:solidFill>
                        <a:srgbClr val="D8B4FE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/>
                      <a:rtl val="0"/>
                    </a:rPr>
                    <a:t>Flower Framework • FedAvg • Global Model Aggregation</a:t>
                  </a:r>
                </a:p>
              </p:txBody>
            </p:sp>
          </p:grpSp>
        </p:grpSp>
        <p:grpSp>
          <p:nvGrpSpPr>
            <p:cNvPr id="61" name="Graphic 26">
              <a:extLst>
                <a:ext uri="{FF2B5EF4-FFF2-40B4-BE49-F238E27FC236}">
                  <a16:creationId xmlns:a16="http://schemas.microsoft.com/office/drawing/2014/main" id="{C46A4B7F-0A22-1209-3C03-041F2D056A6B}"/>
                </a:ext>
              </a:extLst>
            </p:cNvPr>
            <p:cNvGrpSpPr/>
            <p:nvPr/>
          </p:nvGrpSpPr>
          <p:grpSpPr>
            <a:xfrm>
              <a:off x="4810125" y="4048125"/>
              <a:ext cx="1154548" cy="315283"/>
              <a:chOff x="4810125" y="4048125"/>
              <a:chExt cx="1154548" cy="315283"/>
            </a:xfrm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32BAA79C-A744-D330-C85B-EA87AF5E87AA}"/>
                  </a:ext>
                </a:extLst>
              </p:cNvPr>
              <p:cNvSpPr/>
              <p:nvPr/>
            </p:nvSpPr>
            <p:spPr>
              <a:xfrm>
                <a:off x="4857750" y="4048125"/>
                <a:ext cx="9525" cy="285750"/>
              </a:xfrm>
              <a:custGeom>
                <a:avLst/>
                <a:gdLst>
                  <a:gd name="csX0" fmla="*/ 510 w 9525"/>
                  <a:gd name="csY0" fmla="*/ 425 h 285750"/>
                  <a:gd name="csX1" fmla="*/ 510 w 9525"/>
                  <a:gd name="csY1" fmla="*/ 286175 h 2857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25" h="285750">
                    <a:moveTo>
                      <a:pt x="510" y="425"/>
                    </a:moveTo>
                    <a:lnTo>
                      <a:pt x="510" y="286175"/>
                    </a:lnTo>
                  </a:path>
                </a:pathLst>
              </a:custGeom>
              <a:ln w="23813" cap="flat">
                <a:solidFill>
                  <a:srgbClr val="8B5CF6"/>
                </a:solidFill>
                <a:custDash>
                  <a:ds d="375000" sp="300000"/>
                </a:custDash>
                <a:miter/>
              </a:ln>
            </p:spPr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14F9C26C-1BCD-629A-EC78-7A50E57B9CA0}"/>
                  </a:ext>
                </a:extLst>
              </p:cNvPr>
              <p:cNvSpPr/>
              <p:nvPr/>
            </p:nvSpPr>
            <p:spPr>
              <a:xfrm>
                <a:off x="4810125" y="4286250"/>
                <a:ext cx="95250" cy="76200"/>
              </a:xfrm>
              <a:custGeom>
                <a:avLst/>
                <a:gdLst>
                  <a:gd name="csX0" fmla="*/ 510 w 95250"/>
                  <a:gd name="csY0" fmla="*/ 425 h 76200"/>
                  <a:gd name="csX1" fmla="*/ 48135 w 95250"/>
                  <a:gd name="csY1" fmla="*/ 76625 h 76200"/>
                  <a:gd name="csX2" fmla="*/ 95760 w 95250"/>
                  <a:gd name="csY2" fmla="*/ 425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5250" h="76200">
                    <a:moveTo>
                      <a:pt x="510" y="425"/>
                    </a:moveTo>
                    <a:lnTo>
                      <a:pt x="48135" y="76625"/>
                    </a:lnTo>
                    <a:lnTo>
                      <a:pt x="95760" y="425"/>
                    </a:lnTo>
                    <a:close/>
                  </a:path>
                </a:pathLst>
              </a:custGeom>
              <a:solidFill>
                <a:srgbClr val="8B5CF6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7643A486-0334-896C-1C88-0512833792D7}"/>
                  </a:ext>
                </a:extLst>
              </p:cNvPr>
              <p:cNvSpPr/>
              <p:nvPr/>
            </p:nvSpPr>
            <p:spPr>
              <a:xfrm>
                <a:off x="5000625" y="4105275"/>
                <a:ext cx="904875" cy="190500"/>
              </a:xfrm>
              <a:prstGeom prst="roundRect">
                <a:avLst>
                  <a:gd name="adj" fmla="val 20000"/>
                </a:avLst>
              </a:prstGeom>
              <a:solidFill>
                <a:srgbClr val="1E293B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F509332-8166-B7F6-748C-AF2494D7133E}"/>
                  </a:ext>
                </a:extLst>
              </p:cNvPr>
              <p:cNvSpPr txBox="1"/>
              <p:nvPr/>
            </p:nvSpPr>
            <p:spPr>
              <a:xfrm>
                <a:off x="4936391" y="4098054"/>
                <a:ext cx="1028282" cy="2653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000" b="1" spc="0" baseline="0" dirty="0">
                    <a:ln/>
                    <a:solidFill>
                      <a:srgbClr val="E9D5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/>
                    <a:rtl val="0"/>
                  </a:rPr>
                  <a:t>Global Model</a:t>
                </a:r>
              </a:p>
            </p:txBody>
          </p:sp>
        </p:grpSp>
        <p:grpSp>
          <p:nvGrpSpPr>
            <p:cNvPr id="66" name="Graphic 26">
              <a:extLst>
                <a:ext uri="{FF2B5EF4-FFF2-40B4-BE49-F238E27FC236}">
                  <a16:creationId xmlns:a16="http://schemas.microsoft.com/office/drawing/2014/main" id="{A803F374-7FB9-EA0B-7130-0EE99538092C}"/>
                </a:ext>
              </a:extLst>
            </p:cNvPr>
            <p:cNvGrpSpPr/>
            <p:nvPr/>
          </p:nvGrpSpPr>
          <p:grpSpPr>
            <a:xfrm>
              <a:off x="952500" y="4381500"/>
              <a:ext cx="7810500" cy="1666875"/>
              <a:chOff x="952500" y="4381500"/>
              <a:chExt cx="7810500" cy="1666875"/>
            </a:xfrm>
          </p:grpSpPr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7A6D8233-DEB7-85AF-6EC7-84ADF0DED60D}"/>
                  </a:ext>
                </a:extLst>
              </p:cNvPr>
              <p:cNvSpPr/>
              <p:nvPr/>
            </p:nvSpPr>
            <p:spPr>
              <a:xfrm>
                <a:off x="952500" y="4381500"/>
                <a:ext cx="7810500" cy="1666875"/>
              </a:xfrm>
              <a:prstGeom prst="roundRect">
                <a:avLst>
                  <a:gd name="adj" fmla="val 4571"/>
                </a:avLst>
              </a:prstGeom>
              <a:gradFill>
                <a:gsLst>
                  <a:gs pos="0">
                    <a:srgbClr val="1F2937">
                      <a:alpha val="89804"/>
                    </a:srgbClr>
                  </a:gs>
                  <a:gs pos="50000">
                    <a:srgbClr val="18202F">
                      <a:alpha val="92157"/>
                    </a:srgbClr>
                  </a:gs>
                  <a:gs pos="100000">
                    <a:srgbClr val="111827">
                      <a:alpha val="94902"/>
                    </a:srgbClr>
                  </a:gs>
                </a:gsLst>
                <a:lin ang="5400000" scaled="1"/>
              </a:gradFill>
              <a:ln w="19050" cap="flat">
                <a:solidFill>
                  <a:srgbClr val="06B6D4"/>
                </a:solidFill>
                <a:prstDash val="solid"/>
                <a:miter/>
              </a:ln>
            </p:spPr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965D750-D5AE-F038-4E7E-800A94946551}"/>
                  </a:ext>
                </a:extLst>
              </p:cNvPr>
              <p:cNvSpPr txBox="1"/>
              <p:nvPr/>
            </p:nvSpPr>
            <p:spPr>
              <a:xfrm>
                <a:off x="4130546" y="4444564"/>
                <a:ext cx="1568956" cy="2985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200" b="1" spc="150" baseline="0">
                    <a:ln/>
                    <a:solidFill>
                      <a:srgbClr val="22D3EE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/>
                    <a:rtl val="0"/>
                  </a:rPr>
                  <a:t>CLOUD LAYER</a:t>
                </a:r>
              </a:p>
            </p:txBody>
          </p:sp>
          <p:grpSp>
            <p:nvGrpSpPr>
              <p:cNvPr id="69" name="Graphic 26">
                <a:extLst>
                  <a:ext uri="{FF2B5EF4-FFF2-40B4-BE49-F238E27FC236}">
                    <a16:creationId xmlns:a16="http://schemas.microsoft.com/office/drawing/2014/main" id="{4892BF4A-CD3B-7ECF-1DE6-B25C5C92D0F0}"/>
                  </a:ext>
                </a:extLst>
              </p:cNvPr>
              <p:cNvGrpSpPr/>
              <p:nvPr/>
            </p:nvGrpSpPr>
            <p:grpSpPr>
              <a:xfrm>
                <a:off x="1333500" y="4743450"/>
                <a:ext cx="7048500" cy="1143000"/>
                <a:chOff x="1333500" y="4743450"/>
                <a:chExt cx="7048500" cy="1143000"/>
              </a:xfrm>
            </p:grpSpPr>
            <p:sp>
              <p:nvSpPr>
                <p:cNvPr id="70" name="Rectangle: Rounded Corners 69">
                  <a:extLst>
                    <a:ext uri="{FF2B5EF4-FFF2-40B4-BE49-F238E27FC236}">
                      <a16:creationId xmlns:a16="http://schemas.microsoft.com/office/drawing/2014/main" id="{39775B23-9950-2B15-9B86-AAA187D820DB}"/>
                    </a:ext>
                  </a:extLst>
                </p:cNvPr>
                <p:cNvSpPr/>
                <p:nvPr/>
              </p:nvSpPr>
              <p:spPr>
                <a:xfrm>
                  <a:off x="1333500" y="4743450"/>
                  <a:ext cx="7048500" cy="11430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111827"/>
                </a:solidFill>
                <a:ln w="9525" cap="flat">
                  <a:solidFill>
                    <a:srgbClr val="374151"/>
                  </a:solidFill>
                  <a:prstDash val="solid"/>
                  <a:miter/>
                </a:ln>
              </p:spPr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66B95E10-E031-99AC-FFB6-AE36D6BC95F4}"/>
                    </a:ext>
                  </a:extLst>
                </p:cNvPr>
                <p:cNvSpPr txBox="1"/>
                <p:nvPr/>
              </p:nvSpPr>
              <p:spPr>
                <a:xfrm>
                  <a:off x="3510734" y="4772153"/>
                  <a:ext cx="2705372" cy="2985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N" sz="1200" b="1" spc="0" baseline="0">
                      <a:ln/>
                      <a:solidFill>
                        <a:srgbClr val="F3F4F6"/>
                      </a:solidFill>
                      <a:latin typeface="Arial" panose="020B0604020202020204" pitchFamily="34" charset="0"/>
                      <a:ea typeface="Segoe UI Emoji"/>
                      <a:cs typeface="Arial" panose="020B0604020202020204" pitchFamily="34" charset="0"/>
                      <a:sym typeface="Segoe UI Emoji"/>
                      <a:rtl val="0"/>
                    </a:rPr>
                    <a:t>☁️</a:t>
                  </a:r>
                  <a:r>
                    <a:rPr lang="en-IN" sz="1200" b="1" spc="0" baseline="0">
                      <a:ln/>
                      <a:solidFill>
                        <a:srgbClr val="F3F4F6"/>
                      </a:solidFill>
                      <a:latin typeface="Arial" panose="020B0604020202020204" pitchFamily="34" charset="0"/>
                      <a:ea typeface="Segoe UI Emoji"/>
                      <a:cs typeface="Arial" panose="020B0604020202020204" pitchFamily="34" charset="0"/>
                      <a:sym typeface="Arial"/>
                      <a:rtl val="0"/>
                    </a:rPr>
                    <a:t> Microsoft Azure Blob Storage</a:t>
                  </a:r>
                </a:p>
              </p:txBody>
            </p:sp>
            <p:grpSp>
              <p:nvGrpSpPr>
                <p:cNvPr id="72" name="Graphic 26">
                  <a:extLst>
                    <a:ext uri="{FF2B5EF4-FFF2-40B4-BE49-F238E27FC236}">
                      <a16:creationId xmlns:a16="http://schemas.microsoft.com/office/drawing/2014/main" id="{BD6F1627-EA37-8E1A-063C-87AC6C8867AE}"/>
                    </a:ext>
                  </a:extLst>
                </p:cNvPr>
                <p:cNvGrpSpPr/>
                <p:nvPr/>
              </p:nvGrpSpPr>
              <p:grpSpPr>
                <a:xfrm>
                  <a:off x="1520537" y="5086350"/>
                  <a:ext cx="6670963" cy="666750"/>
                  <a:chOff x="1520537" y="5086350"/>
                  <a:chExt cx="6670963" cy="666750"/>
                </a:xfrm>
              </p:grpSpPr>
              <p:sp>
                <p:nvSpPr>
                  <p:cNvPr id="73" name="Rectangle: Rounded Corners 72">
                    <a:extLst>
                      <a:ext uri="{FF2B5EF4-FFF2-40B4-BE49-F238E27FC236}">
                        <a16:creationId xmlns:a16="http://schemas.microsoft.com/office/drawing/2014/main" id="{5F02D3F1-D3C2-7EBD-588F-B87655A43627}"/>
                      </a:ext>
                    </a:extLst>
                  </p:cNvPr>
                  <p:cNvSpPr/>
                  <p:nvPr/>
                </p:nvSpPr>
                <p:spPr>
                  <a:xfrm>
                    <a:off x="1524000" y="5086350"/>
                    <a:ext cx="6667500" cy="666750"/>
                  </a:xfrm>
                  <a:prstGeom prst="roundRect">
                    <a:avLst>
                      <a:gd name="adj" fmla="val 5714"/>
                    </a:avLst>
                  </a:prstGeom>
                  <a:solidFill>
                    <a:srgbClr val="0D1117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7FBCA4C1-1A53-FF39-3F57-E0B67BB9AE4D}"/>
                      </a:ext>
                    </a:extLst>
                  </p:cNvPr>
                  <p:cNvSpPr txBox="1"/>
                  <p:nvPr/>
                </p:nvSpPr>
                <p:spPr>
                  <a:xfrm>
                    <a:off x="1520537" y="5155551"/>
                    <a:ext cx="1780887" cy="29852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IN" sz="1200" spc="0" baseline="0">
                        <a:ln/>
                        <a:solidFill>
                          <a:srgbClr val="67E8F9"/>
                        </a:solidFill>
                        <a:latin typeface="Arial" panose="020B0604020202020204" pitchFamily="34" charset="0"/>
                        <a:ea typeface="Segoe UI Emoji"/>
                        <a:cs typeface="Arial" panose="020B0604020202020204" pitchFamily="34" charset="0"/>
                        <a:sym typeface="Segoe UI Emoji"/>
                        <a:rtl val="0"/>
                      </a:rPr>
                      <a:t>📁</a:t>
                    </a:r>
                    <a:r>
                      <a:rPr lang="en-IN" sz="1200" spc="0" baseline="0">
                        <a:ln/>
                        <a:solidFill>
                          <a:srgbClr val="67E8F9"/>
                        </a:solidFill>
                        <a:latin typeface="Arial" panose="020B0604020202020204" pitchFamily="34" charset="0"/>
                        <a:ea typeface="Segoe UI Emoji"/>
                        <a:cs typeface="Arial" panose="020B0604020202020204" pitchFamily="34" charset="0"/>
                        <a:sym typeface="Courier New"/>
                        <a:rtl val="0"/>
                      </a:rPr>
                      <a:t> results/results.json</a:t>
                    </a:r>
                  </a:p>
                </p:txBody>
              </p:sp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F0C3E322-95A5-BF3C-0F59-5B89887DC8B0}"/>
                      </a:ext>
                    </a:extLst>
                  </p:cNvPr>
                  <p:cNvSpPr txBox="1"/>
                  <p:nvPr/>
                </p:nvSpPr>
                <p:spPr>
                  <a:xfrm>
                    <a:off x="4606641" y="5165692"/>
                    <a:ext cx="2640291" cy="29852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IN" sz="1200" spc="0" baseline="0">
                        <a:ln/>
                        <a:solidFill>
                          <a:srgbClr val="67E8F9"/>
                        </a:solidFill>
                        <a:latin typeface="Arial" panose="020B0604020202020204" pitchFamily="34" charset="0"/>
                        <a:ea typeface="Segoe UI Emoji"/>
                        <a:cs typeface="Arial" panose="020B0604020202020204" pitchFamily="34" charset="0"/>
                        <a:sym typeface="Segoe UI Emoji"/>
                        <a:rtl val="0"/>
                      </a:rPr>
                      <a:t>📁</a:t>
                    </a:r>
                    <a:r>
                      <a:rPr lang="en-IN" sz="1200" spc="0" baseline="0">
                        <a:ln/>
                        <a:solidFill>
                          <a:srgbClr val="67E8F9"/>
                        </a:solidFill>
                        <a:latin typeface="Arial" panose="020B0604020202020204" pitchFamily="34" charset="0"/>
                        <a:ea typeface="Segoe UI Emoji"/>
                        <a:cs typeface="Arial" panose="020B0604020202020204" pitchFamily="34" charset="0"/>
                        <a:sym typeface="Courier New"/>
                        <a:rtl val="0"/>
                      </a:rPr>
                      <a:t> analytics/analytics_results.json</a:t>
                    </a:r>
                  </a:p>
                </p:txBody>
              </p:sp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7F31F7B3-DEE2-6DF3-DB13-9362D98747B6}"/>
                      </a:ext>
                    </a:extLst>
                  </p:cNvPr>
                  <p:cNvSpPr txBox="1"/>
                  <p:nvPr/>
                </p:nvSpPr>
                <p:spPr>
                  <a:xfrm>
                    <a:off x="1523788" y="5404051"/>
                    <a:ext cx="2229780" cy="29852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IN" sz="1200" spc="0" baseline="0" dirty="0">
                        <a:ln/>
                        <a:solidFill>
                          <a:srgbClr val="67E8F9"/>
                        </a:solidFill>
                        <a:latin typeface="Arial" panose="020B0604020202020204" pitchFamily="34" charset="0"/>
                        <a:ea typeface="Segoe UI Emoji"/>
                        <a:cs typeface="Arial" panose="020B0604020202020204" pitchFamily="34" charset="0"/>
                        <a:sym typeface="Segoe UI Emoji"/>
                        <a:rtl val="0"/>
                      </a:rPr>
                      <a:t>📁</a:t>
                    </a:r>
                    <a:r>
                      <a:rPr lang="en-IN" sz="1200" spc="0" baseline="0" dirty="0">
                        <a:ln/>
                        <a:solidFill>
                          <a:srgbClr val="67E8F9"/>
                        </a:solidFill>
                        <a:latin typeface="Arial" panose="020B0604020202020204" pitchFamily="34" charset="0"/>
                        <a:ea typeface="Segoe UI Emoji"/>
                        <a:cs typeface="Arial" panose="020B0604020202020204" pitchFamily="34" charset="0"/>
                        <a:sym typeface="Courier New"/>
                        <a:rtl val="0"/>
                      </a:rPr>
                      <a:t> models/</a:t>
                    </a:r>
                    <a:r>
                      <a:rPr lang="en-IN" sz="1200" spc="0" baseline="0" dirty="0" err="1">
                        <a:ln/>
                        <a:solidFill>
                          <a:srgbClr val="67E8F9"/>
                        </a:solidFill>
                        <a:latin typeface="Arial" panose="020B0604020202020204" pitchFamily="34" charset="0"/>
                        <a:ea typeface="Segoe UI Emoji"/>
                        <a:cs typeface="Arial" panose="020B0604020202020204" pitchFamily="34" charset="0"/>
                        <a:sym typeface="Courier New"/>
                        <a:rtl val="0"/>
                      </a:rPr>
                      <a:t>global_model.pth</a:t>
                    </a:r>
                    <a:endParaRPr lang="en-IN" sz="1200" spc="0" baseline="0" dirty="0">
                      <a:ln/>
                      <a:solidFill>
                        <a:srgbClr val="67E8F9"/>
                      </a:solidFill>
                      <a:latin typeface="Arial" panose="020B0604020202020204" pitchFamily="34" charset="0"/>
                      <a:ea typeface="Segoe UI Emoji"/>
                      <a:cs typeface="Arial" panose="020B0604020202020204" pitchFamily="34" charset="0"/>
                      <a:sym typeface="Courier New"/>
                      <a:rtl val="0"/>
                    </a:endParaRPr>
                  </a:p>
                </p:txBody>
              </p:sp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2270551E-18BB-5186-381E-2C38F37DD104}"/>
                      </a:ext>
                    </a:extLst>
                  </p:cNvPr>
                  <p:cNvSpPr txBox="1"/>
                  <p:nvPr/>
                </p:nvSpPr>
                <p:spPr>
                  <a:xfrm>
                    <a:off x="4602407" y="5404051"/>
                    <a:ext cx="3347840" cy="29852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IN" sz="1200" spc="0" baseline="0" dirty="0">
                        <a:ln/>
                        <a:solidFill>
                          <a:srgbClr val="67E8F9"/>
                        </a:solidFill>
                        <a:latin typeface="Arial" panose="020B0604020202020204" pitchFamily="34" charset="0"/>
                        <a:ea typeface="Segoe UI Emoji"/>
                        <a:cs typeface="Arial" panose="020B0604020202020204" pitchFamily="34" charset="0"/>
                        <a:sym typeface="Segoe UI Emoji"/>
                        <a:rtl val="0"/>
                      </a:rPr>
                      <a:t>📁</a:t>
                    </a:r>
                    <a:r>
                      <a:rPr lang="en-IN" sz="1200" spc="0" baseline="0" dirty="0">
                        <a:ln/>
                        <a:solidFill>
                          <a:srgbClr val="67E8F9"/>
                        </a:solidFill>
                        <a:latin typeface="Arial" panose="020B0604020202020204" pitchFamily="34" charset="0"/>
                        <a:ea typeface="Segoe UI Emoji"/>
                        <a:cs typeface="Arial" panose="020B0604020202020204" pitchFamily="34" charset="0"/>
                        <a:sym typeface="Courier New"/>
                        <a:rtl val="0"/>
                      </a:rPr>
                      <a:t> predictions/</a:t>
                    </a:r>
                    <a:r>
                      <a:rPr lang="en-IN" sz="1200" spc="0" baseline="0" dirty="0" err="1">
                        <a:ln/>
                        <a:solidFill>
                          <a:srgbClr val="67E8F9"/>
                        </a:solidFill>
                        <a:latin typeface="Arial" panose="020B0604020202020204" pitchFamily="34" charset="0"/>
                        <a:ea typeface="Segoe UI Emoji"/>
                        <a:cs typeface="Arial" panose="020B0604020202020204" pitchFamily="34" charset="0"/>
                        <a:sym typeface="Courier New"/>
                        <a:rtl val="0"/>
                      </a:rPr>
                      <a:t>azure_prediction_results.json</a:t>
                    </a:r>
                    <a:endParaRPr lang="en-IN" sz="1200" spc="0" baseline="0" dirty="0">
                      <a:ln/>
                      <a:solidFill>
                        <a:srgbClr val="67E8F9"/>
                      </a:solidFill>
                      <a:latin typeface="Arial" panose="020B0604020202020204" pitchFamily="34" charset="0"/>
                      <a:ea typeface="Segoe UI Emoji"/>
                      <a:cs typeface="Arial" panose="020B0604020202020204" pitchFamily="34" charset="0"/>
                      <a:sym typeface="Courier New"/>
                      <a:rtl val="0"/>
                    </a:endParaRPr>
                  </a:p>
                </p:txBody>
              </p:sp>
            </p:grpSp>
          </p:grpSp>
        </p:grpSp>
        <p:grpSp>
          <p:nvGrpSpPr>
            <p:cNvPr id="78" name="Graphic 26">
              <a:extLst>
                <a:ext uri="{FF2B5EF4-FFF2-40B4-BE49-F238E27FC236}">
                  <a16:creationId xmlns:a16="http://schemas.microsoft.com/office/drawing/2014/main" id="{85B3B7CC-34B5-8BAA-EE19-F2E55F1D807D}"/>
                </a:ext>
              </a:extLst>
            </p:cNvPr>
            <p:cNvGrpSpPr/>
            <p:nvPr/>
          </p:nvGrpSpPr>
          <p:grpSpPr>
            <a:xfrm>
              <a:off x="4810125" y="6048375"/>
              <a:ext cx="1669587" cy="315283"/>
              <a:chOff x="4810125" y="6048375"/>
              <a:chExt cx="1669587" cy="315283"/>
            </a:xfrm>
          </p:grpSpPr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A65F4138-887E-EC37-542E-28CEE5E93170}"/>
                  </a:ext>
                </a:extLst>
              </p:cNvPr>
              <p:cNvSpPr/>
              <p:nvPr/>
            </p:nvSpPr>
            <p:spPr>
              <a:xfrm>
                <a:off x="4857750" y="6048375"/>
                <a:ext cx="9525" cy="285750"/>
              </a:xfrm>
              <a:custGeom>
                <a:avLst/>
                <a:gdLst>
                  <a:gd name="csX0" fmla="*/ 510 w 9525"/>
                  <a:gd name="csY0" fmla="*/ 635 h 285750"/>
                  <a:gd name="csX1" fmla="*/ 510 w 9525"/>
                  <a:gd name="csY1" fmla="*/ 286385 h 2857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25" h="285750">
                    <a:moveTo>
                      <a:pt x="510" y="635"/>
                    </a:moveTo>
                    <a:lnTo>
                      <a:pt x="510" y="286385"/>
                    </a:lnTo>
                  </a:path>
                </a:pathLst>
              </a:custGeom>
              <a:ln w="23813" cap="flat">
                <a:solidFill>
                  <a:srgbClr val="06B6D4"/>
                </a:solidFill>
                <a:custDash>
                  <a:ds d="375000" sp="300000"/>
                </a:custDash>
                <a:miter/>
              </a:ln>
            </p:spPr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4EE75620-57CB-0B63-500E-130246D236E5}"/>
                  </a:ext>
                </a:extLst>
              </p:cNvPr>
              <p:cNvSpPr/>
              <p:nvPr/>
            </p:nvSpPr>
            <p:spPr>
              <a:xfrm>
                <a:off x="4810125" y="6286500"/>
                <a:ext cx="95250" cy="76200"/>
              </a:xfrm>
              <a:custGeom>
                <a:avLst/>
                <a:gdLst>
                  <a:gd name="csX0" fmla="*/ 510 w 95250"/>
                  <a:gd name="csY0" fmla="*/ 635 h 76200"/>
                  <a:gd name="csX1" fmla="*/ 48135 w 95250"/>
                  <a:gd name="csY1" fmla="*/ 76835 h 76200"/>
                  <a:gd name="csX2" fmla="*/ 95760 w 95250"/>
                  <a:gd name="csY2" fmla="*/ 635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5250" h="76200">
                    <a:moveTo>
                      <a:pt x="510" y="635"/>
                    </a:moveTo>
                    <a:lnTo>
                      <a:pt x="48135" y="76835"/>
                    </a:lnTo>
                    <a:lnTo>
                      <a:pt x="95760" y="635"/>
                    </a:lnTo>
                    <a:close/>
                  </a:path>
                </a:pathLst>
              </a:custGeom>
              <a:solidFill>
                <a:srgbClr val="06B6D4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C59AFA65-F346-D014-82C0-011E08F46FC5}"/>
                  </a:ext>
                </a:extLst>
              </p:cNvPr>
              <p:cNvSpPr/>
              <p:nvPr/>
            </p:nvSpPr>
            <p:spPr>
              <a:xfrm>
                <a:off x="5000625" y="6105525"/>
                <a:ext cx="1381125" cy="190500"/>
              </a:xfrm>
              <a:prstGeom prst="roundRect">
                <a:avLst>
                  <a:gd name="adj" fmla="val 20000"/>
                </a:avLst>
              </a:prstGeom>
              <a:solidFill>
                <a:srgbClr val="1E293B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AFE69E0D-96EA-64E6-A3FF-1E5921D82D89}"/>
                  </a:ext>
                </a:extLst>
              </p:cNvPr>
              <p:cNvSpPr txBox="1"/>
              <p:nvPr/>
            </p:nvSpPr>
            <p:spPr>
              <a:xfrm>
                <a:off x="4905751" y="6098304"/>
                <a:ext cx="1573961" cy="2653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000" b="1" spc="0" baseline="0" dirty="0">
                    <a:ln/>
                    <a:solidFill>
                      <a:srgbClr val="A5F3FC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/>
                    <a:rtl val="0"/>
                  </a:rPr>
                  <a:t>Data / Model Retrieval</a:t>
                </a:r>
              </a:p>
            </p:txBody>
          </p:sp>
        </p:grpSp>
        <p:grpSp>
          <p:nvGrpSpPr>
            <p:cNvPr id="83" name="Graphic 26">
              <a:extLst>
                <a:ext uri="{FF2B5EF4-FFF2-40B4-BE49-F238E27FC236}">
                  <a16:creationId xmlns:a16="http://schemas.microsoft.com/office/drawing/2014/main" id="{D71C3904-693F-B463-BBD9-9187DFD44656}"/>
                </a:ext>
              </a:extLst>
            </p:cNvPr>
            <p:cNvGrpSpPr/>
            <p:nvPr/>
          </p:nvGrpSpPr>
          <p:grpSpPr>
            <a:xfrm>
              <a:off x="952500" y="6381750"/>
              <a:ext cx="7810500" cy="1428750"/>
              <a:chOff x="952500" y="6381750"/>
              <a:chExt cx="7810500" cy="1428750"/>
            </a:xfrm>
          </p:grpSpPr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0439D2CD-6547-87AE-E32C-15A9DDEE5FD1}"/>
                  </a:ext>
                </a:extLst>
              </p:cNvPr>
              <p:cNvSpPr/>
              <p:nvPr/>
            </p:nvSpPr>
            <p:spPr>
              <a:xfrm>
                <a:off x="952500" y="6381750"/>
                <a:ext cx="7810500" cy="1428750"/>
              </a:xfrm>
              <a:prstGeom prst="roundRect">
                <a:avLst>
                  <a:gd name="adj" fmla="val 5333"/>
                </a:avLst>
              </a:prstGeom>
              <a:gradFill>
                <a:gsLst>
                  <a:gs pos="0">
                    <a:srgbClr val="1F2937">
                      <a:alpha val="89804"/>
                    </a:srgbClr>
                  </a:gs>
                  <a:gs pos="50000">
                    <a:srgbClr val="18202F">
                      <a:alpha val="92157"/>
                    </a:srgbClr>
                  </a:gs>
                  <a:gs pos="100000">
                    <a:srgbClr val="111827">
                      <a:alpha val="94902"/>
                    </a:srgbClr>
                  </a:gs>
                </a:gsLst>
                <a:lin ang="5400000" scaled="1"/>
              </a:gradFill>
              <a:ln w="19050" cap="flat">
                <a:solidFill>
                  <a:srgbClr val="10B981"/>
                </a:solidFill>
                <a:prstDash val="solid"/>
                <a:miter/>
              </a:ln>
            </p:spPr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AAB8314-264C-C1D2-C14B-AE0FE1FAAE67}"/>
                  </a:ext>
                </a:extLst>
              </p:cNvPr>
              <p:cNvSpPr txBox="1"/>
              <p:nvPr/>
            </p:nvSpPr>
            <p:spPr>
              <a:xfrm>
                <a:off x="3942904" y="6444814"/>
                <a:ext cx="1996156" cy="2985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200" b="1" spc="150" baseline="0">
                    <a:ln/>
                    <a:solidFill>
                      <a:srgbClr val="34D399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/>
                    <a:rtl val="0"/>
                  </a:rPr>
                  <a:t>ANALYTICS LAYER</a:t>
                </a:r>
              </a:p>
            </p:txBody>
          </p:sp>
          <p:grpSp>
            <p:nvGrpSpPr>
              <p:cNvPr id="86" name="Graphic 26">
                <a:extLst>
                  <a:ext uri="{FF2B5EF4-FFF2-40B4-BE49-F238E27FC236}">
                    <a16:creationId xmlns:a16="http://schemas.microsoft.com/office/drawing/2014/main" id="{4B7A88F4-7BDF-2DD6-AF7A-E9FE28912CDB}"/>
                  </a:ext>
                </a:extLst>
              </p:cNvPr>
              <p:cNvGrpSpPr/>
              <p:nvPr/>
            </p:nvGrpSpPr>
            <p:grpSpPr>
              <a:xfrm>
                <a:off x="1333500" y="6743700"/>
                <a:ext cx="7048500" cy="904875"/>
                <a:chOff x="1333500" y="6743700"/>
                <a:chExt cx="7048500" cy="904875"/>
              </a:xfrm>
            </p:grpSpPr>
            <p:sp>
              <p:nvSpPr>
                <p:cNvPr id="87" name="Rectangle: Rounded Corners 86">
                  <a:extLst>
                    <a:ext uri="{FF2B5EF4-FFF2-40B4-BE49-F238E27FC236}">
                      <a16:creationId xmlns:a16="http://schemas.microsoft.com/office/drawing/2014/main" id="{90234DBF-0990-EF9D-A858-4F49DA8D099A}"/>
                    </a:ext>
                  </a:extLst>
                </p:cNvPr>
                <p:cNvSpPr/>
                <p:nvPr/>
              </p:nvSpPr>
              <p:spPr>
                <a:xfrm>
                  <a:off x="1333500" y="6743700"/>
                  <a:ext cx="7048500" cy="904875"/>
                </a:xfrm>
                <a:prstGeom prst="roundRect">
                  <a:avLst>
                    <a:gd name="adj" fmla="val 6315"/>
                  </a:avLst>
                </a:prstGeom>
                <a:solidFill>
                  <a:srgbClr val="111827"/>
                </a:solidFill>
                <a:ln w="9525" cap="flat">
                  <a:solidFill>
                    <a:srgbClr val="374151"/>
                  </a:solidFill>
                  <a:prstDash val="solid"/>
                  <a:miter/>
                </a:ln>
              </p:spPr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FCBA9973-AB3B-047F-9219-3E5FD80A4A26}"/>
                    </a:ext>
                  </a:extLst>
                </p:cNvPr>
                <p:cNvSpPr txBox="1"/>
                <p:nvPr/>
              </p:nvSpPr>
              <p:spPr>
                <a:xfrm>
                  <a:off x="3930811" y="6772403"/>
                  <a:ext cx="1857649" cy="2985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N" sz="1200" b="1" spc="0" baseline="0">
                      <a:ln/>
                      <a:solidFill>
                        <a:srgbClr val="F3F4F6"/>
                      </a:solidFill>
                      <a:latin typeface="Arial" panose="020B0604020202020204" pitchFamily="34" charset="0"/>
                      <a:ea typeface="Segoe UI Emoji"/>
                      <a:cs typeface="Arial" panose="020B0604020202020204" pitchFamily="34" charset="0"/>
                      <a:sym typeface="Segoe UI Emoji"/>
                      <a:rtl val="0"/>
                    </a:rPr>
                    <a:t>📊</a:t>
                  </a:r>
                  <a:r>
                    <a:rPr lang="en-IN" sz="1200" b="1" spc="0" baseline="0">
                      <a:ln/>
                      <a:solidFill>
                        <a:srgbClr val="F3F4F6"/>
                      </a:solidFill>
                      <a:latin typeface="Arial" panose="020B0604020202020204" pitchFamily="34" charset="0"/>
                      <a:ea typeface="Segoe UI Emoji"/>
                      <a:cs typeface="Arial" panose="020B0604020202020204" pitchFamily="34" charset="0"/>
                      <a:sym typeface="Arial"/>
                      <a:rtl val="0"/>
                    </a:rPr>
                    <a:t> Big Data Analytics</a:t>
                  </a:r>
                </a:p>
              </p:txBody>
            </p:sp>
            <p:grpSp>
              <p:nvGrpSpPr>
                <p:cNvPr id="89" name="Graphic 26">
                  <a:extLst>
                    <a:ext uri="{FF2B5EF4-FFF2-40B4-BE49-F238E27FC236}">
                      <a16:creationId xmlns:a16="http://schemas.microsoft.com/office/drawing/2014/main" id="{7A608A9C-A9B9-F30A-7AD8-75E6951B4B80}"/>
                    </a:ext>
                  </a:extLst>
                </p:cNvPr>
                <p:cNvGrpSpPr/>
                <p:nvPr/>
              </p:nvGrpSpPr>
              <p:grpSpPr>
                <a:xfrm>
                  <a:off x="1474078" y="7046874"/>
                  <a:ext cx="6717422" cy="561393"/>
                  <a:chOff x="1474078" y="7046874"/>
                  <a:chExt cx="6717422" cy="561393"/>
                </a:xfrm>
              </p:grpSpPr>
              <p:sp>
                <p:nvSpPr>
                  <p:cNvPr id="90" name="Rectangle: Rounded Corners 89">
                    <a:extLst>
                      <a:ext uri="{FF2B5EF4-FFF2-40B4-BE49-F238E27FC236}">
                        <a16:creationId xmlns:a16="http://schemas.microsoft.com/office/drawing/2014/main" id="{3C2E2A53-DF90-9669-5CFF-684E291730F6}"/>
                      </a:ext>
                    </a:extLst>
                  </p:cNvPr>
                  <p:cNvSpPr/>
                  <p:nvPr/>
                </p:nvSpPr>
                <p:spPr>
                  <a:xfrm>
                    <a:off x="1524000" y="7086600"/>
                    <a:ext cx="3238500" cy="209550"/>
                  </a:xfrm>
                  <a:prstGeom prst="roundRect">
                    <a:avLst>
                      <a:gd name="adj" fmla="val 13636"/>
                    </a:avLst>
                  </a:prstGeom>
                  <a:solidFill>
                    <a:srgbClr val="1F2937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195ABE59-FB4A-DF38-7921-2F478F360299}"/>
                      </a:ext>
                    </a:extLst>
                  </p:cNvPr>
                  <p:cNvSpPr txBox="1"/>
                  <p:nvPr/>
                </p:nvSpPr>
                <p:spPr>
                  <a:xfrm>
                    <a:off x="1800683" y="7061226"/>
                    <a:ext cx="2720390" cy="28193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IN" sz="1100" spc="0" baseline="0" dirty="0">
                        <a:ln/>
                        <a:solidFill>
                          <a:srgbClr val="D1D5D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Arial"/>
                        <a:rtl val="0"/>
                      </a:rPr>
                      <a:t>• Round Accuracy (92.97% </a:t>
                    </a:r>
                    <a:r>
                      <a:rPr lang="en-IN" sz="1100" spc="0" baseline="0" dirty="0">
                        <a:ln/>
                        <a:solidFill>
                          <a:srgbClr val="D1D5DB"/>
                        </a:solidFill>
                        <a:latin typeface="Arial" panose="020B0604020202020204" pitchFamily="34" charset="0"/>
                        <a:ea typeface="Segoe UI Symbol"/>
                        <a:cs typeface="Arial" panose="020B0604020202020204" pitchFamily="34" charset="0"/>
                        <a:sym typeface="Segoe UI Symbol"/>
                        <a:rtl val="0"/>
                      </a:rPr>
                      <a:t>➔</a:t>
                    </a:r>
                    <a:r>
                      <a:rPr lang="en-IN" sz="1100" spc="0" baseline="0" dirty="0">
                        <a:ln/>
                        <a:solidFill>
                          <a:srgbClr val="D1D5DB"/>
                        </a:solidFill>
                        <a:latin typeface="Arial" panose="020B0604020202020204" pitchFamily="34" charset="0"/>
                        <a:ea typeface="Segoe UI Symbol"/>
                        <a:cs typeface="Arial" panose="020B0604020202020204" pitchFamily="34" charset="0"/>
                        <a:sym typeface="Arial"/>
                        <a:rtl val="0"/>
                      </a:rPr>
                      <a:t> 93.41%)</a:t>
                    </a:r>
                  </a:p>
                </p:txBody>
              </p:sp>
              <p:sp>
                <p:nvSpPr>
                  <p:cNvPr id="92" name="Rectangle: Rounded Corners 91">
                    <a:extLst>
                      <a:ext uri="{FF2B5EF4-FFF2-40B4-BE49-F238E27FC236}">
                        <a16:creationId xmlns:a16="http://schemas.microsoft.com/office/drawing/2014/main" id="{A3977559-3457-D48A-BB90-A2B5243DE988}"/>
                      </a:ext>
                    </a:extLst>
                  </p:cNvPr>
                  <p:cNvSpPr/>
                  <p:nvPr/>
                </p:nvSpPr>
                <p:spPr>
                  <a:xfrm>
                    <a:off x="4953000" y="7086600"/>
                    <a:ext cx="3238500" cy="209550"/>
                  </a:xfrm>
                  <a:prstGeom prst="roundRect">
                    <a:avLst>
                      <a:gd name="adj" fmla="val 13636"/>
                    </a:avLst>
                  </a:prstGeom>
                  <a:solidFill>
                    <a:srgbClr val="1F2937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42BF30C2-B7E2-914F-4823-868DD6868A54}"/>
                      </a:ext>
                    </a:extLst>
                  </p:cNvPr>
                  <p:cNvSpPr txBox="1"/>
                  <p:nvPr/>
                </p:nvSpPr>
                <p:spPr>
                  <a:xfrm>
                    <a:off x="5309815" y="7046874"/>
                    <a:ext cx="2545172" cy="28193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IN" sz="1100" spc="0" baseline="0" dirty="0">
                        <a:ln/>
                        <a:solidFill>
                          <a:srgbClr val="D1D5D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Arial"/>
                        <a:rtl val="0"/>
                      </a:rPr>
                      <a:t>• Client Analytics (N1=227, N2=228)</a:t>
                    </a:r>
                  </a:p>
                </p:txBody>
              </p:sp>
              <p:sp>
                <p:nvSpPr>
                  <p:cNvPr id="94" name="Rectangle: Rounded Corners 93">
                    <a:extLst>
                      <a:ext uri="{FF2B5EF4-FFF2-40B4-BE49-F238E27FC236}">
                        <a16:creationId xmlns:a16="http://schemas.microsoft.com/office/drawing/2014/main" id="{180C066D-D6BE-6D16-A4B1-77E44EEBA4D8}"/>
                      </a:ext>
                    </a:extLst>
                  </p:cNvPr>
                  <p:cNvSpPr/>
                  <p:nvPr/>
                </p:nvSpPr>
                <p:spPr>
                  <a:xfrm>
                    <a:off x="1524000" y="7343775"/>
                    <a:ext cx="3238500" cy="209550"/>
                  </a:xfrm>
                  <a:prstGeom prst="roundRect">
                    <a:avLst>
                      <a:gd name="adj" fmla="val 13636"/>
                    </a:avLst>
                  </a:prstGeom>
                  <a:solidFill>
                    <a:srgbClr val="1F2937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52E39F2E-38AD-1F74-CB12-0C2009BB273F}"/>
                      </a:ext>
                    </a:extLst>
                  </p:cNvPr>
                  <p:cNvSpPr txBox="1"/>
                  <p:nvPr/>
                </p:nvSpPr>
                <p:spPr>
                  <a:xfrm>
                    <a:off x="1474078" y="7326328"/>
                    <a:ext cx="3316133" cy="28193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IN" sz="1100" spc="0" baseline="0" dirty="0">
                        <a:ln/>
                        <a:solidFill>
                          <a:srgbClr val="D1D5D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Arial"/>
                        <a:rtl val="0"/>
                      </a:rPr>
                      <a:t>• Class Distribution (Class 0: 169 | Class 1: 286)</a:t>
                    </a:r>
                  </a:p>
                </p:txBody>
              </p:sp>
              <p:sp>
                <p:nvSpPr>
                  <p:cNvPr id="96" name="Rectangle: Rounded Corners 95">
                    <a:extLst>
                      <a:ext uri="{FF2B5EF4-FFF2-40B4-BE49-F238E27FC236}">
                        <a16:creationId xmlns:a16="http://schemas.microsoft.com/office/drawing/2014/main" id="{5513CA7D-5059-C0FF-21DF-27824C22FCB0}"/>
                      </a:ext>
                    </a:extLst>
                  </p:cNvPr>
                  <p:cNvSpPr/>
                  <p:nvPr/>
                </p:nvSpPr>
                <p:spPr>
                  <a:xfrm>
                    <a:off x="4953000" y="7343775"/>
                    <a:ext cx="3238500" cy="209550"/>
                  </a:xfrm>
                  <a:prstGeom prst="roundRect">
                    <a:avLst>
                      <a:gd name="adj" fmla="val 13636"/>
                    </a:avLst>
                  </a:prstGeom>
                  <a:solidFill>
                    <a:srgbClr val="1F2937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97" name="TextBox 96">
                    <a:extLst>
                      <a:ext uri="{FF2B5EF4-FFF2-40B4-BE49-F238E27FC236}">
                        <a16:creationId xmlns:a16="http://schemas.microsoft.com/office/drawing/2014/main" id="{EE17639E-EDC7-0F64-FB3D-26A1112DE763}"/>
                      </a:ext>
                    </a:extLst>
                  </p:cNvPr>
                  <p:cNvSpPr txBox="1"/>
                  <p:nvPr/>
                </p:nvSpPr>
                <p:spPr>
                  <a:xfrm>
                    <a:off x="5035535" y="7292489"/>
                    <a:ext cx="3114215" cy="28193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IN" sz="1100" spc="0" baseline="0" dirty="0">
                        <a:ln/>
                        <a:solidFill>
                          <a:srgbClr val="D1D5D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Arial"/>
                        <a:rtl val="0"/>
                      </a:rPr>
                      <a:t>• Azure Model Evaluation (88.16% Accuracy)</a:t>
                    </a:r>
                  </a:p>
                </p:txBody>
              </p:sp>
            </p:grpSp>
          </p:grpSp>
        </p:grpSp>
        <p:grpSp>
          <p:nvGrpSpPr>
            <p:cNvPr id="98" name="Graphic 26">
              <a:extLst>
                <a:ext uri="{FF2B5EF4-FFF2-40B4-BE49-F238E27FC236}">
                  <a16:creationId xmlns:a16="http://schemas.microsoft.com/office/drawing/2014/main" id="{960A07F9-A2B7-1A45-8FD9-D84C095C9E4B}"/>
                </a:ext>
              </a:extLst>
            </p:cNvPr>
            <p:cNvGrpSpPr/>
            <p:nvPr/>
          </p:nvGrpSpPr>
          <p:grpSpPr>
            <a:xfrm>
              <a:off x="4810125" y="7810500"/>
              <a:ext cx="95250" cy="314325"/>
              <a:chOff x="4810125" y="7810500"/>
              <a:chExt cx="95250" cy="314325"/>
            </a:xfrm>
            <a:solidFill>
              <a:srgbClr val="10B981"/>
            </a:solidFill>
          </p:grpSpPr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7C44AFA8-9DC0-97F3-B521-9CDF1C22B4A1}"/>
                  </a:ext>
                </a:extLst>
              </p:cNvPr>
              <p:cNvSpPr/>
              <p:nvPr/>
            </p:nvSpPr>
            <p:spPr>
              <a:xfrm>
                <a:off x="4857750" y="7810500"/>
                <a:ext cx="9525" cy="285750"/>
              </a:xfrm>
              <a:custGeom>
                <a:avLst/>
                <a:gdLst>
                  <a:gd name="csX0" fmla="*/ 510 w 9525"/>
                  <a:gd name="csY0" fmla="*/ 820 h 285750"/>
                  <a:gd name="csX1" fmla="*/ 510 w 9525"/>
                  <a:gd name="csY1" fmla="*/ 286570 h 2857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25" h="285750">
                    <a:moveTo>
                      <a:pt x="510" y="820"/>
                    </a:moveTo>
                    <a:lnTo>
                      <a:pt x="510" y="286570"/>
                    </a:lnTo>
                  </a:path>
                </a:pathLst>
              </a:custGeom>
              <a:ln w="23813" cap="flat">
                <a:solidFill>
                  <a:srgbClr val="10B981"/>
                </a:solidFill>
                <a:custDash>
                  <a:ds d="375000" sp="300000"/>
                </a:custDash>
                <a:miter/>
              </a:ln>
            </p:spPr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785B6D4-0BCA-C8F7-FA6B-C1CF4B06BABA}"/>
                  </a:ext>
                </a:extLst>
              </p:cNvPr>
              <p:cNvSpPr/>
              <p:nvPr/>
            </p:nvSpPr>
            <p:spPr>
              <a:xfrm>
                <a:off x="4810125" y="8048625"/>
                <a:ext cx="95250" cy="76200"/>
              </a:xfrm>
              <a:custGeom>
                <a:avLst/>
                <a:gdLst>
                  <a:gd name="csX0" fmla="*/ 510 w 95250"/>
                  <a:gd name="csY0" fmla="*/ 820 h 76200"/>
                  <a:gd name="csX1" fmla="*/ 48135 w 95250"/>
                  <a:gd name="csY1" fmla="*/ 77020 h 76200"/>
                  <a:gd name="csX2" fmla="*/ 95760 w 95250"/>
                  <a:gd name="csY2" fmla="*/ 820 h 76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5250" h="76200">
                    <a:moveTo>
                      <a:pt x="510" y="820"/>
                    </a:moveTo>
                    <a:lnTo>
                      <a:pt x="48135" y="77020"/>
                    </a:lnTo>
                    <a:lnTo>
                      <a:pt x="95760" y="820"/>
                    </a:lnTo>
                    <a:close/>
                  </a:path>
                </a:pathLst>
              </a:custGeom>
              <a:solidFill>
                <a:srgbClr val="10B981"/>
              </a:solidFill>
              <a:ln w="9525" cap="flat">
                <a:noFill/>
                <a:prstDash val="solid"/>
                <a:miter/>
              </a:ln>
            </p:spPr>
          </p:sp>
        </p:grpSp>
        <p:grpSp>
          <p:nvGrpSpPr>
            <p:cNvPr id="101" name="Graphic 26">
              <a:extLst>
                <a:ext uri="{FF2B5EF4-FFF2-40B4-BE49-F238E27FC236}">
                  <a16:creationId xmlns:a16="http://schemas.microsoft.com/office/drawing/2014/main" id="{FF312D76-5293-BCFD-8F1B-C229B34137F1}"/>
                </a:ext>
              </a:extLst>
            </p:cNvPr>
            <p:cNvGrpSpPr/>
            <p:nvPr/>
          </p:nvGrpSpPr>
          <p:grpSpPr>
            <a:xfrm>
              <a:off x="952500" y="8143875"/>
              <a:ext cx="7810500" cy="1381125"/>
              <a:chOff x="952500" y="8143875"/>
              <a:chExt cx="7810500" cy="1381125"/>
            </a:xfrm>
          </p:grpSpPr>
          <p:sp>
            <p:nvSpPr>
              <p:cNvPr id="102" name="Rectangle: Rounded Corners 101">
                <a:extLst>
                  <a:ext uri="{FF2B5EF4-FFF2-40B4-BE49-F238E27FC236}">
                    <a16:creationId xmlns:a16="http://schemas.microsoft.com/office/drawing/2014/main" id="{8050BA38-13DC-02DA-4B1C-20DE95BFF7AC}"/>
                  </a:ext>
                </a:extLst>
              </p:cNvPr>
              <p:cNvSpPr/>
              <p:nvPr/>
            </p:nvSpPr>
            <p:spPr>
              <a:xfrm>
                <a:off x="952500" y="8143875"/>
                <a:ext cx="7810500" cy="1381125"/>
              </a:xfrm>
              <a:prstGeom prst="roundRect">
                <a:avLst>
                  <a:gd name="adj" fmla="val 5517"/>
                </a:avLst>
              </a:prstGeom>
              <a:gradFill>
                <a:gsLst>
                  <a:gs pos="0">
                    <a:srgbClr val="1F2937">
                      <a:alpha val="89804"/>
                    </a:srgbClr>
                  </a:gs>
                  <a:gs pos="50000">
                    <a:srgbClr val="18202F">
                      <a:alpha val="92157"/>
                    </a:srgbClr>
                  </a:gs>
                  <a:gs pos="100000">
                    <a:srgbClr val="111827">
                      <a:alpha val="94902"/>
                    </a:srgbClr>
                  </a:gs>
                </a:gsLst>
                <a:lin ang="5400000" scaled="1"/>
              </a:gradFill>
              <a:ln w="19050" cap="flat">
                <a:solidFill>
                  <a:srgbClr val="F59E0B"/>
                </a:solidFill>
                <a:prstDash val="solid"/>
                <a:miter/>
              </a:ln>
            </p:spPr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C81E6224-9D2B-C694-A456-BD867B9C3F6F}"/>
                  </a:ext>
                </a:extLst>
              </p:cNvPr>
              <p:cNvSpPr txBox="1"/>
              <p:nvPr/>
            </p:nvSpPr>
            <p:spPr>
              <a:xfrm>
                <a:off x="3855938" y="8206939"/>
                <a:ext cx="2117973" cy="2985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200" b="1" spc="150" baseline="0">
                    <a:ln/>
                    <a:solidFill>
                      <a:srgbClr val="FBBF24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/>
                    <a:rtl val="0"/>
                  </a:rPr>
                  <a:t>DASHBOARD LAYER</a:t>
                </a:r>
              </a:p>
            </p:txBody>
          </p:sp>
          <p:grpSp>
            <p:nvGrpSpPr>
              <p:cNvPr id="104" name="Graphic 26">
                <a:extLst>
                  <a:ext uri="{FF2B5EF4-FFF2-40B4-BE49-F238E27FC236}">
                    <a16:creationId xmlns:a16="http://schemas.microsoft.com/office/drawing/2014/main" id="{1D9CF1DF-7C23-8306-8C8E-F214F7CA66D8}"/>
                  </a:ext>
                </a:extLst>
              </p:cNvPr>
              <p:cNvGrpSpPr/>
              <p:nvPr/>
            </p:nvGrpSpPr>
            <p:grpSpPr>
              <a:xfrm>
                <a:off x="1333500" y="8505825"/>
                <a:ext cx="7048500" cy="857250"/>
                <a:chOff x="1333500" y="8505825"/>
                <a:chExt cx="7048500" cy="857250"/>
              </a:xfrm>
            </p:grpSpPr>
            <p:sp>
              <p:nvSpPr>
                <p:cNvPr id="105" name="Rectangle: Rounded Corners 104">
                  <a:extLst>
                    <a:ext uri="{FF2B5EF4-FFF2-40B4-BE49-F238E27FC236}">
                      <a16:creationId xmlns:a16="http://schemas.microsoft.com/office/drawing/2014/main" id="{88D22974-915F-1A2F-6BC0-37A1753F3FDE}"/>
                    </a:ext>
                  </a:extLst>
                </p:cNvPr>
                <p:cNvSpPr/>
                <p:nvPr/>
              </p:nvSpPr>
              <p:spPr>
                <a:xfrm>
                  <a:off x="1333500" y="8505825"/>
                  <a:ext cx="7048500" cy="857250"/>
                </a:xfrm>
                <a:prstGeom prst="roundRect">
                  <a:avLst>
                    <a:gd name="adj" fmla="val 6666"/>
                  </a:avLst>
                </a:prstGeom>
                <a:solidFill>
                  <a:srgbClr val="111827"/>
                </a:solidFill>
                <a:ln w="9525" cap="flat">
                  <a:solidFill>
                    <a:srgbClr val="374151"/>
                  </a:solidFill>
                  <a:prstDash val="solid"/>
                  <a:miter/>
                </a:ln>
              </p:spPr>
            </p:sp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6C1C9986-A643-CE81-8C82-19E92C3BEF65}"/>
                    </a:ext>
                  </a:extLst>
                </p:cNvPr>
                <p:cNvSpPr txBox="1"/>
                <p:nvPr/>
              </p:nvSpPr>
              <p:spPr>
                <a:xfrm>
                  <a:off x="3395665" y="8534528"/>
                  <a:ext cx="2937328" cy="2985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N" sz="1200" b="1" spc="0" baseline="0">
                      <a:ln/>
                      <a:solidFill>
                        <a:srgbClr val="F3F4F6"/>
                      </a:solidFill>
                      <a:latin typeface="Arial" panose="020B0604020202020204" pitchFamily="34" charset="0"/>
                      <a:ea typeface="Segoe UI Emoji"/>
                      <a:cs typeface="Arial" panose="020B0604020202020204" pitchFamily="34" charset="0"/>
                      <a:sym typeface="Segoe UI Emoji"/>
                      <a:rtl val="0"/>
                    </a:rPr>
                    <a:t>📈</a:t>
                  </a:r>
                  <a:r>
                    <a:rPr lang="en-IN" sz="1200" b="1" spc="0" baseline="0">
                      <a:ln/>
                      <a:solidFill>
                        <a:srgbClr val="F3F4F6"/>
                      </a:solidFill>
                      <a:latin typeface="Arial" panose="020B0604020202020204" pitchFamily="34" charset="0"/>
                      <a:ea typeface="Segoe UI Emoji"/>
                      <a:cs typeface="Arial" panose="020B0604020202020204" pitchFamily="34" charset="0"/>
                      <a:sym typeface="Arial"/>
                      <a:rtl val="0"/>
                    </a:rPr>
                    <a:t> Streamlit Dashboard Application</a:t>
                  </a:r>
                </a:p>
              </p:txBody>
            </p:sp>
            <p:grpSp>
              <p:nvGrpSpPr>
                <p:cNvPr id="107" name="Graphic 26">
                  <a:extLst>
                    <a:ext uri="{FF2B5EF4-FFF2-40B4-BE49-F238E27FC236}">
                      <a16:creationId xmlns:a16="http://schemas.microsoft.com/office/drawing/2014/main" id="{C078E610-5AD3-3C8C-C3BF-9D6E49076C45}"/>
                    </a:ext>
                  </a:extLst>
                </p:cNvPr>
                <p:cNvGrpSpPr/>
                <p:nvPr/>
              </p:nvGrpSpPr>
              <p:grpSpPr>
                <a:xfrm>
                  <a:off x="1617898" y="8886825"/>
                  <a:ext cx="6541296" cy="301666"/>
                  <a:chOff x="1617898" y="8886825"/>
                  <a:chExt cx="6541296" cy="301666"/>
                </a:xfrm>
              </p:grpSpPr>
              <p:sp>
                <p:nvSpPr>
                  <p:cNvPr id="108" name="Rectangle: Rounded Corners 107">
                    <a:extLst>
                      <a:ext uri="{FF2B5EF4-FFF2-40B4-BE49-F238E27FC236}">
                        <a16:creationId xmlns:a16="http://schemas.microsoft.com/office/drawing/2014/main" id="{D48DD6D7-B9B1-D168-4A88-230167AE0A1A}"/>
                      </a:ext>
                    </a:extLst>
                  </p:cNvPr>
                  <p:cNvSpPr/>
                  <p:nvPr/>
                </p:nvSpPr>
                <p:spPr>
                  <a:xfrm>
                    <a:off x="1619250" y="8886825"/>
                    <a:ext cx="1428750" cy="2476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1E293B"/>
                  </a:solidFill>
                  <a:ln w="9525" cap="flat">
                    <a:solidFill>
                      <a:srgbClr val="F59E0B"/>
                    </a:solidFill>
                    <a:prstDash val="solid"/>
                    <a:miter/>
                  </a:ln>
                </p:spPr>
              </p:sp>
              <p:sp>
                <p:nvSpPr>
                  <p:cNvPr id="109" name="TextBox 108">
                    <a:extLst>
                      <a:ext uri="{FF2B5EF4-FFF2-40B4-BE49-F238E27FC236}">
                        <a16:creationId xmlns:a16="http://schemas.microsoft.com/office/drawing/2014/main" id="{1DA13483-EBB7-FD4D-0900-1F2B3341F3A5}"/>
                      </a:ext>
                    </a:extLst>
                  </p:cNvPr>
                  <p:cNvSpPr txBox="1"/>
                  <p:nvPr/>
                </p:nvSpPr>
                <p:spPr>
                  <a:xfrm>
                    <a:off x="1617898" y="8889967"/>
                    <a:ext cx="1430450" cy="29852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IN" sz="1200" b="1" spc="0" baseline="0">
                        <a:ln/>
                        <a:solidFill>
                          <a:srgbClr val="FDE68A"/>
                        </a:solidFill>
                        <a:latin typeface="Arial" panose="020B0604020202020204" pitchFamily="34" charset="0"/>
                        <a:ea typeface="Segoe UI Emoji"/>
                        <a:cs typeface="Arial" panose="020B0604020202020204" pitchFamily="34" charset="0"/>
                        <a:sym typeface="Segoe UI Emoji"/>
                        <a:rtl val="0"/>
                      </a:rPr>
                      <a:t>☁️</a:t>
                    </a:r>
                    <a:r>
                      <a:rPr lang="en-IN" sz="1200" b="1" spc="0" baseline="0">
                        <a:ln/>
                        <a:solidFill>
                          <a:srgbClr val="FDE68A"/>
                        </a:solidFill>
                        <a:latin typeface="Arial" panose="020B0604020202020204" pitchFamily="34" charset="0"/>
                        <a:ea typeface="Segoe UI Emoji"/>
                        <a:cs typeface="Arial" panose="020B0604020202020204" pitchFamily="34" charset="0"/>
                        <a:sym typeface="Arial"/>
                        <a:rtl val="0"/>
                      </a:rPr>
                      <a:t> Azure Status</a:t>
                    </a:r>
                  </a:p>
                </p:txBody>
              </p:sp>
              <p:sp>
                <p:nvSpPr>
                  <p:cNvPr id="110" name="Rectangle: Rounded Corners 109">
                    <a:extLst>
                      <a:ext uri="{FF2B5EF4-FFF2-40B4-BE49-F238E27FC236}">
                        <a16:creationId xmlns:a16="http://schemas.microsoft.com/office/drawing/2014/main" id="{34857A98-16A2-6795-8A80-D52CED52A392}"/>
                      </a:ext>
                    </a:extLst>
                  </p:cNvPr>
                  <p:cNvSpPr/>
                  <p:nvPr/>
                </p:nvSpPr>
                <p:spPr>
                  <a:xfrm>
                    <a:off x="3238500" y="8886825"/>
                    <a:ext cx="1524000" cy="2476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1E293B"/>
                  </a:solidFill>
                  <a:ln w="9525" cap="flat">
                    <a:solidFill>
                      <a:srgbClr val="F59E0B"/>
                    </a:solidFill>
                    <a:prstDash val="solid"/>
                    <a:miter/>
                  </a:ln>
                </p:spPr>
              </p:sp>
              <p:sp>
                <p:nvSpPr>
                  <p:cNvPr id="111" name="TextBox 110">
                    <a:extLst>
                      <a:ext uri="{FF2B5EF4-FFF2-40B4-BE49-F238E27FC236}">
                        <a16:creationId xmlns:a16="http://schemas.microsoft.com/office/drawing/2014/main" id="{8F7C5605-91B4-6D13-1967-A2FF4C54F518}"/>
                      </a:ext>
                    </a:extLst>
                  </p:cNvPr>
                  <p:cNvSpPr txBox="1"/>
                  <p:nvPr/>
                </p:nvSpPr>
                <p:spPr>
                  <a:xfrm>
                    <a:off x="3238745" y="8889967"/>
                    <a:ext cx="1522231" cy="29852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IN" sz="1200" b="1" spc="0" baseline="0">
                        <a:ln/>
                        <a:solidFill>
                          <a:srgbClr val="FDE68A"/>
                        </a:solidFill>
                        <a:latin typeface="Arial" panose="020B0604020202020204" pitchFamily="34" charset="0"/>
                        <a:ea typeface="Segoe UI Emoji"/>
                        <a:cs typeface="Arial" panose="020B0604020202020204" pitchFamily="34" charset="0"/>
                        <a:sym typeface="Segoe UI Emoji"/>
                        <a:rtl val="0"/>
                      </a:rPr>
                      <a:t>📈</a:t>
                    </a:r>
                    <a:r>
                      <a:rPr lang="en-IN" sz="1200" b="1" spc="0" baseline="0">
                        <a:ln/>
                        <a:solidFill>
                          <a:srgbClr val="FDE68A"/>
                        </a:solidFill>
                        <a:latin typeface="Arial" panose="020B0604020202020204" pitchFamily="34" charset="0"/>
                        <a:ea typeface="Segoe UI Emoji"/>
                        <a:cs typeface="Arial" panose="020B0604020202020204" pitchFamily="34" charset="0"/>
                        <a:sym typeface="Arial"/>
                        <a:rtl val="0"/>
                      </a:rPr>
                      <a:t> Visualizations</a:t>
                    </a:r>
                  </a:p>
                </p:txBody>
              </p:sp>
              <p:sp>
                <p:nvSpPr>
                  <p:cNvPr id="112" name="Rectangle: Rounded Corners 111">
                    <a:extLst>
                      <a:ext uri="{FF2B5EF4-FFF2-40B4-BE49-F238E27FC236}">
                        <a16:creationId xmlns:a16="http://schemas.microsoft.com/office/drawing/2014/main" id="{11900AD4-6F01-3834-3179-5C857E936D97}"/>
                      </a:ext>
                    </a:extLst>
                  </p:cNvPr>
                  <p:cNvSpPr/>
                  <p:nvPr/>
                </p:nvSpPr>
                <p:spPr>
                  <a:xfrm>
                    <a:off x="4953000" y="8886825"/>
                    <a:ext cx="1524000" cy="2476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1E293B"/>
                  </a:solidFill>
                  <a:ln w="9525" cap="flat">
                    <a:solidFill>
                      <a:srgbClr val="F59E0B"/>
                    </a:solidFill>
                    <a:prstDash val="solid"/>
                    <a:miter/>
                  </a:ln>
                </p:spPr>
              </p:sp>
              <p:sp>
                <p:nvSpPr>
                  <p:cNvPr id="113" name="TextBox 112">
                    <a:extLst>
                      <a:ext uri="{FF2B5EF4-FFF2-40B4-BE49-F238E27FC236}">
                        <a16:creationId xmlns:a16="http://schemas.microsoft.com/office/drawing/2014/main" id="{78E859E3-3490-7E0F-CC4F-1142A0A02ED1}"/>
                      </a:ext>
                    </a:extLst>
                  </p:cNvPr>
                  <p:cNvSpPr txBox="1"/>
                  <p:nvPr/>
                </p:nvSpPr>
                <p:spPr>
                  <a:xfrm>
                    <a:off x="4912505" y="8889967"/>
                    <a:ext cx="1602331" cy="29852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IN" sz="1200" b="1" spc="0" baseline="0">
                        <a:ln/>
                        <a:solidFill>
                          <a:srgbClr val="FDE68A"/>
                        </a:solidFill>
                        <a:latin typeface="Arial" panose="020B0604020202020204" pitchFamily="34" charset="0"/>
                        <a:ea typeface="Segoe UI Emoji"/>
                        <a:cs typeface="Arial" panose="020B0604020202020204" pitchFamily="34" charset="0"/>
                        <a:sym typeface="Segoe UI Emoji"/>
                        <a:rtl val="0"/>
                      </a:rPr>
                      <a:t>🎯</a:t>
                    </a:r>
                    <a:r>
                      <a:rPr lang="en-IN" sz="1200" b="1" spc="0" baseline="0">
                        <a:ln/>
                        <a:solidFill>
                          <a:srgbClr val="FDE68A"/>
                        </a:solidFill>
                        <a:latin typeface="Arial" panose="020B0604020202020204" pitchFamily="34" charset="0"/>
                        <a:ea typeface="Segoe UI Emoji"/>
                        <a:cs typeface="Arial" panose="020B0604020202020204" pitchFamily="34" charset="0"/>
                        <a:sym typeface="Arial"/>
                        <a:rtl val="0"/>
                      </a:rPr>
                      <a:t> Live Prediction</a:t>
                    </a:r>
                  </a:p>
                </p:txBody>
              </p:sp>
              <p:sp>
                <p:nvSpPr>
                  <p:cNvPr id="114" name="Rectangle: Rounded Corners 113">
                    <a:extLst>
                      <a:ext uri="{FF2B5EF4-FFF2-40B4-BE49-F238E27FC236}">
                        <a16:creationId xmlns:a16="http://schemas.microsoft.com/office/drawing/2014/main" id="{0CB042EE-5202-0C6C-5466-5BB60F54125D}"/>
                      </a:ext>
                    </a:extLst>
                  </p:cNvPr>
                  <p:cNvSpPr/>
                  <p:nvPr/>
                </p:nvSpPr>
                <p:spPr>
                  <a:xfrm>
                    <a:off x="6667500" y="8886825"/>
                    <a:ext cx="1428750" cy="2476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1E293B"/>
                  </a:solidFill>
                  <a:ln w="9525" cap="flat">
                    <a:solidFill>
                      <a:srgbClr val="F59E0B"/>
                    </a:solidFill>
                    <a:prstDash val="solid"/>
                    <a:miter/>
                  </a:ln>
                </p:spPr>
              </p:sp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84DA42CF-DDC6-594E-E4F6-40C26A0DEFD8}"/>
                      </a:ext>
                    </a:extLst>
                  </p:cNvPr>
                  <p:cNvSpPr txBox="1"/>
                  <p:nvPr/>
                </p:nvSpPr>
                <p:spPr>
                  <a:xfrm>
                    <a:off x="6605256" y="8889967"/>
                    <a:ext cx="1553938" cy="29852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IN" sz="1200" b="1" spc="0" baseline="0">
                        <a:ln/>
                        <a:solidFill>
                          <a:srgbClr val="FDE68A"/>
                        </a:solidFill>
                        <a:latin typeface="Arial" panose="020B0604020202020204" pitchFamily="34" charset="0"/>
                        <a:ea typeface="Segoe UI Emoji"/>
                        <a:cs typeface="Arial" panose="020B0604020202020204" pitchFamily="34" charset="0"/>
                        <a:sym typeface="Segoe UI Emoji"/>
                        <a:rtl val="0"/>
                      </a:rPr>
                      <a:t>⚙️</a:t>
                    </a:r>
                    <a:r>
                      <a:rPr lang="en-IN" sz="1200" b="1" spc="0" baseline="0">
                        <a:ln/>
                        <a:solidFill>
                          <a:srgbClr val="FDE68A"/>
                        </a:solidFill>
                        <a:latin typeface="Arial" panose="020B0604020202020204" pitchFamily="34" charset="0"/>
                        <a:ea typeface="Segoe UI Emoji"/>
                        <a:cs typeface="Arial" panose="020B0604020202020204" pitchFamily="34" charset="0"/>
                        <a:sym typeface="Arial"/>
                        <a:rtl val="0"/>
                      </a:rPr>
                      <a:t> System Status</a:t>
                    </a:r>
                  </a:p>
                </p:txBody>
              </p:sp>
            </p:grpSp>
          </p:grpSp>
        </p:grpSp>
      </p:grpSp>
      <p:grpSp>
        <p:nvGrpSpPr>
          <p:cNvPr id="116" name="Graphic 26">
            <a:extLst>
              <a:ext uri="{FF2B5EF4-FFF2-40B4-BE49-F238E27FC236}">
                <a16:creationId xmlns:a16="http://schemas.microsoft.com/office/drawing/2014/main" id="{9E375216-BFA4-6104-97B8-6FA2F3ACDAE8}"/>
              </a:ext>
            </a:extLst>
          </p:cNvPr>
          <p:cNvGrpSpPr/>
          <p:nvPr/>
        </p:nvGrpSpPr>
        <p:grpSpPr>
          <a:xfrm>
            <a:off x="9429750" y="1679606"/>
            <a:ext cx="7931018" cy="8131144"/>
            <a:chOff x="9429750" y="1047750"/>
            <a:chExt cx="8286750" cy="8763000"/>
          </a:xfrm>
        </p:grpSpPr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68CB9A6C-5193-9D54-ECEF-81CCA4729413}"/>
                </a:ext>
              </a:extLst>
            </p:cNvPr>
            <p:cNvSpPr/>
            <p:nvPr/>
          </p:nvSpPr>
          <p:spPr>
            <a:xfrm>
              <a:off x="9429750" y="1047750"/>
              <a:ext cx="8286750" cy="8763000"/>
            </a:xfrm>
            <a:prstGeom prst="roundRect">
              <a:avLst>
                <a:gd name="adj" fmla="val 1609"/>
              </a:avLst>
            </a:prstGeom>
            <a:solidFill>
              <a:srgbClr val="0D1117"/>
            </a:solidFill>
            <a:ln w="19050" cap="flat">
              <a:solidFill>
                <a:srgbClr val="30363D"/>
              </a:solidFill>
              <a:prstDash val="solid"/>
              <a:miter/>
            </a:ln>
          </p:spPr>
        </p:sp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DE89CE88-A0C7-314D-6274-5A8F3D23282A}"/>
                </a:ext>
              </a:extLst>
            </p:cNvPr>
            <p:cNvSpPr/>
            <p:nvPr/>
          </p:nvSpPr>
          <p:spPr>
            <a:xfrm>
              <a:off x="9429750" y="1047750"/>
              <a:ext cx="8286750" cy="400050"/>
            </a:xfrm>
            <a:prstGeom prst="roundRect">
              <a:avLst>
                <a:gd name="adj" fmla="val 33333"/>
              </a:avLst>
            </a:prstGeom>
            <a:solidFill>
              <a:srgbClr val="161B22"/>
            </a:solidFill>
            <a:ln w="9525" cap="flat">
              <a:noFill/>
              <a:prstDash val="solid"/>
              <a:miter/>
            </a:ln>
          </p:spPr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7C607CCA-B7B6-9C0B-B98E-1380D66B99AC}"/>
                </a:ext>
              </a:extLst>
            </p:cNvPr>
            <p:cNvSpPr/>
            <p:nvPr/>
          </p:nvSpPr>
          <p:spPr>
            <a:xfrm>
              <a:off x="9429750" y="1314450"/>
              <a:ext cx="8286750" cy="133350"/>
            </a:xfrm>
            <a:prstGeom prst="rect">
              <a:avLst/>
            </a:prstGeom>
            <a:solidFill>
              <a:srgbClr val="161B22"/>
            </a:solidFill>
            <a:ln w="9525" cap="flat">
              <a:noFill/>
              <a:prstDash val="solid"/>
              <a:miter/>
            </a:ln>
          </p:spPr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DA209984-2F09-2287-69B5-1FDC32FE3E61}"/>
                </a:ext>
              </a:extLst>
            </p:cNvPr>
            <p:cNvSpPr/>
            <p:nvPr/>
          </p:nvSpPr>
          <p:spPr>
            <a:xfrm>
              <a:off x="9572625" y="1200150"/>
              <a:ext cx="95250" cy="95250"/>
            </a:xfrm>
            <a:prstGeom prst="ellipse">
              <a:avLst/>
            </a:prstGeom>
            <a:solidFill>
              <a:srgbClr val="ED6A5E"/>
            </a:solidFill>
            <a:ln w="9525" cap="flat">
              <a:noFill/>
              <a:prstDash val="solid"/>
              <a:miter/>
            </a:ln>
          </p:spPr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3EB6B023-282E-76D2-8509-4B21082DC3EF}"/>
                </a:ext>
              </a:extLst>
            </p:cNvPr>
            <p:cNvSpPr/>
            <p:nvPr/>
          </p:nvSpPr>
          <p:spPr>
            <a:xfrm>
              <a:off x="9725025" y="1200150"/>
              <a:ext cx="95250" cy="95250"/>
            </a:xfrm>
            <a:prstGeom prst="ellipse">
              <a:avLst/>
            </a:prstGeom>
            <a:solidFill>
              <a:srgbClr val="F5BF4F"/>
            </a:solidFill>
            <a:ln w="9525" cap="flat">
              <a:noFill/>
              <a:prstDash val="solid"/>
              <a:miter/>
            </a:ln>
          </p:spPr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9652D323-3080-B162-F8B1-B317AE81391D}"/>
                </a:ext>
              </a:extLst>
            </p:cNvPr>
            <p:cNvSpPr/>
            <p:nvPr/>
          </p:nvSpPr>
          <p:spPr>
            <a:xfrm>
              <a:off x="9877425" y="1200150"/>
              <a:ext cx="95250" cy="95250"/>
            </a:xfrm>
            <a:prstGeom prst="ellipse">
              <a:avLst/>
            </a:prstGeom>
            <a:solidFill>
              <a:srgbClr val="62C554"/>
            </a:solidFill>
            <a:ln w="9525" cap="flat">
              <a:noFill/>
              <a:prstDash val="solid"/>
              <a:miter/>
            </a:ln>
          </p:spPr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8579F93-BD97-9822-C429-0982A51A2C2E}"/>
                </a:ext>
              </a:extLst>
            </p:cNvPr>
            <p:cNvSpPr txBox="1"/>
            <p:nvPr/>
          </p:nvSpPr>
          <p:spPr>
            <a:xfrm>
              <a:off x="12246306" y="1137584"/>
              <a:ext cx="2653636" cy="229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975" spc="0" baseline="0">
                  <a:ln/>
                  <a:solidFill>
                    <a:srgbClr val="8B949E"/>
                  </a:solidFill>
                  <a:latin typeface="Arial"/>
                  <a:cs typeface="Arial"/>
                  <a:sym typeface="Arial"/>
                  <a:rtl val="0"/>
                </a:rPr>
                <a:t>Actual Streamlit Implementation Screenshots</a:t>
              </a:r>
            </a:p>
          </p:txBody>
        </p:sp>
        <p:grpSp>
          <p:nvGrpSpPr>
            <p:cNvPr id="124" name="Graphic 26">
              <a:extLst>
                <a:ext uri="{FF2B5EF4-FFF2-40B4-BE49-F238E27FC236}">
                  <a16:creationId xmlns:a16="http://schemas.microsoft.com/office/drawing/2014/main" id="{1564E297-7FAB-C240-E7EE-5F1CB09C58B0}"/>
                </a:ext>
              </a:extLst>
            </p:cNvPr>
            <p:cNvGrpSpPr/>
            <p:nvPr/>
          </p:nvGrpSpPr>
          <p:grpSpPr>
            <a:xfrm>
              <a:off x="9715500" y="1619250"/>
              <a:ext cx="7715250" cy="857250"/>
              <a:chOff x="9715500" y="1619250"/>
              <a:chExt cx="7715250" cy="857250"/>
            </a:xfrm>
          </p:grpSpPr>
          <p:sp>
            <p:nvSpPr>
              <p:cNvPr id="125" name="Rectangle: Rounded Corners 124">
                <a:extLst>
                  <a:ext uri="{FF2B5EF4-FFF2-40B4-BE49-F238E27FC236}">
                    <a16:creationId xmlns:a16="http://schemas.microsoft.com/office/drawing/2014/main" id="{60136DD9-6C2E-01A1-9968-9F1E76A4F151}"/>
                  </a:ext>
                </a:extLst>
              </p:cNvPr>
              <p:cNvSpPr/>
              <p:nvPr/>
            </p:nvSpPr>
            <p:spPr>
              <a:xfrm>
                <a:off x="9715500" y="1619250"/>
                <a:ext cx="7715250" cy="857250"/>
              </a:xfrm>
              <a:prstGeom prst="roundRect">
                <a:avLst>
                  <a:gd name="adj" fmla="val 8888"/>
                </a:avLst>
              </a:prstGeom>
              <a:solidFill>
                <a:srgbClr val="161B22"/>
              </a:solidFill>
              <a:ln w="9525" cap="flat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5E5E5DD8-1E87-1756-AC1C-2E7FACE27343}"/>
                  </a:ext>
                </a:extLst>
              </p:cNvPr>
              <p:cNvSpPr txBox="1"/>
              <p:nvPr/>
            </p:nvSpPr>
            <p:spPr>
              <a:xfrm>
                <a:off x="9766935" y="1679607"/>
                <a:ext cx="1759862" cy="2191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900" b="1" spc="0" baseline="0" dirty="0">
                    <a:ln/>
                    <a:solidFill>
                      <a:srgbClr val="8B949E"/>
                    </a:solidFill>
                    <a:latin typeface="Arial"/>
                    <a:cs typeface="Arial"/>
                    <a:sym typeface="Arial"/>
                    <a:rtl val="0"/>
                  </a:rPr>
                  <a:t>1. AZURE STATUS CAPTURE</a:t>
                </a:r>
              </a:p>
            </p:txBody>
          </p:sp>
          <p:grpSp>
            <p:nvGrpSpPr>
              <p:cNvPr id="127" name="Graphic 26">
                <a:extLst>
                  <a:ext uri="{FF2B5EF4-FFF2-40B4-BE49-F238E27FC236}">
                    <a16:creationId xmlns:a16="http://schemas.microsoft.com/office/drawing/2014/main" id="{748E7959-9130-3FE9-6B45-3B79681A3467}"/>
                  </a:ext>
                </a:extLst>
              </p:cNvPr>
              <p:cNvGrpSpPr/>
              <p:nvPr/>
            </p:nvGrpSpPr>
            <p:grpSpPr>
              <a:xfrm>
                <a:off x="9858375" y="1905000"/>
                <a:ext cx="7429500" cy="428625"/>
                <a:chOff x="9858375" y="1905000"/>
                <a:chExt cx="7429500" cy="428625"/>
              </a:xfrm>
            </p:grpSpPr>
            <p:sp>
              <p:nvSpPr>
                <p:cNvPr id="128" name="Rectangle: Rounded Corners 127">
                  <a:extLst>
                    <a:ext uri="{FF2B5EF4-FFF2-40B4-BE49-F238E27FC236}">
                      <a16:creationId xmlns:a16="http://schemas.microsoft.com/office/drawing/2014/main" id="{8DAB6A17-F3BA-39C7-8D75-607622F5B1AF}"/>
                    </a:ext>
                  </a:extLst>
                </p:cNvPr>
                <p:cNvSpPr/>
                <p:nvPr/>
              </p:nvSpPr>
              <p:spPr>
                <a:xfrm>
                  <a:off x="9858375" y="1905000"/>
                  <a:ext cx="7429500" cy="428625"/>
                </a:xfrm>
                <a:prstGeom prst="roundRect">
                  <a:avLst>
                    <a:gd name="adj" fmla="val 13333"/>
                  </a:avLst>
                </a:prstGeom>
                <a:solidFill>
                  <a:srgbClr val="064E3B"/>
                </a:solidFill>
                <a:ln w="14288" cap="flat">
                  <a:solidFill>
                    <a:srgbClr val="10B981"/>
                  </a:solidFill>
                  <a:prstDash val="solid"/>
                  <a:miter/>
                </a:ln>
              </p:spPr>
            </p:sp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A0A7D157-A099-7891-C8D1-848F8CBBB9E9}"/>
                    </a:ext>
                  </a:extLst>
                </p:cNvPr>
                <p:cNvSpPr txBox="1"/>
                <p:nvPr/>
              </p:nvSpPr>
              <p:spPr>
                <a:xfrm>
                  <a:off x="9957435" y="1972556"/>
                  <a:ext cx="3522276" cy="2688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050" b="1" spc="0" baseline="0">
                      <a:ln/>
                      <a:solidFill>
                        <a:srgbClr val="34D399"/>
                      </a:solidFill>
                      <a:latin typeface="Segoe UI Emoji"/>
                      <a:ea typeface="Segoe UI Emoji"/>
                      <a:sym typeface="Segoe UI Emoji"/>
                      <a:rtl val="0"/>
                    </a:rPr>
                    <a:t>☁️</a:t>
                  </a:r>
                  <a:r>
                    <a:rPr lang="en-IN" sz="1050" b="1" spc="0" baseline="0">
                      <a:ln/>
                      <a:solidFill>
                        <a:srgbClr val="34D399"/>
                      </a:solidFill>
                      <a:latin typeface="Arial"/>
                      <a:ea typeface="Segoe UI Emoji"/>
                      <a:cs typeface="Arial"/>
                      <a:sym typeface="Arial"/>
                      <a:rtl val="0"/>
                    </a:rPr>
                    <a:t> Azure Blob Storage: Connected / Results Loaded</a:t>
                  </a:r>
                </a:p>
              </p:txBody>
            </p:sp>
          </p:grpSp>
        </p:grpSp>
        <p:grpSp>
          <p:nvGrpSpPr>
            <p:cNvPr id="130" name="Graphic 26">
              <a:extLst>
                <a:ext uri="{FF2B5EF4-FFF2-40B4-BE49-F238E27FC236}">
                  <a16:creationId xmlns:a16="http://schemas.microsoft.com/office/drawing/2014/main" id="{3795EB96-80DA-5D9F-7ACD-B7966FA3C6FE}"/>
                </a:ext>
              </a:extLst>
            </p:cNvPr>
            <p:cNvGrpSpPr/>
            <p:nvPr/>
          </p:nvGrpSpPr>
          <p:grpSpPr>
            <a:xfrm>
              <a:off x="9715500" y="2619375"/>
              <a:ext cx="7715250" cy="2238375"/>
              <a:chOff x="9715500" y="2619375"/>
              <a:chExt cx="7715250" cy="2238375"/>
            </a:xfrm>
          </p:grpSpPr>
          <p:sp>
            <p:nvSpPr>
              <p:cNvPr id="131" name="Rectangle: Rounded Corners 130">
                <a:extLst>
                  <a:ext uri="{FF2B5EF4-FFF2-40B4-BE49-F238E27FC236}">
                    <a16:creationId xmlns:a16="http://schemas.microsoft.com/office/drawing/2014/main" id="{200E49B9-E07C-ADDC-5C4F-A964795E8D95}"/>
                  </a:ext>
                </a:extLst>
              </p:cNvPr>
              <p:cNvSpPr/>
              <p:nvPr/>
            </p:nvSpPr>
            <p:spPr>
              <a:xfrm>
                <a:off x="9715500" y="2619375"/>
                <a:ext cx="7715250" cy="2238375"/>
              </a:xfrm>
              <a:prstGeom prst="roundRect">
                <a:avLst>
                  <a:gd name="adj" fmla="val 3404"/>
                </a:avLst>
              </a:prstGeom>
              <a:solidFill>
                <a:srgbClr val="161B22"/>
              </a:solidFill>
              <a:ln w="9525" cap="flat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328D71B-87E6-C578-E2A3-BD7D6D9DC3D4}"/>
                  </a:ext>
                </a:extLst>
              </p:cNvPr>
              <p:cNvSpPr txBox="1"/>
              <p:nvPr/>
            </p:nvSpPr>
            <p:spPr>
              <a:xfrm>
                <a:off x="9766935" y="2679732"/>
                <a:ext cx="2263720" cy="2191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900" b="1" spc="0" baseline="0">
                    <a:ln/>
                    <a:solidFill>
                      <a:srgbClr val="8B949E"/>
                    </a:solidFill>
                    <a:latin typeface="Arial"/>
                    <a:cs typeface="Arial"/>
                    <a:sym typeface="Arial"/>
                    <a:rtl val="0"/>
                  </a:rPr>
                  <a:t>2. FEDERATED ACCURACY CAPTURE</a:t>
                </a:r>
              </a:p>
            </p:txBody>
          </p:sp>
          <p:grpSp>
            <p:nvGrpSpPr>
              <p:cNvPr id="133" name="Graphic 26">
                <a:extLst>
                  <a:ext uri="{FF2B5EF4-FFF2-40B4-BE49-F238E27FC236}">
                    <a16:creationId xmlns:a16="http://schemas.microsoft.com/office/drawing/2014/main" id="{B5933C27-F456-CDF6-BD2D-E23C63F5F6B9}"/>
                  </a:ext>
                </a:extLst>
              </p:cNvPr>
              <p:cNvGrpSpPr/>
              <p:nvPr/>
            </p:nvGrpSpPr>
            <p:grpSpPr>
              <a:xfrm>
                <a:off x="9858375" y="2905125"/>
                <a:ext cx="7429500" cy="1809750"/>
                <a:chOff x="9858375" y="2905125"/>
                <a:chExt cx="7429500" cy="1809750"/>
              </a:xfrm>
            </p:grpSpPr>
            <p:sp>
              <p:nvSpPr>
                <p:cNvPr id="134" name="Rectangle: Rounded Corners 133">
                  <a:extLst>
                    <a:ext uri="{FF2B5EF4-FFF2-40B4-BE49-F238E27FC236}">
                      <a16:creationId xmlns:a16="http://schemas.microsoft.com/office/drawing/2014/main" id="{BE8C0946-0959-9136-C4C7-270FF25D2112}"/>
                    </a:ext>
                  </a:extLst>
                </p:cNvPr>
                <p:cNvSpPr/>
                <p:nvPr/>
              </p:nvSpPr>
              <p:spPr>
                <a:xfrm>
                  <a:off x="9858375" y="2905125"/>
                  <a:ext cx="7429500" cy="1809750"/>
                </a:xfrm>
                <a:prstGeom prst="roundRect">
                  <a:avLst>
                    <a:gd name="adj" fmla="val 3157"/>
                  </a:avLst>
                </a:prstGeom>
                <a:solidFill>
                  <a:srgbClr val="0D1117"/>
                </a:solidFill>
                <a:ln w="9525" cap="flat">
                  <a:solidFill>
                    <a:srgbClr val="21262D"/>
                  </a:solidFill>
                  <a:prstDash val="solid"/>
                  <a:miter/>
                </a:ln>
              </p:spPr>
            </p:sp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24A0AED5-72A5-FE77-BD54-2DB9C29C786E}"/>
                    </a:ext>
                  </a:extLst>
                </p:cNvPr>
                <p:cNvSpPr txBox="1"/>
                <p:nvPr/>
              </p:nvSpPr>
              <p:spPr>
                <a:xfrm>
                  <a:off x="9957435" y="2943353"/>
                  <a:ext cx="2435723" cy="2814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125" b="1" spc="0" baseline="0">
                      <a:ln/>
                      <a:solidFill>
                        <a:srgbClr val="F0F6FC"/>
                      </a:solidFill>
                      <a:latin typeface="Segoe UI Emoji"/>
                      <a:ea typeface="Segoe UI Emoji"/>
                      <a:sym typeface="Segoe UI Emoji"/>
                      <a:rtl val="0"/>
                    </a:rPr>
                    <a:t>📈</a:t>
                  </a:r>
                  <a:r>
                    <a:rPr lang="en-IN" sz="1125" b="1" spc="0" baseline="0">
                      <a:ln/>
                      <a:solidFill>
                        <a:srgbClr val="F0F6FC"/>
                      </a:solidFill>
                      <a:latin typeface="Arial"/>
                      <a:ea typeface="Segoe UI Emoji"/>
                      <a:cs typeface="Arial"/>
                      <a:sym typeface="Arial"/>
                      <a:rtl val="0"/>
                    </a:rPr>
                    <a:t> Federated Learning Accuracy</a:t>
                  </a:r>
                </a:p>
              </p:txBody>
            </p:sp>
            <p:grpSp>
              <p:nvGrpSpPr>
                <p:cNvPr id="136" name="Graphic 26">
                  <a:extLst>
                    <a:ext uri="{FF2B5EF4-FFF2-40B4-BE49-F238E27FC236}">
                      <a16:creationId xmlns:a16="http://schemas.microsoft.com/office/drawing/2014/main" id="{755F338D-DC2F-0A87-7471-D9E4D63ECD8E}"/>
                    </a:ext>
                  </a:extLst>
                </p:cNvPr>
                <p:cNvGrpSpPr/>
                <p:nvPr/>
              </p:nvGrpSpPr>
              <p:grpSpPr>
                <a:xfrm>
                  <a:off x="10048875" y="3267075"/>
                  <a:ext cx="7239000" cy="381000"/>
                  <a:chOff x="10048875" y="3267075"/>
                  <a:chExt cx="7239000" cy="381000"/>
                </a:xfrm>
              </p:grpSpPr>
              <p:sp>
                <p:nvSpPr>
                  <p:cNvPr id="137" name="Rectangle: Rounded Corners 136">
                    <a:extLst>
                      <a:ext uri="{FF2B5EF4-FFF2-40B4-BE49-F238E27FC236}">
                        <a16:creationId xmlns:a16="http://schemas.microsoft.com/office/drawing/2014/main" id="{C9B46DFD-EAD1-B286-A623-B2CB7BEFB47B}"/>
                      </a:ext>
                    </a:extLst>
                  </p:cNvPr>
                  <p:cNvSpPr/>
                  <p:nvPr/>
                </p:nvSpPr>
                <p:spPr>
                  <a:xfrm>
                    <a:off x="10048875" y="3267075"/>
                    <a:ext cx="1619250" cy="381000"/>
                  </a:xfrm>
                  <a:prstGeom prst="roundRect">
                    <a:avLst>
                      <a:gd name="adj" fmla="val 10000"/>
                    </a:avLst>
                  </a:prstGeom>
                  <a:solidFill>
                    <a:srgbClr val="161B22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138" name="TextBox 137">
                    <a:extLst>
                      <a:ext uri="{FF2B5EF4-FFF2-40B4-BE49-F238E27FC236}">
                        <a16:creationId xmlns:a16="http://schemas.microsoft.com/office/drawing/2014/main" id="{AAFFB179-7A21-15E2-BD7C-169CF1D4AE31}"/>
                      </a:ext>
                    </a:extLst>
                  </p:cNvPr>
                  <p:cNvSpPr txBox="1"/>
                  <p:nvPr/>
                </p:nvSpPr>
                <p:spPr>
                  <a:xfrm>
                    <a:off x="10052685" y="3278002"/>
                    <a:ext cx="511185" cy="19785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750" spc="0" baseline="0">
                        <a:ln/>
                        <a:solidFill>
                          <a:srgbClr val="8B949E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Rounds</a:t>
                    </a:r>
                  </a:p>
                </p:txBody>
              </p:sp>
              <p:sp>
                <p:nvSpPr>
                  <p:cNvPr id="139" name="TextBox 138">
                    <a:extLst>
                      <a:ext uri="{FF2B5EF4-FFF2-40B4-BE49-F238E27FC236}">
                        <a16:creationId xmlns:a16="http://schemas.microsoft.com/office/drawing/2014/main" id="{6AFBD25A-2671-8ADD-6701-A70DCFB2A85E}"/>
                      </a:ext>
                    </a:extLst>
                  </p:cNvPr>
                  <p:cNvSpPr txBox="1"/>
                  <p:nvPr/>
                </p:nvSpPr>
                <p:spPr>
                  <a:xfrm>
                    <a:off x="10052685" y="3388191"/>
                    <a:ext cx="267637" cy="2616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1200" b="1" spc="0" baseline="0">
                        <a:ln/>
                        <a:solidFill>
                          <a:srgbClr val="F0F6FC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3</a:t>
                    </a:r>
                  </a:p>
                </p:txBody>
              </p:sp>
              <p:sp>
                <p:nvSpPr>
                  <p:cNvPr id="140" name="Rectangle: Rounded Corners 139">
                    <a:extLst>
                      <a:ext uri="{FF2B5EF4-FFF2-40B4-BE49-F238E27FC236}">
                        <a16:creationId xmlns:a16="http://schemas.microsoft.com/office/drawing/2014/main" id="{F02FAA49-5220-C51C-FECA-3A9BCA7DBBFC}"/>
                      </a:ext>
                    </a:extLst>
                  </p:cNvPr>
                  <p:cNvSpPr/>
                  <p:nvPr/>
                </p:nvSpPr>
                <p:spPr>
                  <a:xfrm>
                    <a:off x="11811000" y="3267075"/>
                    <a:ext cx="1619250" cy="381000"/>
                  </a:xfrm>
                  <a:prstGeom prst="roundRect">
                    <a:avLst>
                      <a:gd name="adj" fmla="val 10000"/>
                    </a:avLst>
                  </a:prstGeom>
                  <a:solidFill>
                    <a:srgbClr val="161B22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F8430D4E-E6B7-88F7-38AE-0EE7E50A476E}"/>
                      </a:ext>
                    </a:extLst>
                  </p:cNvPr>
                  <p:cNvSpPr txBox="1"/>
                  <p:nvPr/>
                </p:nvSpPr>
                <p:spPr>
                  <a:xfrm>
                    <a:off x="11814810" y="3278002"/>
                    <a:ext cx="802237" cy="19785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750" spc="0" baseline="0">
                        <a:ln/>
                        <a:solidFill>
                          <a:srgbClr val="8B949E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Final Accuracy</a:t>
                    </a:r>
                  </a:p>
                </p:txBody>
              </p:sp>
              <p:sp>
                <p:nvSpPr>
                  <p:cNvPr id="142" name="TextBox 141">
                    <a:extLst>
                      <a:ext uri="{FF2B5EF4-FFF2-40B4-BE49-F238E27FC236}">
                        <a16:creationId xmlns:a16="http://schemas.microsoft.com/office/drawing/2014/main" id="{082D8098-F2F8-1B12-AC47-D7402092BD77}"/>
                      </a:ext>
                    </a:extLst>
                  </p:cNvPr>
                  <p:cNvSpPr txBox="1"/>
                  <p:nvPr/>
                </p:nvSpPr>
                <p:spPr>
                  <a:xfrm>
                    <a:off x="11814810" y="3388191"/>
                    <a:ext cx="699760" cy="2616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1200" b="1" spc="0" baseline="0">
                        <a:ln/>
                        <a:solidFill>
                          <a:srgbClr val="34D399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93.41%</a:t>
                    </a:r>
                  </a:p>
                </p:txBody>
              </p:sp>
              <p:sp>
                <p:nvSpPr>
                  <p:cNvPr id="143" name="Rectangle: Rounded Corners 142">
                    <a:extLst>
                      <a:ext uri="{FF2B5EF4-FFF2-40B4-BE49-F238E27FC236}">
                        <a16:creationId xmlns:a16="http://schemas.microsoft.com/office/drawing/2014/main" id="{F012D5BC-CF5D-8797-31CC-A8844884AF5E}"/>
                      </a:ext>
                    </a:extLst>
                  </p:cNvPr>
                  <p:cNvSpPr/>
                  <p:nvPr/>
                </p:nvSpPr>
                <p:spPr>
                  <a:xfrm>
                    <a:off x="13573125" y="3267075"/>
                    <a:ext cx="1619250" cy="381000"/>
                  </a:xfrm>
                  <a:prstGeom prst="roundRect">
                    <a:avLst>
                      <a:gd name="adj" fmla="val 10000"/>
                    </a:avLst>
                  </a:prstGeom>
                  <a:solidFill>
                    <a:srgbClr val="161B22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BC85DDE4-18B5-ABE6-6B77-DDB19BE405BA}"/>
                      </a:ext>
                    </a:extLst>
                  </p:cNvPr>
                  <p:cNvSpPr txBox="1"/>
                  <p:nvPr/>
                </p:nvSpPr>
                <p:spPr>
                  <a:xfrm>
                    <a:off x="13576935" y="3278002"/>
                    <a:ext cx="818143" cy="19785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750" spc="0" baseline="0">
                        <a:ln/>
                        <a:solidFill>
                          <a:srgbClr val="8B949E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Initial Accuracy</a:t>
                    </a:r>
                  </a:p>
                </p:txBody>
              </p:sp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792C5441-6EEA-4EA4-54D6-B749666A5390}"/>
                      </a:ext>
                    </a:extLst>
                  </p:cNvPr>
                  <p:cNvSpPr txBox="1"/>
                  <p:nvPr/>
                </p:nvSpPr>
                <p:spPr>
                  <a:xfrm>
                    <a:off x="13576935" y="3388191"/>
                    <a:ext cx="699760" cy="2616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1200" b="1" spc="0" baseline="0">
                        <a:ln/>
                        <a:solidFill>
                          <a:srgbClr val="F0F6FC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92.97%</a:t>
                    </a:r>
                  </a:p>
                </p:txBody>
              </p:sp>
              <p:sp>
                <p:nvSpPr>
                  <p:cNvPr id="146" name="Rectangle: Rounded Corners 145">
                    <a:extLst>
                      <a:ext uri="{FF2B5EF4-FFF2-40B4-BE49-F238E27FC236}">
                        <a16:creationId xmlns:a16="http://schemas.microsoft.com/office/drawing/2014/main" id="{B1463CE9-CFE8-0CFD-A2F0-66D967F33ED5}"/>
                      </a:ext>
                    </a:extLst>
                  </p:cNvPr>
                  <p:cNvSpPr/>
                  <p:nvPr/>
                </p:nvSpPr>
                <p:spPr>
                  <a:xfrm>
                    <a:off x="15335250" y="3267075"/>
                    <a:ext cx="1952625" cy="381000"/>
                  </a:xfrm>
                  <a:prstGeom prst="roundRect">
                    <a:avLst>
                      <a:gd name="adj" fmla="val 10000"/>
                    </a:avLst>
                  </a:prstGeom>
                  <a:solidFill>
                    <a:srgbClr val="161B22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F12B6D48-0D96-1EAA-CED5-4644BDADC5A2}"/>
                      </a:ext>
                    </a:extLst>
                  </p:cNvPr>
                  <p:cNvSpPr txBox="1"/>
                  <p:nvPr/>
                </p:nvSpPr>
                <p:spPr>
                  <a:xfrm>
                    <a:off x="15339060" y="3278002"/>
                    <a:ext cx="738706" cy="19785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750" spc="0" baseline="0">
                        <a:ln/>
                        <a:solidFill>
                          <a:srgbClr val="8B949E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Improvement</a:t>
                    </a:r>
                  </a:p>
                </p:txBody>
              </p:sp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197A5D48-EFC7-BE96-4B6A-107FE12D6445}"/>
                      </a:ext>
                    </a:extLst>
                  </p:cNvPr>
                  <p:cNvSpPr txBox="1"/>
                  <p:nvPr/>
                </p:nvSpPr>
                <p:spPr>
                  <a:xfrm>
                    <a:off x="15339060" y="3388191"/>
                    <a:ext cx="704001" cy="2616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1200" b="1" spc="0" baseline="0">
                        <a:ln/>
                        <a:solidFill>
                          <a:srgbClr val="60A5FA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+0.44%</a:t>
                    </a:r>
                  </a:p>
                </p:txBody>
              </p:sp>
            </p:grpSp>
            <p:grpSp>
              <p:nvGrpSpPr>
                <p:cNvPr id="149" name="Graphic 26">
                  <a:extLst>
                    <a:ext uri="{FF2B5EF4-FFF2-40B4-BE49-F238E27FC236}">
                      <a16:creationId xmlns:a16="http://schemas.microsoft.com/office/drawing/2014/main" id="{B831ED00-AC27-6190-5867-1AFB9B2FD2DD}"/>
                    </a:ext>
                  </a:extLst>
                </p:cNvPr>
                <p:cNvGrpSpPr/>
                <p:nvPr/>
              </p:nvGrpSpPr>
              <p:grpSpPr>
                <a:xfrm>
                  <a:off x="10810875" y="3810399"/>
                  <a:ext cx="6096000" cy="781784"/>
                  <a:chOff x="10810875" y="3810399"/>
                  <a:chExt cx="6096000" cy="781784"/>
                </a:xfrm>
              </p:grpSpPr>
              <p:sp>
                <p:nvSpPr>
                  <p:cNvPr id="150" name="Freeform: Shape 149">
                    <a:extLst>
                      <a:ext uri="{FF2B5EF4-FFF2-40B4-BE49-F238E27FC236}">
                        <a16:creationId xmlns:a16="http://schemas.microsoft.com/office/drawing/2014/main" id="{74699CF3-E1B6-A8CF-F4A8-A34374891FBD}"/>
                      </a:ext>
                    </a:extLst>
                  </p:cNvPr>
                  <p:cNvSpPr/>
                  <p:nvPr/>
                </p:nvSpPr>
                <p:spPr>
                  <a:xfrm>
                    <a:off x="10810875" y="4429125"/>
                    <a:ext cx="6096000" cy="9525"/>
                  </a:xfrm>
                  <a:custGeom>
                    <a:avLst/>
                    <a:gdLst>
                      <a:gd name="csX0" fmla="*/ 1095 w 6096000"/>
                      <a:gd name="csY0" fmla="*/ 400 h 9525"/>
                      <a:gd name="csX1" fmla="*/ 6097095 w 6096000"/>
                      <a:gd name="csY1" fmla="*/ 400 h 952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6096000" h="9525">
                        <a:moveTo>
                          <a:pt x="1095" y="400"/>
                        </a:moveTo>
                        <a:lnTo>
                          <a:pt x="6097095" y="400"/>
                        </a:lnTo>
                      </a:path>
                    </a:pathLst>
                  </a:custGeom>
                  <a:ln w="9525" cap="flat">
                    <a:solidFill>
                      <a:srgbClr val="30363D"/>
                    </a:solidFill>
                    <a:prstDash val="solid"/>
                    <a:miter/>
                  </a:ln>
                </p:spPr>
              </p:sp>
              <p:sp>
                <p:nvSpPr>
                  <p:cNvPr id="151" name="Freeform: Shape 150">
                    <a:extLst>
                      <a:ext uri="{FF2B5EF4-FFF2-40B4-BE49-F238E27FC236}">
                        <a16:creationId xmlns:a16="http://schemas.microsoft.com/office/drawing/2014/main" id="{77E8C60A-B56C-3847-086A-AFA90BDECC54}"/>
                      </a:ext>
                    </a:extLst>
                  </p:cNvPr>
                  <p:cNvSpPr/>
                  <p:nvPr/>
                </p:nvSpPr>
                <p:spPr>
                  <a:xfrm>
                    <a:off x="11001375" y="3981450"/>
                    <a:ext cx="5715000" cy="209550"/>
                  </a:xfrm>
                  <a:custGeom>
                    <a:avLst/>
                    <a:gdLst>
                      <a:gd name="csX0" fmla="*/ 1095 w 5715000"/>
                      <a:gd name="csY0" fmla="*/ 209950 h 209550"/>
                      <a:gd name="csX1" fmla="*/ 2858595 w 5715000"/>
                      <a:gd name="csY1" fmla="*/ 209950 h 209550"/>
                      <a:gd name="csX2" fmla="*/ 5716095 w 5715000"/>
                      <a:gd name="csY2" fmla="*/ 400 h 2095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5715000" h="209550">
                        <a:moveTo>
                          <a:pt x="1095" y="209950"/>
                        </a:moveTo>
                        <a:lnTo>
                          <a:pt x="2858595" y="209950"/>
                        </a:lnTo>
                        <a:lnTo>
                          <a:pt x="5716095" y="400"/>
                        </a:lnTo>
                      </a:path>
                    </a:pathLst>
                  </a:custGeom>
                  <a:noFill/>
                  <a:ln w="28575" cap="flat">
                    <a:solidFill>
                      <a:srgbClr val="38BDF8"/>
                    </a:solidFill>
                    <a:prstDash val="solid"/>
                    <a:miter/>
                  </a:ln>
                </p:spPr>
              </p:sp>
              <p:sp>
                <p:nvSpPr>
                  <p:cNvPr id="152" name="Oval 151">
                    <a:extLst>
                      <a:ext uri="{FF2B5EF4-FFF2-40B4-BE49-F238E27FC236}">
                        <a16:creationId xmlns:a16="http://schemas.microsoft.com/office/drawing/2014/main" id="{A536B4D8-BF38-C1BC-3B70-6AE9E3D5D679}"/>
                      </a:ext>
                    </a:extLst>
                  </p:cNvPr>
                  <p:cNvSpPr/>
                  <p:nvPr/>
                </p:nvSpPr>
                <p:spPr>
                  <a:xfrm>
                    <a:off x="10963275" y="4152900"/>
                    <a:ext cx="76200" cy="76200"/>
                  </a:xfrm>
                  <a:prstGeom prst="ellipse">
                    <a:avLst/>
                  </a:prstGeom>
                  <a:solidFill>
                    <a:srgbClr val="38BDF8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153" name="Oval 152">
                    <a:extLst>
                      <a:ext uri="{FF2B5EF4-FFF2-40B4-BE49-F238E27FC236}">
                        <a16:creationId xmlns:a16="http://schemas.microsoft.com/office/drawing/2014/main" id="{218E9F33-F187-CE97-5368-1D8397979804}"/>
                      </a:ext>
                    </a:extLst>
                  </p:cNvPr>
                  <p:cNvSpPr/>
                  <p:nvPr/>
                </p:nvSpPr>
                <p:spPr>
                  <a:xfrm>
                    <a:off x="13820775" y="4152900"/>
                    <a:ext cx="76200" cy="76200"/>
                  </a:xfrm>
                  <a:prstGeom prst="ellipse">
                    <a:avLst/>
                  </a:prstGeom>
                  <a:solidFill>
                    <a:srgbClr val="38BDF8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154" name="Oval 153">
                    <a:extLst>
                      <a:ext uri="{FF2B5EF4-FFF2-40B4-BE49-F238E27FC236}">
                        <a16:creationId xmlns:a16="http://schemas.microsoft.com/office/drawing/2014/main" id="{B82C9BE6-43F4-6D15-E256-A149B470001D}"/>
                      </a:ext>
                    </a:extLst>
                  </p:cNvPr>
                  <p:cNvSpPr/>
                  <p:nvPr/>
                </p:nvSpPr>
                <p:spPr>
                  <a:xfrm>
                    <a:off x="16668750" y="3933825"/>
                    <a:ext cx="95250" cy="95250"/>
                  </a:xfrm>
                  <a:prstGeom prst="ellipse">
                    <a:avLst/>
                  </a:prstGeom>
                  <a:solidFill>
                    <a:srgbClr val="34D399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155" name="TextBox 154">
                    <a:extLst>
                      <a:ext uri="{FF2B5EF4-FFF2-40B4-BE49-F238E27FC236}">
                        <a16:creationId xmlns:a16="http://schemas.microsoft.com/office/drawing/2014/main" id="{546A670E-615F-5268-D72A-57CD9B8F2738}"/>
                      </a:ext>
                    </a:extLst>
                  </p:cNvPr>
                  <p:cNvSpPr txBox="1"/>
                  <p:nvPr/>
                </p:nvSpPr>
                <p:spPr>
                  <a:xfrm>
                    <a:off x="10748409" y="3963802"/>
                    <a:ext cx="505930" cy="19785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750" spc="0" baseline="0">
                        <a:ln/>
                        <a:solidFill>
                          <a:srgbClr val="E0F2FE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92.97%</a:t>
                    </a:r>
                  </a:p>
                </p:txBody>
              </p:sp>
              <p:sp>
                <p:nvSpPr>
                  <p:cNvPr id="156" name="TextBox 155">
                    <a:extLst>
                      <a:ext uri="{FF2B5EF4-FFF2-40B4-BE49-F238E27FC236}">
                        <a16:creationId xmlns:a16="http://schemas.microsoft.com/office/drawing/2014/main" id="{3A5E3702-27CE-8041-2AF1-939091BADA07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5909" y="3963802"/>
                    <a:ext cx="505930" cy="19785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750" spc="0" baseline="0">
                        <a:ln/>
                        <a:solidFill>
                          <a:srgbClr val="E0F2FE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92.97%</a:t>
                    </a:r>
                  </a:p>
                </p:txBody>
              </p:sp>
              <p:sp>
                <p:nvSpPr>
                  <p:cNvPr id="157" name="TextBox 156">
                    <a:extLst>
                      <a:ext uri="{FF2B5EF4-FFF2-40B4-BE49-F238E27FC236}">
                        <a16:creationId xmlns:a16="http://schemas.microsoft.com/office/drawing/2014/main" id="{BE6A2827-5282-899C-D23B-98725D229BAD}"/>
                      </a:ext>
                    </a:extLst>
                  </p:cNvPr>
                  <p:cNvSpPr txBox="1"/>
                  <p:nvPr/>
                </p:nvSpPr>
                <p:spPr>
                  <a:xfrm>
                    <a:off x="16447257" y="3764679"/>
                    <a:ext cx="538235" cy="20849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825" b="1" spc="0" baseline="0">
                        <a:ln/>
                        <a:solidFill>
                          <a:srgbClr val="34D399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93.41%</a:t>
                    </a:r>
                  </a:p>
                </p:txBody>
              </p:sp>
              <p:sp>
                <p:nvSpPr>
                  <p:cNvPr id="158" name="TextBox 157">
                    <a:extLst>
                      <a:ext uri="{FF2B5EF4-FFF2-40B4-BE49-F238E27FC236}">
                        <a16:creationId xmlns:a16="http://schemas.microsoft.com/office/drawing/2014/main" id="{FAB0210B-1186-3C28-292E-C591C85370B7}"/>
                      </a:ext>
                    </a:extLst>
                  </p:cNvPr>
                  <p:cNvSpPr txBox="1"/>
                  <p:nvPr/>
                </p:nvSpPr>
                <p:spPr>
                  <a:xfrm>
                    <a:off x="10729876" y="4440052"/>
                    <a:ext cx="542997" cy="19785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750" spc="0" baseline="0">
                        <a:ln/>
                        <a:solidFill>
                          <a:srgbClr val="8B949E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Round 1</a:t>
                    </a:r>
                  </a:p>
                </p:txBody>
              </p:sp>
              <p:sp>
                <p:nvSpPr>
                  <p:cNvPr id="159" name="TextBox 158">
                    <a:extLst>
                      <a:ext uri="{FF2B5EF4-FFF2-40B4-BE49-F238E27FC236}">
                        <a16:creationId xmlns:a16="http://schemas.microsoft.com/office/drawing/2014/main" id="{F2320385-964D-3BA8-94EC-0C23345294DE}"/>
                      </a:ext>
                    </a:extLst>
                  </p:cNvPr>
                  <p:cNvSpPr txBox="1"/>
                  <p:nvPr/>
                </p:nvSpPr>
                <p:spPr>
                  <a:xfrm>
                    <a:off x="13587376" y="4440052"/>
                    <a:ext cx="542997" cy="19785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750" spc="0" baseline="0">
                        <a:ln/>
                        <a:solidFill>
                          <a:srgbClr val="8B949E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Round 2</a:t>
                    </a:r>
                  </a:p>
                </p:txBody>
              </p:sp>
              <p:sp>
                <p:nvSpPr>
                  <p:cNvPr id="160" name="TextBox 159">
                    <a:extLst>
                      <a:ext uri="{FF2B5EF4-FFF2-40B4-BE49-F238E27FC236}">
                        <a16:creationId xmlns:a16="http://schemas.microsoft.com/office/drawing/2014/main" id="{0BF77226-58E5-9C33-9A4C-B819E9D16B20}"/>
                      </a:ext>
                    </a:extLst>
                  </p:cNvPr>
                  <p:cNvSpPr txBox="1"/>
                  <p:nvPr/>
                </p:nvSpPr>
                <p:spPr>
                  <a:xfrm>
                    <a:off x="16444876" y="4440052"/>
                    <a:ext cx="542997" cy="19785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750" spc="0" baseline="0">
                        <a:ln/>
                        <a:solidFill>
                          <a:srgbClr val="8B949E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Round 3</a:t>
                    </a:r>
                  </a:p>
                </p:txBody>
              </p:sp>
            </p:grpSp>
          </p:grpSp>
        </p:grpSp>
        <p:grpSp>
          <p:nvGrpSpPr>
            <p:cNvPr id="161" name="Graphic 26">
              <a:extLst>
                <a:ext uri="{FF2B5EF4-FFF2-40B4-BE49-F238E27FC236}">
                  <a16:creationId xmlns:a16="http://schemas.microsoft.com/office/drawing/2014/main" id="{9C5EEB92-964F-C51B-E95C-3C23CFD8F408}"/>
                </a:ext>
              </a:extLst>
            </p:cNvPr>
            <p:cNvGrpSpPr/>
            <p:nvPr/>
          </p:nvGrpSpPr>
          <p:grpSpPr>
            <a:xfrm>
              <a:off x="9715500" y="5000625"/>
              <a:ext cx="7715250" cy="2286000"/>
              <a:chOff x="9715500" y="5000625"/>
              <a:chExt cx="7715250" cy="2286000"/>
            </a:xfrm>
          </p:grpSpPr>
          <p:sp>
            <p:nvSpPr>
              <p:cNvPr id="162" name="Rectangle: Rounded Corners 161">
                <a:extLst>
                  <a:ext uri="{FF2B5EF4-FFF2-40B4-BE49-F238E27FC236}">
                    <a16:creationId xmlns:a16="http://schemas.microsoft.com/office/drawing/2014/main" id="{EE20AD2D-8587-21F9-5794-7289C0DC8129}"/>
                  </a:ext>
                </a:extLst>
              </p:cNvPr>
              <p:cNvSpPr/>
              <p:nvPr/>
            </p:nvSpPr>
            <p:spPr>
              <a:xfrm>
                <a:off x="9715500" y="5000625"/>
                <a:ext cx="7715250" cy="2286000"/>
              </a:xfrm>
              <a:prstGeom prst="roundRect">
                <a:avLst>
                  <a:gd name="adj" fmla="val 3333"/>
                </a:avLst>
              </a:prstGeom>
              <a:solidFill>
                <a:srgbClr val="161B22"/>
              </a:solidFill>
              <a:ln w="9525" cap="flat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D9DC32B8-A432-2CB7-4014-B45AF0A890DE}"/>
                  </a:ext>
                </a:extLst>
              </p:cNvPr>
              <p:cNvSpPr txBox="1"/>
              <p:nvPr/>
            </p:nvSpPr>
            <p:spPr>
              <a:xfrm>
                <a:off x="9766935" y="5060982"/>
                <a:ext cx="2096456" cy="2191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900" b="1" spc="0" baseline="0">
                    <a:ln/>
                    <a:solidFill>
                      <a:srgbClr val="8B949E"/>
                    </a:solidFill>
                    <a:latin typeface="Arial"/>
                    <a:cs typeface="Arial"/>
                    <a:sym typeface="Arial"/>
                    <a:rtl val="0"/>
                  </a:rPr>
                  <a:t>3. BIG DATA ANALYTICS CAPTURE</a:t>
                </a:r>
              </a:p>
            </p:txBody>
          </p:sp>
          <p:grpSp>
            <p:nvGrpSpPr>
              <p:cNvPr id="164" name="Graphic 26">
                <a:extLst>
                  <a:ext uri="{FF2B5EF4-FFF2-40B4-BE49-F238E27FC236}">
                    <a16:creationId xmlns:a16="http://schemas.microsoft.com/office/drawing/2014/main" id="{50EF0AF9-47F8-B923-D247-5A67697B41EF}"/>
                  </a:ext>
                </a:extLst>
              </p:cNvPr>
              <p:cNvGrpSpPr/>
              <p:nvPr/>
            </p:nvGrpSpPr>
            <p:grpSpPr>
              <a:xfrm>
                <a:off x="9858375" y="5286375"/>
                <a:ext cx="7429500" cy="1857375"/>
                <a:chOff x="9858375" y="5286375"/>
                <a:chExt cx="7429500" cy="1857375"/>
              </a:xfrm>
            </p:grpSpPr>
            <p:sp>
              <p:nvSpPr>
                <p:cNvPr id="165" name="Rectangle: Rounded Corners 164">
                  <a:extLst>
                    <a:ext uri="{FF2B5EF4-FFF2-40B4-BE49-F238E27FC236}">
                      <a16:creationId xmlns:a16="http://schemas.microsoft.com/office/drawing/2014/main" id="{73CE220F-02D8-6933-ED10-E3A3FCA67F35}"/>
                    </a:ext>
                  </a:extLst>
                </p:cNvPr>
                <p:cNvSpPr/>
                <p:nvPr/>
              </p:nvSpPr>
              <p:spPr>
                <a:xfrm>
                  <a:off x="9858375" y="5286375"/>
                  <a:ext cx="7429500" cy="1857375"/>
                </a:xfrm>
                <a:prstGeom prst="roundRect">
                  <a:avLst>
                    <a:gd name="adj" fmla="val 3076"/>
                  </a:avLst>
                </a:prstGeom>
                <a:solidFill>
                  <a:srgbClr val="0D1117"/>
                </a:solidFill>
                <a:ln w="9525" cap="flat">
                  <a:solidFill>
                    <a:srgbClr val="21262D"/>
                  </a:solidFill>
                  <a:prstDash val="solid"/>
                  <a:miter/>
                </a:ln>
              </p:spPr>
            </p:sp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C83FA0A0-A7D1-F6FF-4E1F-F8B72EE24027}"/>
                    </a:ext>
                  </a:extLst>
                </p:cNvPr>
                <p:cNvSpPr txBox="1"/>
                <p:nvPr/>
              </p:nvSpPr>
              <p:spPr>
                <a:xfrm>
                  <a:off x="9957435" y="5324603"/>
                  <a:ext cx="1681304" cy="2814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125" b="1" spc="0" baseline="0">
                      <a:ln/>
                      <a:solidFill>
                        <a:srgbClr val="F0F6FC"/>
                      </a:solidFill>
                      <a:latin typeface="Segoe UI Emoji"/>
                      <a:ea typeface="Segoe UI Emoji"/>
                      <a:sym typeface="Segoe UI Emoji"/>
                      <a:rtl val="0"/>
                    </a:rPr>
                    <a:t>📊</a:t>
                  </a:r>
                  <a:r>
                    <a:rPr lang="en-IN" sz="1125" b="1" spc="0" baseline="0">
                      <a:ln/>
                      <a:solidFill>
                        <a:srgbClr val="F0F6FC"/>
                      </a:solidFill>
                      <a:latin typeface="Arial"/>
                      <a:ea typeface="Segoe UI Emoji"/>
                      <a:cs typeface="Arial"/>
                      <a:sym typeface="Arial"/>
                      <a:rtl val="0"/>
                    </a:rPr>
                    <a:t> Big Data Analytics</a:t>
                  </a:r>
                </a:p>
              </p:txBody>
            </p:sp>
            <p:grpSp>
              <p:nvGrpSpPr>
                <p:cNvPr id="167" name="Graphic 26">
                  <a:extLst>
                    <a:ext uri="{FF2B5EF4-FFF2-40B4-BE49-F238E27FC236}">
                      <a16:creationId xmlns:a16="http://schemas.microsoft.com/office/drawing/2014/main" id="{4C9235D5-BA16-218D-E29A-AC4940F2328A}"/>
                    </a:ext>
                  </a:extLst>
                </p:cNvPr>
                <p:cNvGrpSpPr/>
                <p:nvPr/>
              </p:nvGrpSpPr>
              <p:grpSpPr>
                <a:xfrm>
                  <a:off x="10048875" y="5648325"/>
                  <a:ext cx="7239000" cy="400050"/>
                  <a:chOff x="10048875" y="5648325"/>
                  <a:chExt cx="7239000" cy="400050"/>
                </a:xfrm>
              </p:grpSpPr>
              <p:sp>
                <p:nvSpPr>
                  <p:cNvPr id="168" name="Rectangle: Rounded Corners 167">
                    <a:extLst>
                      <a:ext uri="{FF2B5EF4-FFF2-40B4-BE49-F238E27FC236}">
                        <a16:creationId xmlns:a16="http://schemas.microsoft.com/office/drawing/2014/main" id="{CC7FBE68-B32A-5DA0-BD73-C489627BCAB1}"/>
                      </a:ext>
                    </a:extLst>
                  </p:cNvPr>
                  <p:cNvSpPr/>
                  <p:nvPr/>
                </p:nvSpPr>
                <p:spPr>
                  <a:xfrm>
                    <a:off x="10048875" y="5648325"/>
                    <a:ext cx="1619250" cy="400050"/>
                  </a:xfrm>
                  <a:prstGeom prst="roundRect">
                    <a:avLst>
                      <a:gd name="adj" fmla="val 9523"/>
                    </a:avLst>
                  </a:prstGeom>
                  <a:solidFill>
                    <a:srgbClr val="161B22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169" name="TextBox 168">
                    <a:extLst>
                      <a:ext uri="{FF2B5EF4-FFF2-40B4-BE49-F238E27FC236}">
                        <a16:creationId xmlns:a16="http://schemas.microsoft.com/office/drawing/2014/main" id="{99D05AA1-5BB8-C51F-1DC9-20EDCC911F40}"/>
                      </a:ext>
                    </a:extLst>
                  </p:cNvPr>
                  <p:cNvSpPr txBox="1"/>
                  <p:nvPr/>
                </p:nvSpPr>
                <p:spPr>
                  <a:xfrm>
                    <a:off x="10071735" y="5659252"/>
                    <a:ext cx="701685" cy="19785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750" spc="0" baseline="0">
                        <a:ln/>
                        <a:solidFill>
                          <a:srgbClr val="8B949E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Total Clients</a:t>
                    </a:r>
                  </a:p>
                </p:txBody>
              </p:sp>
              <p:sp>
                <p:nvSpPr>
                  <p:cNvPr id="170" name="TextBox 169">
                    <a:extLst>
                      <a:ext uri="{FF2B5EF4-FFF2-40B4-BE49-F238E27FC236}">
                        <a16:creationId xmlns:a16="http://schemas.microsoft.com/office/drawing/2014/main" id="{355912DF-92C0-F392-9169-B54637043648}"/>
                      </a:ext>
                    </a:extLst>
                  </p:cNvPr>
                  <p:cNvSpPr txBox="1"/>
                  <p:nvPr/>
                </p:nvSpPr>
                <p:spPr>
                  <a:xfrm>
                    <a:off x="10071735" y="5788491"/>
                    <a:ext cx="267637" cy="2616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1200" b="1" spc="0" baseline="0">
                        <a:ln/>
                        <a:solidFill>
                          <a:srgbClr val="F0F6FC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2</a:t>
                    </a:r>
                  </a:p>
                </p:txBody>
              </p:sp>
              <p:sp>
                <p:nvSpPr>
                  <p:cNvPr id="171" name="Rectangle: Rounded Corners 170">
                    <a:extLst>
                      <a:ext uri="{FF2B5EF4-FFF2-40B4-BE49-F238E27FC236}">
                        <a16:creationId xmlns:a16="http://schemas.microsoft.com/office/drawing/2014/main" id="{95A866CF-C0B1-2370-626D-A1994D9B64B9}"/>
                      </a:ext>
                    </a:extLst>
                  </p:cNvPr>
                  <p:cNvSpPr/>
                  <p:nvPr/>
                </p:nvSpPr>
                <p:spPr>
                  <a:xfrm>
                    <a:off x="11811000" y="5648325"/>
                    <a:ext cx="1619250" cy="400050"/>
                  </a:xfrm>
                  <a:prstGeom prst="roundRect">
                    <a:avLst>
                      <a:gd name="adj" fmla="val 9523"/>
                    </a:avLst>
                  </a:prstGeom>
                  <a:solidFill>
                    <a:srgbClr val="161B22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172" name="TextBox 171">
                    <a:extLst>
                      <a:ext uri="{FF2B5EF4-FFF2-40B4-BE49-F238E27FC236}">
                        <a16:creationId xmlns:a16="http://schemas.microsoft.com/office/drawing/2014/main" id="{29F8FF6F-8F9B-B097-2871-4BF6F8BB31BA}"/>
                      </a:ext>
                    </a:extLst>
                  </p:cNvPr>
                  <p:cNvSpPr txBox="1"/>
                  <p:nvPr/>
                </p:nvSpPr>
                <p:spPr>
                  <a:xfrm>
                    <a:off x="11814810" y="5659252"/>
                    <a:ext cx="920509" cy="19785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750" spc="0" baseline="0">
                        <a:ln/>
                        <a:solidFill>
                          <a:srgbClr val="8B949E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Training Samples</a:t>
                    </a:r>
                  </a:p>
                </p:txBody>
              </p:sp>
              <p:sp>
                <p:nvSpPr>
                  <p:cNvPr id="173" name="TextBox 172">
                    <a:extLst>
                      <a:ext uri="{FF2B5EF4-FFF2-40B4-BE49-F238E27FC236}">
                        <a16:creationId xmlns:a16="http://schemas.microsoft.com/office/drawing/2014/main" id="{CF676243-AA33-913E-3DA6-36990A7F87FC}"/>
                      </a:ext>
                    </a:extLst>
                  </p:cNvPr>
                  <p:cNvSpPr txBox="1"/>
                  <p:nvPr/>
                </p:nvSpPr>
                <p:spPr>
                  <a:xfrm>
                    <a:off x="11814810" y="5788491"/>
                    <a:ext cx="437152" cy="2616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1200" b="1" spc="0" baseline="0">
                        <a:ln/>
                        <a:solidFill>
                          <a:srgbClr val="F0F6FC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455</a:t>
                    </a:r>
                  </a:p>
                </p:txBody>
              </p:sp>
              <p:sp>
                <p:nvSpPr>
                  <p:cNvPr id="174" name="Rectangle: Rounded Corners 173">
                    <a:extLst>
                      <a:ext uri="{FF2B5EF4-FFF2-40B4-BE49-F238E27FC236}">
                        <a16:creationId xmlns:a16="http://schemas.microsoft.com/office/drawing/2014/main" id="{9E6882FD-A1B6-8189-0876-0F2F3D839653}"/>
                      </a:ext>
                    </a:extLst>
                  </p:cNvPr>
                  <p:cNvSpPr/>
                  <p:nvPr/>
                </p:nvSpPr>
                <p:spPr>
                  <a:xfrm>
                    <a:off x="13573125" y="5648325"/>
                    <a:ext cx="1619250" cy="400050"/>
                  </a:xfrm>
                  <a:prstGeom prst="roundRect">
                    <a:avLst>
                      <a:gd name="adj" fmla="val 9523"/>
                    </a:avLst>
                  </a:prstGeom>
                  <a:solidFill>
                    <a:srgbClr val="161B22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175" name="TextBox 174">
                    <a:extLst>
                      <a:ext uri="{FF2B5EF4-FFF2-40B4-BE49-F238E27FC236}">
                        <a16:creationId xmlns:a16="http://schemas.microsoft.com/office/drawing/2014/main" id="{E70B0539-01A0-B11A-2583-3CE649C32DD3}"/>
                      </a:ext>
                    </a:extLst>
                  </p:cNvPr>
                  <p:cNvSpPr txBox="1"/>
                  <p:nvPr/>
                </p:nvSpPr>
                <p:spPr>
                  <a:xfrm>
                    <a:off x="13576935" y="5659252"/>
                    <a:ext cx="754612" cy="19785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750" spc="0" baseline="0">
                        <a:ln/>
                        <a:solidFill>
                          <a:srgbClr val="8B949E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Test Samples</a:t>
                    </a:r>
                  </a:p>
                </p:txBody>
              </p:sp>
              <p:sp>
                <p:nvSpPr>
                  <p:cNvPr id="176" name="TextBox 175">
                    <a:extLst>
                      <a:ext uri="{FF2B5EF4-FFF2-40B4-BE49-F238E27FC236}">
                        <a16:creationId xmlns:a16="http://schemas.microsoft.com/office/drawing/2014/main" id="{5AC4F6FF-D041-514B-82B1-8861F0C60DB2}"/>
                      </a:ext>
                    </a:extLst>
                  </p:cNvPr>
                  <p:cNvSpPr txBox="1"/>
                  <p:nvPr/>
                </p:nvSpPr>
                <p:spPr>
                  <a:xfrm>
                    <a:off x="13576935" y="5788491"/>
                    <a:ext cx="437152" cy="2616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1200" b="1" spc="0" baseline="0">
                        <a:ln/>
                        <a:solidFill>
                          <a:srgbClr val="F0F6FC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228</a:t>
                    </a:r>
                  </a:p>
                </p:txBody>
              </p:sp>
              <p:sp>
                <p:nvSpPr>
                  <p:cNvPr id="177" name="Rectangle: Rounded Corners 176">
                    <a:extLst>
                      <a:ext uri="{FF2B5EF4-FFF2-40B4-BE49-F238E27FC236}">
                        <a16:creationId xmlns:a16="http://schemas.microsoft.com/office/drawing/2014/main" id="{23545233-A505-9659-8FE8-7731BEEBECE9}"/>
                      </a:ext>
                    </a:extLst>
                  </p:cNvPr>
                  <p:cNvSpPr/>
                  <p:nvPr/>
                </p:nvSpPr>
                <p:spPr>
                  <a:xfrm>
                    <a:off x="15335250" y="5648325"/>
                    <a:ext cx="1952625" cy="400050"/>
                  </a:xfrm>
                  <a:prstGeom prst="roundRect">
                    <a:avLst>
                      <a:gd name="adj" fmla="val 9523"/>
                    </a:avLst>
                  </a:prstGeom>
                  <a:solidFill>
                    <a:srgbClr val="161B22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178" name="TextBox 177">
                    <a:extLst>
                      <a:ext uri="{FF2B5EF4-FFF2-40B4-BE49-F238E27FC236}">
                        <a16:creationId xmlns:a16="http://schemas.microsoft.com/office/drawing/2014/main" id="{929282E5-F05A-7D20-9E2E-AA05E622E0BA}"/>
                      </a:ext>
                    </a:extLst>
                  </p:cNvPr>
                  <p:cNvSpPr txBox="1"/>
                  <p:nvPr/>
                </p:nvSpPr>
                <p:spPr>
                  <a:xfrm>
                    <a:off x="15339060" y="5659252"/>
                    <a:ext cx="558764" cy="19785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750" spc="0" baseline="0">
                        <a:ln/>
                        <a:solidFill>
                          <a:srgbClr val="8B949E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Features</a:t>
                    </a:r>
                  </a:p>
                </p:txBody>
              </p:sp>
              <p:sp>
                <p:nvSpPr>
                  <p:cNvPr id="179" name="TextBox 178">
                    <a:extLst>
                      <a:ext uri="{FF2B5EF4-FFF2-40B4-BE49-F238E27FC236}">
                        <a16:creationId xmlns:a16="http://schemas.microsoft.com/office/drawing/2014/main" id="{C8045A6D-4637-5C91-3F46-3DFB265D9A6B}"/>
                      </a:ext>
                    </a:extLst>
                  </p:cNvPr>
                  <p:cNvSpPr txBox="1"/>
                  <p:nvPr/>
                </p:nvSpPr>
                <p:spPr>
                  <a:xfrm>
                    <a:off x="15339060" y="5788491"/>
                    <a:ext cx="352395" cy="2616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1200" b="1" spc="0" baseline="0">
                        <a:ln/>
                        <a:solidFill>
                          <a:srgbClr val="F0F6FC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30</a:t>
                    </a:r>
                  </a:p>
                </p:txBody>
              </p:sp>
            </p:grpSp>
            <p:grpSp>
              <p:nvGrpSpPr>
                <p:cNvPr id="180" name="Graphic 26">
                  <a:extLst>
                    <a:ext uri="{FF2B5EF4-FFF2-40B4-BE49-F238E27FC236}">
                      <a16:creationId xmlns:a16="http://schemas.microsoft.com/office/drawing/2014/main" id="{067BE296-D3D5-E0C6-0406-9B2C9B4989E3}"/>
                    </a:ext>
                  </a:extLst>
                </p:cNvPr>
                <p:cNvGrpSpPr/>
                <p:nvPr/>
              </p:nvGrpSpPr>
              <p:grpSpPr>
                <a:xfrm>
                  <a:off x="10048875" y="6239274"/>
                  <a:ext cx="4191000" cy="723500"/>
                  <a:chOff x="10048875" y="6239274"/>
                  <a:chExt cx="4191000" cy="723500"/>
                </a:xfrm>
              </p:grpSpPr>
              <p:sp>
                <p:nvSpPr>
                  <p:cNvPr id="181" name="TextBox 180">
                    <a:extLst>
                      <a:ext uri="{FF2B5EF4-FFF2-40B4-BE49-F238E27FC236}">
                        <a16:creationId xmlns:a16="http://schemas.microsoft.com/office/drawing/2014/main" id="{6E65F3FA-EF99-8F5B-89FA-9925FE15F1D2}"/>
                      </a:ext>
                    </a:extLst>
                  </p:cNvPr>
                  <p:cNvSpPr txBox="1"/>
                  <p:nvPr/>
                </p:nvSpPr>
                <p:spPr>
                  <a:xfrm>
                    <a:off x="9957435" y="6193554"/>
                    <a:ext cx="1720228" cy="20849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825" spc="0" baseline="0">
                        <a:ln/>
                        <a:solidFill>
                          <a:srgbClr val="8B949E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Global Dataset Class Distribution</a:t>
                    </a:r>
                  </a:p>
                </p:txBody>
              </p:sp>
              <p:sp>
                <p:nvSpPr>
                  <p:cNvPr id="182" name="Rectangle: Rounded Corners 181">
                    <a:extLst>
                      <a:ext uri="{FF2B5EF4-FFF2-40B4-BE49-F238E27FC236}">
                        <a16:creationId xmlns:a16="http://schemas.microsoft.com/office/drawing/2014/main" id="{A5ACD190-8171-E7D4-9597-2FC9EB7E0F8C}"/>
                      </a:ext>
                    </a:extLst>
                  </p:cNvPr>
                  <p:cNvSpPr/>
                  <p:nvPr/>
                </p:nvSpPr>
                <p:spPr>
                  <a:xfrm>
                    <a:off x="10048875" y="6429375"/>
                    <a:ext cx="2476500" cy="228600"/>
                  </a:xfrm>
                  <a:prstGeom prst="roundRect">
                    <a:avLst>
                      <a:gd name="adj" fmla="val 16666"/>
                    </a:avLst>
                  </a:prstGeom>
                  <a:solidFill>
                    <a:srgbClr val="38BDF8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183" name="TextBox 182">
                    <a:extLst>
                      <a:ext uri="{FF2B5EF4-FFF2-40B4-BE49-F238E27FC236}">
                        <a16:creationId xmlns:a16="http://schemas.microsoft.com/office/drawing/2014/main" id="{5785F473-445C-28A8-6521-A2DCEA5472F8}"/>
                      </a:ext>
                    </a:extLst>
                  </p:cNvPr>
                  <p:cNvSpPr txBox="1"/>
                  <p:nvPr/>
                </p:nvSpPr>
                <p:spPr>
                  <a:xfrm>
                    <a:off x="10052685" y="6422992"/>
                    <a:ext cx="1430250" cy="23079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825" b="1" spc="0" baseline="0">
                        <a:ln/>
                        <a:solidFill>
                          <a:srgbClr val="0F172A"/>
                        </a:solidFill>
                        <a:latin typeface="Segoe UI Emoji"/>
                        <a:ea typeface="Segoe UI Emoji"/>
                        <a:sym typeface="Segoe UI Emoji"/>
                        <a:rtl val="0"/>
                      </a:rPr>
                      <a:t>🟢</a:t>
                    </a:r>
                    <a:r>
                      <a:rPr lang="en-IN" sz="825" b="1" spc="0" baseline="0">
                        <a:ln/>
                        <a:solidFill>
                          <a:srgbClr val="0F172A"/>
                        </a:solidFill>
                        <a:latin typeface="Arial"/>
                        <a:ea typeface="Segoe UI Emoji"/>
                        <a:cs typeface="Arial"/>
                        <a:sym typeface="Arial"/>
                        <a:rtl val="0"/>
                      </a:rPr>
                      <a:t> Class 0 Samples: 169</a:t>
                    </a:r>
                  </a:p>
                </p:txBody>
              </p:sp>
              <p:sp>
                <p:nvSpPr>
                  <p:cNvPr id="184" name="Rectangle: Rounded Corners 183">
                    <a:extLst>
                      <a:ext uri="{FF2B5EF4-FFF2-40B4-BE49-F238E27FC236}">
                        <a16:creationId xmlns:a16="http://schemas.microsoft.com/office/drawing/2014/main" id="{FDF8DF6E-AD6A-CA87-1F71-CF46857A0F0A}"/>
                      </a:ext>
                    </a:extLst>
                  </p:cNvPr>
                  <p:cNvSpPr/>
                  <p:nvPr/>
                </p:nvSpPr>
                <p:spPr>
                  <a:xfrm>
                    <a:off x="10048875" y="6734175"/>
                    <a:ext cx="4191000" cy="228600"/>
                  </a:xfrm>
                  <a:prstGeom prst="roundRect">
                    <a:avLst>
                      <a:gd name="adj" fmla="val 16666"/>
                    </a:avLst>
                  </a:prstGeom>
                  <a:solidFill>
                    <a:srgbClr val="F43F5E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185" name="TextBox 184">
                    <a:extLst>
                      <a:ext uri="{FF2B5EF4-FFF2-40B4-BE49-F238E27FC236}">
                        <a16:creationId xmlns:a16="http://schemas.microsoft.com/office/drawing/2014/main" id="{234BF30F-A99B-BC22-C269-E3A2B496ED76}"/>
                      </a:ext>
                    </a:extLst>
                  </p:cNvPr>
                  <p:cNvSpPr txBox="1"/>
                  <p:nvPr/>
                </p:nvSpPr>
                <p:spPr>
                  <a:xfrm>
                    <a:off x="10052685" y="6727792"/>
                    <a:ext cx="1430250" cy="23079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825" b="1" spc="0" baseline="0">
                        <a:ln/>
                        <a:solidFill>
                          <a:srgbClr val="FFFFFF"/>
                        </a:solidFill>
                        <a:latin typeface="Segoe UI Emoji"/>
                        <a:ea typeface="Segoe UI Emoji"/>
                        <a:sym typeface="Segoe UI Emoji"/>
                        <a:rtl val="0"/>
                      </a:rPr>
                      <a:t>🔴</a:t>
                    </a:r>
                    <a:r>
                      <a:rPr lang="en-IN" sz="825" b="1" spc="0" baseline="0">
                        <a:ln/>
                        <a:solidFill>
                          <a:srgbClr val="FFFFFF"/>
                        </a:solidFill>
                        <a:latin typeface="Arial"/>
                        <a:ea typeface="Segoe UI Emoji"/>
                        <a:cs typeface="Arial"/>
                        <a:sym typeface="Arial"/>
                        <a:rtl val="0"/>
                      </a:rPr>
                      <a:t> Class 1 Samples: 286</a:t>
                    </a:r>
                  </a:p>
                </p:txBody>
              </p:sp>
            </p:grpSp>
          </p:grpSp>
        </p:grpSp>
        <p:grpSp>
          <p:nvGrpSpPr>
            <p:cNvPr id="186" name="Graphic 26">
              <a:extLst>
                <a:ext uri="{FF2B5EF4-FFF2-40B4-BE49-F238E27FC236}">
                  <a16:creationId xmlns:a16="http://schemas.microsoft.com/office/drawing/2014/main" id="{649AB643-AA06-8A65-0224-6F5605F738B7}"/>
                </a:ext>
              </a:extLst>
            </p:cNvPr>
            <p:cNvGrpSpPr/>
            <p:nvPr/>
          </p:nvGrpSpPr>
          <p:grpSpPr>
            <a:xfrm>
              <a:off x="9715500" y="7429500"/>
              <a:ext cx="7715250" cy="2143125"/>
              <a:chOff x="9715500" y="7429500"/>
              <a:chExt cx="7715250" cy="2143125"/>
            </a:xfrm>
          </p:grpSpPr>
          <p:sp>
            <p:nvSpPr>
              <p:cNvPr id="187" name="Rectangle: Rounded Corners 186">
                <a:extLst>
                  <a:ext uri="{FF2B5EF4-FFF2-40B4-BE49-F238E27FC236}">
                    <a16:creationId xmlns:a16="http://schemas.microsoft.com/office/drawing/2014/main" id="{61E22140-2665-360B-F188-F5344C6FD587}"/>
                  </a:ext>
                </a:extLst>
              </p:cNvPr>
              <p:cNvSpPr/>
              <p:nvPr/>
            </p:nvSpPr>
            <p:spPr>
              <a:xfrm>
                <a:off x="9715500" y="7429500"/>
                <a:ext cx="7715250" cy="2143125"/>
              </a:xfrm>
              <a:prstGeom prst="roundRect">
                <a:avLst>
                  <a:gd name="adj" fmla="val 3555"/>
                </a:avLst>
              </a:prstGeom>
              <a:solidFill>
                <a:srgbClr val="161B22"/>
              </a:solidFill>
              <a:ln w="9525" cap="flat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BFFF7586-1DBD-D56E-DBC8-823A842467CC}"/>
                  </a:ext>
                </a:extLst>
              </p:cNvPr>
              <p:cNvSpPr txBox="1"/>
              <p:nvPr/>
            </p:nvSpPr>
            <p:spPr>
              <a:xfrm>
                <a:off x="9766935" y="7489857"/>
                <a:ext cx="2979155" cy="2191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900" b="1" spc="0" baseline="0">
                    <a:ln/>
                    <a:solidFill>
                      <a:srgbClr val="8B949E"/>
                    </a:solidFill>
                    <a:latin typeface="Arial"/>
                    <a:cs typeface="Arial"/>
                    <a:sym typeface="Arial"/>
                    <a:rtl val="0"/>
                  </a:rPr>
                  <a:t>4. AZURE GLOBAL MODEL PREDICTION CAPTURE</a:t>
                </a:r>
              </a:p>
            </p:txBody>
          </p:sp>
          <p:grpSp>
            <p:nvGrpSpPr>
              <p:cNvPr id="189" name="Graphic 26">
                <a:extLst>
                  <a:ext uri="{FF2B5EF4-FFF2-40B4-BE49-F238E27FC236}">
                    <a16:creationId xmlns:a16="http://schemas.microsoft.com/office/drawing/2014/main" id="{091A0DE8-6135-D56C-CE58-2963A029C468}"/>
                  </a:ext>
                </a:extLst>
              </p:cNvPr>
              <p:cNvGrpSpPr/>
              <p:nvPr/>
            </p:nvGrpSpPr>
            <p:grpSpPr>
              <a:xfrm>
                <a:off x="9858375" y="7715250"/>
                <a:ext cx="7429500" cy="1714500"/>
                <a:chOff x="9858375" y="7715250"/>
                <a:chExt cx="7429500" cy="1714500"/>
              </a:xfrm>
            </p:grpSpPr>
            <p:sp>
              <p:nvSpPr>
                <p:cNvPr id="190" name="Rectangle: Rounded Corners 189">
                  <a:extLst>
                    <a:ext uri="{FF2B5EF4-FFF2-40B4-BE49-F238E27FC236}">
                      <a16:creationId xmlns:a16="http://schemas.microsoft.com/office/drawing/2014/main" id="{1F53543D-2200-DF02-130A-2AC6C595E462}"/>
                    </a:ext>
                  </a:extLst>
                </p:cNvPr>
                <p:cNvSpPr/>
                <p:nvPr/>
              </p:nvSpPr>
              <p:spPr>
                <a:xfrm>
                  <a:off x="9858375" y="7715250"/>
                  <a:ext cx="7429500" cy="1714500"/>
                </a:xfrm>
                <a:prstGeom prst="roundRect">
                  <a:avLst>
                    <a:gd name="adj" fmla="val 3333"/>
                  </a:avLst>
                </a:prstGeom>
                <a:solidFill>
                  <a:srgbClr val="0D1117"/>
                </a:solidFill>
                <a:ln w="9525" cap="flat">
                  <a:solidFill>
                    <a:srgbClr val="21262D"/>
                  </a:solidFill>
                  <a:prstDash val="solid"/>
                  <a:miter/>
                </a:ln>
              </p:spPr>
            </p:sp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29F63C7B-9B1A-0609-319E-A80BAD30B62E}"/>
                    </a:ext>
                  </a:extLst>
                </p:cNvPr>
                <p:cNvSpPr txBox="1"/>
                <p:nvPr/>
              </p:nvSpPr>
              <p:spPr>
                <a:xfrm>
                  <a:off x="9957435" y="7753478"/>
                  <a:ext cx="3035966" cy="2814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125" b="1" spc="0" baseline="0">
                      <a:ln/>
                      <a:solidFill>
                        <a:srgbClr val="F0F6FC"/>
                      </a:solidFill>
                      <a:latin typeface="Segoe UI Emoji"/>
                      <a:ea typeface="Segoe UI Emoji"/>
                      <a:sym typeface="Segoe UI Emoji"/>
                      <a:rtl val="0"/>
                    </a:rPr>
                    <a:t>🎯</a:t>
                  </a:r>
                  <a:r>
                    <a:rPr lang="en-IN" sz="1125" b="1" spc="0" baseline="0">
                      <a:ln/>
                      <a:solidFill>
                        <a:srgbClr val="F0F6FC"/>
                      </a:solidFill>
                      <a:latin typeface="Arial"/>
                      <a:ea typeface="Segoe UI Emoji"/>
                      <a:cs typeface="Arial"/>
                      <a:sym typeface="Arial"/>
                      <a:rtl val="0"/>
                    </a:rPr>
                    <a:t> Live Prediction (Trained Global Model)</a:t>
                  </a:r>
                </a:p>
              </p:txBody>
            </p:sp>
            <p:grpSp>
              <p:nvGrpSpPr>
                <p:cNvPr id="192" name="Graphic 26">
                  <a:extLst>
                    <a:ext uri="{FF2B5EF4-FFF2-40B4-BE49-F238E27FC236}">
                      <a16:creationId xmlns:a16="http://schemas.microsoft.com/office/drawing/2014/main" id="{46330554-8EFA-5492-F8E0-1A8D17708EBD}"/>
                    </a:ext>
                  </a:extLst>
                </p:cNvPr>
                <p:cNvGrpSpPr/>
                <p:nvPr/>
              </p:nvGrpSpPr>
              <p:grpSpPr>
                <a:xfrm>
                  <a:off x="10048875" y="8077200"/>
                  <a:ext cx="7239000" cy="247650"/>
                  <a:chOff x="10048875" y="8077200"/>
                  <a:chExt cx="7239000" cy="247650"/>
                </a:xfrm>
              </p:grpSpPr>
              <p:sp>
                <p:nvSpPr>
                  <p:cNvPr id="193" name="Rectangle: Rounded Corners 192">
                    <a:extLst>
                      <a:ext uri="{FF2B5EF4-FFF2-40B4-BE49-F238E27FC236}">
                        <a16:creationId xmlns:a16="http://schemas.microsoft.com/office/drawing/2014/main" id="{3304CAD1-05B8-A78F-F06C-DA6061DCF25A}"/>
                      </a:ext>
                    </a:extLst>
                  </p:cNvPr>
                  <p:cNvSpPr/>
                  <p:nvPr/>
                </p:nvSpPr>
                <p:spPr>
                  <a:xfrm>
                    <a:off x="10048875" y="8077200"/>
                    <a:ext cx="2190750" cy="247650"/>
                  </a:xfrm>
                  <a:prstGeom prst="roundRect">
                    <a:avLst>
                      <a:gd name="adj" fmla="val 15384"/>
                    </a:avLst>
                  </a:prstGeom>
                  <a:solidFill>
                    <a:srgbClr val="161B22"/>
                  </a:solidFill>
                  <a:ln w="9525" cap="flat">
                    <a:solidFill>
                      <a:srgbClr val="30363D"/>
                    </a:solidFill>
                    <a:prstDash val="solid"/>
                    <a:miter/>
                  </a:ln>
                </p:spPr>
              </p:sp>
              <p:sp>
                <p:nvSpPr>
                  <p:cNvPr id="194" name="TextBox 193">
                    <a:extLst>
                      <a:ext uri="{FF2B5EF4-FFF2-40B4-BE49-F238E27FC236}">
                        <a16:creationId xmlns:a16="http://schemas.microsoft.com/office/drawing/2014/main" id="{818E3BF0-5889-745F-ED6E-E634F186D5DE}"/>
                      </a:ext>
                    </a:extLst>
                  </p:cNvPr>
                  <p:cNvSpPr txBox="1"/>
                  <p:nvPr/>
                </p:nvSpPr>
                <p:spPr>
                  <a:xfrm>
                    <a:off x="10052685" y="8107177"/>
                    <a:ext cx="860606" cy="19785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750" spc="0" baseline="0">
                        <a:ln/>
                        <a:solidFill>
                          <a:srgbClr val="8B949E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Feature 1: </a:t>
                    </a:r>
                    <a:r>
                      <a:rPr lang="en-IN" sz="750" spc="0" baseline="0">
                        <a:ln/>
                        <a:solidFill>
                          <a:srgbClr val="F0F6FC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-0.44</a:t>
                    </a:r>
                  </a:p>
                </p:txBody>
              </p:sp>
              <p:sp>
                <p:nvSpPr>
                  <p:cNvPr id="195" name="Rectangle: Rounded Corners 194">
                    <a:extLst>
                      <a:ext uri="{FF2B5EF4-FFF2-40B4-BE49-F238E27FC236}">
                        <a16:creationId xmlns:a16="http://schemas.microsoft.com/office/drawing/2014/main" id="{478F7CF3-B0EC-3B07-0A60-AC504107C1B6}"/>
                      </a:ext>
                    </a:extLst>
                  </p:cNvPr>
                  <p:cNvSpPr/>
                  <p:nvPr/>
                </p:nvSpPr>
                <p:spPr>
                  <a:xfrm>
                    <a:off x="12382500" y="8077200"/>
                    <a:ext cx="2190750" cy="247650"/>
                  </a:xfrm>
                  <a:prstGeom prst="roundRect">
                    <a:avLst>
                      <a:gd name="adj" fmla="val 15384"/>
                    </a:avLst>
                  </a:prstGeom>
                  <a:solidFill>
                    <a:srgbClr val="161B22"/>
                  </a:solidFill>
                  <a:ln w="9525" cap="flat">
                    <a:solidFill>
                      <a:srgbClr val="30363D"/>
                    </a:solidFill>
                    <a:prstDash val="solid"/>
                    <a:miter/>
                  </a:ln>
                </p:spPr>
              </p:sp>
              <p:sp>
                <p:nvSpPr>
                  <p:cNvPr id="196" name="TextBox 195">
                    <a:extLst>
                      <a:ext uri="{FF2B5EF4-FFF2-40B4-BE49-F238E27FC236}">
                        <a16:creationId xmlns:a16="http://schemas.microsoft.com/office/drawing/2014/main" id="{DF1DBDB1-54CA-6D42-F9AA-391D865E6A3E}"/>
                      </a:ext>
                    </a:extLst>
                  </p:cNvPr>
                  <p:cNvSpPr txBox="1"/>
                  <p:nvPr/>
                </p:nvSpPr>
                <p:spPr>
                  <a:xfrm>
                    <a:off x="12386310" y="8107177"/>
                    <a:ext cx="860606" cy="19785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750" spc="0" baseline="0">
                        <a:ln/>
                        <a:solidFill>
                          <a:srgbClr val="8B949E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Feature 2: </a:t>
                    </a:r>
                    <a:r>
                      <a:rPr lang="en-IN" sz="750" spc="0" baseline="0">
                        <a:ln/>
                        <a:solidFill>
                          <a:srgbClr val="F0F6FC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-0.13</a:t>
                    </a:r>
                  </a:p>
                </p:txBody>
              </p:sp>
              <p:sp>
                <p:nvSpPr>
                  <p:cNvPr id="197" name="Rectangle: Rounded Corners 196">
                    <a:extLst>
                      <a:ext uri="{FF2B5EF4-FFF2-40B4-BE49-F238E27FC236}">
                        <a16:creationId xmlns:a16="http://schemas.microsoft.com/office/drawing/2014/main" id="{2160687A-44BE-DC4F-0811-2DAF14270D54}"/>
                      </a:ext>
                    </a:extLst>
                  </p:cNvPr>
                  <p:cNvSpPr/>
                  <p:nvPr/>
                </p:nvSpPr>
                <p:spPr>
                  <a:xfrm>
                    <a:off x="14716125" y="8077200"/>
                    <a:ext cx="2571750" cy="247650"/>
                  </a:xfrm>
                  <a:prstGeom prst="roundRect">
                    <a:avLst>
                      <a:gd name="adj" fmla="val 15384"/>
                    </a:avLst>
                  </a:prstGeom>
                  <a:solidFill>
                    <a:srgbClr val="161B22"/>
                  </a:solidFill>
                  <a:ln w="9525" cap="flat">
                    <a:solidFill>
                      <a:srgbClr val="30363D"/>
                    </a:solidFill>
                    <a:prstDash val="solid"/>
                    <a:miter/>
                  </a:ln>
                </p:spPr>
              </p:sp>
              <p:sp>
                <p:nvSpPr>
                  <p:cNvPr id="198" name="TextBox 197">
                    <a:extLst>
                      <a:ext uri="{FF2B5EF4-FFF2-40B4-BE49-F238E27FC236}">
                        <a16:creationId xmlns:a16="http://schemas.microsoft.com/office/drawing/2014/main" id="{506A6CCF-DFB3-4808-46A2-B97DCB0164F8}"/>
                      </a:ext>
                    </a:extLst>
                  </p:cNvPr>
                  <p:cNvSpPr txBox="1"/>
                  <p:nvPr/>
                </p:nvSpPr>
                <p:spPr>
                  <a:xfrm>
                    <a:off x="14719935" y="8107177"/>
                    <a:ext cx="1014224" cy="19785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750" spc="0" baseline="0">
                        <a:ln/>
                        <a:solidFill>
                          <a:srgbClr val="8B949E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Feature 3...30: </a:t>
                    </a:r>
                    <a:r>
                      <a:rPr lang="en-IN" sz="750" spc="0" baseline="0">
                        <a:ln/>
                        <a:solidFill>
                          <a:srgbClr val="F0F6FC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0.21</a:t>
                    </a:r>
                  </a:p>
                </p:txBody>
              </p:sp>
            </p:grpSp>
            <p:grpSp>
              <p:nvGrpSpPr>
                <p:cNvPr id="199" name="Graphic 26">
                  <a:extLst>
                    <a:ext uri="{FF2B5EF4-FFF2-40B4-BE49-F238E27FC236}">
                      <a16:creationId xmlns:a16="http://schemas.microsoft.com/office/drawing/2014/main" id="{2F892E83-C46A-9F52-19FE-117DCF3A94C5}"/>
                    </a:ext>
                  </a:extLst>
                </p:cNvPr>
                <p:cNvGrpSpPr/>
                <p:nvPr/>
              </p:nvGrpSpPr>
              <p:grpSpPr>
                <a:xfrm>
                  <a:off x="10048875" y="8458200"/>
                  <a:ext cx="7048500" cy="809625"/>
                  <a:chOff x="10048875" y="8458200"/>
                  <a:chExt cx="7048500" cy="809625"/>
                </a:xfrm>
              </p:grpSpPr>
              <p:sp>
                <p:nvSpPr>
                  <p:cNvPr id="200" name="Rectangle: Rounded Corners 199">
                    <a:extLst>
                      <a:ext uri="{FF2B5EF4-FFF2-40B4-BE49-F238E27FC236}">
                        <a16:creationId xmlns:a16="http://schemas.microsoft.com/office/drawing/2014/main" id="{32A3DF3F-44D4-C72A-0284-2A8F7B107021}"/>
                      </a:ext>
                    </a:extLst>
                  </p:cNvPr>
                  <p:cNvSpPr/>
                  <p:nvPr/>
                </p:nvSpPr>
                <p:spPr>
                  <a:xfrm>
                    <a:off x="10048875" y="8458200"/>
                    <a:ext cx="7048500" cy="809625"/>
                  </a:xfrm>
                  <a:prstGeom prst="roundRect">
                    <a:avLst>
                      <a:gd name="adj" fmla="val 7058"/>
                    </a:avLst>
                  </a:prstGeom>
                  <a:solidFill>
                    <a:srgbClr val="4C1D95"/>
                  </a:solidFill>
                  <a:ln w="9525" cap="flat">
                    <a:solidFill>
                      <a:srgbClr val="8B5CF6"/>
                    </a:solidFill>
                    <a:prstDash val="solid"/>
                    <a:miter/>
                  </a:ln>
                </p:spPr>
              </p:sp>
              <p:sp>
                <p:nvSpPr>
                  <p:cNvPr id="201" name="TextBox 200">
                    <a:extLst>
                      <a:ext uri="{FF2B5EF4-FFF2-40B4-BE49-F238E27FC236}">
                        <a16:creationId xmlns:a16="http://schemas.microsoft.com/office/drawing/2014/main" id="{8224A8A8-3DBD-525C-8A15-896022D0B1FF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7935" y="8558461"/>
                    <a:ext cx="3858404" cy="2404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1050" b="1" spc="0" baseline="0">
                        <a:ln/>
                        <a:solidFill>
                          <a:srgbClr val="DDD6FE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Prediction Result: Predicted Class 1 (Confidence: 54.83%)</a:t>
                    </a:r>
                  </a:p>
                </p:txBody>
              </p:sp>
              <p:sp>
                <p:nvSpPr>
                  <p:cNvPr id="202" name="TextBox 201">
                    <a:extLst>
                      <a:ext uri="{FF2B5EF4-FFF2-40B4-BE49-F238E27FC236}">
                        <a16:creationId xmlns:a16="http://schemas.microsoft.com/office/drawing/2014/main" id="{B86136D8-9294-2318-C341-1EF48E2326BE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7935" y="8794717"/>
                    <a:ext cx="4215061" cy="23079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825" spc="0" baseline="0">
                        <a:ln/>
                        <a:solidFill>
                          <a:srgbClr val="C4B5FD"/>
                        </a:solidFill>
                        <a:latin typeface="Segoe UI Emoji"/>
                        <a:ea typeface="Segoe UI Emoji"/>
                        <a:sym typeface="Segoe UI Emoji"/>
                        <a:rtl val="0"/>
                      </a:rPr>
                      <a:t>☁️</a:t>
                    </a:r>
                    <a:r>
                      <a:rPr lang="en-IN" sz="900" spc="0" baseline="0">
                        <a:ln/>
                        <a:solidFill>
                          <a:srgbClr val="C4B5FD"/>
                        </a:solidFill>
                        <a:latin typeface="Arial"/>
                        <a:ea typeface="Segoe UI Emoji"/>
                        <a:cs typeface="Arial"/>
                        <a:sym typeface="Arial"/>
                        <a:rtl val="0"/>
                      </a:rPr>
                      <a:t> Azure Storage Evaluation Accuracy: 88.157% (201 / 228 correct predictions)</a:t>
                    </a:r>
                  </a:p>
                </p:txBody>
              </p:sp>
              <p:sp>
                <p:nvSpPr>
                  <p:cNvPr id="203" name="TextBox 202">
                    <a:extLst>
                      <a:ext uri="{FF2B5EF4-FFF2-40B4-BE49-F238E27FC236}">
                        <a16:creationId xmlns:a16="http://schemas.microsoft.com/office/drawing/2014/main" id="{C3668FE1-D717-C9AB-7CFD-E948596A26A8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7935" y="8984379"/>
                    <a:ext cx="3757201" cy="20849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IN" sz="825" spc="0" baseline="0">
                        <a:ln/>
                        <a:solidFill>
                          <a:srgbClr val="A78BFA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Model Blob: models/global_model.pth | Local Model: azure_global_model.pth</a:t>
                    </a:r>
                  </a:p>
                </p:txBody>
              </p:sp>
            </p:grpSp>
          </p:grpSp>
        </p:grpSp>
      </p:grpSp>
      <p:sp>
        <p:nvSpPr>
          <p:cNvPr id="205" name="TextBox 204">
            <a:extLst>
              <a:ext uri="{FF2B5EF4-FFF2-40B4-BE49-F238E27FC236}">
                <a16:creationId xmlns:a16="http://schemas.microsoft.com/office/drawing/2014/main" id="{23B96285-4171-22E2-98CC-9FB558C3D0CE}"/>
              </a:ext>
            </a:extLst>
          </p:cNvPr>
          <p:cNvSpPr txBox="1"/>
          <p:nvPr/>
        </p:nvSpPr>
        <p:spPr>
          <a:xfrm>
            <a:off x="238125" y="149746"/>
            <a:ext cx="180498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IN" sz="7200" dirty="0">
                <a:latin typeface="Bricolage Grotesque" panose="020B0604020202020204" charset="0"/>
              </a:rPr>
              <a:t>SYSTEM ARCHITECTURE</a:t>
            </a:r>
            <a:endParaRPr lang="en-US" sz="7200" spc="-626" dirty="0">
              <a:solidFill>
                <a:srgbClr val="000000"/>
              </a:solidFill>
              <a:latin typeface="Bricolage Grotesque" panose="020B0604020202020204" charset="0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207" name="Freeform 9">
            <a:extLst>
              <a:ext uri="{FF2B5EF4-FFF2-40B4-BE49-F238E27FC236}">
                <a16:creationId xmlns:a16="http://schemas.microsoft.com/office/drawing/2014/main" id="{BF953DE9-696C-ACFC-3560-37C8B2C03F9A}"/>
              </a:ext>
            </a:extLst>
          </p:cNvPr>
          <p:cNvSpPr/>
          <p:nvPr/>
        </p:nvSpPr>
        <p:spPr>
          <a:xfrm>
            <a:off x="0" y="5001"/>
            <a:ext cx="1219200" cy="1453650"/>
          </a:xfrm>
          <a:custGeom>
            <a:avLst/>
            <a:gdLst/>
            <a:ahLst/>
            <a:cxnLst/>
            <a:rect l="l" t="t" r="r" b="b"/>
            <a:pathLst>
              <a:path w="1640851" h="2086167">
                <a:moveTo>
                  <a:pt x="0" y="0"/>
                </a:moveTo>
                <a:lnTo>
                  <a:pt x="1640851" y="0"/>
                </a:lnTo>
                <a:lnTo>
                  <a:pt x="1640851" y="2086167"/>
                </a:lnTo>
                <a:lnTo>
                  <a:pt x="0" y="2086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887490"/>
            </a:stretch>
          </a:blipFill>
        </p:spPr>
      </p:sp>
      <p:sp>
        <p:nvSpPr>
          <p:cNvPr id="209" name="Freeform 48">
            <a:extLst>
              <a:ext uri="{FF2B5EF4-FFF2-40B4-BE49-F238E27FC236}">
                <a16:creationId xmlns:a16="http://schemas.microsoft.com/office/drawing/2014/main" id="{BA5F8F28-D879-9ADD-70C8-5506CBD353BF}"/>
              </a:ext>
            </a:extLst>
          </p:cNvPr>
          <p:cNvSpPr/>
          <p:nvPr/>
        </p:nvSpPr>
        <p:spPr>
          <a:xfrm>
            <a:off x="16647148" y="0"/>
            <a:ext cx="1640851" cy="1547033"/>
          </a:xfrm>
          <a:custGeom>
            <a:avLst/>
            <a:gdLst/>
            <a:ahLst/>
            <a:cxnLst/>
            <a:rect l="l" t="t" r="r" b="b"/>
            <a:pathLst>
              <a:path w="2244530" h="2124813">
                <a:moveTo>
                  <a:pt x="0" y="0"/>
                </a:moveTo>
                <a:lnTo>
                  <a:pt x="2244530" y="0"/>
                </a:lnTo>
                <a:lnTo>
                  <a:pt x="2244530" y="2124813"/>
                </a:lnTo>
                <a:lnTo>
                  <a:pt x="0" y="2124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0402" r="-254869"/>
            </a:stretch>
          </a:blipFill>
        </p:spPr>
      </p:sp>
    </p:spTree>
    <p:extLst>
      <p:ext uri="{BB962C8B-B14F-4D97-AF65-F5344CB8AC3E}">
        <p14:creationId xmlns:p14="http://schemas.microsoft.com/office/powerpoint/2010/main" val="1804339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0" y="10277475"/>
            <a:ext cx="18288000" cy="0"/>
          </a:xfrm>
          <a:prstGeom prst="line">
            <a:avLst/>
          </a:prstGeom>
          <a:ln w="19050" cap="rnd">
            <a:gradFill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38" name="Group 38"/>
          <p:cNvGrpSpPr/>
          <p:nvPr/>
        </p:nvGrpSpPr>
        <p:grpSpPr>
          <a:xfrm>
            <a:off x="1676400" y="463218"/>
            <a:ext cx="47625" cy="1776584"/>
            <a:chOff x="0" y="0"/>
            <a:chExt cx="26250" cy="97921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6250" cy="979219"/>
            </a:xfrm>
            <a:custGeom>
              <a:avLst/>
              <a:gdLst/>
              <a:ahLst/>
              <a:cxnLst/>
              <a:rect l="l" t="t" r="r" b="b"/>
              <a:pathLst>
                <a:path w="26250" h="979219">
                  <a:moveTo>
                    <a:pt x="0" y="0"/>
                  </a:moveTo>
                  <a:lnTo>
                    <a:pt x="26250" y="0"/>
                  </a:lnTo>
                  <a:lnTo>
                    <a:pt x="26250" y="979219"/>
                  </a:lnTo>
                  <a:lnTo>
                    <a:pt x="0" y="97921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26250" cy="1017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905000" y="997567"/>
            <a:ext cx="144780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000" spc="-337" dirty="0">
                <a:solidFill>
                  <a:srgbClr val="000000"/>
                </a:solidFill>
                <a:latin typeface="Bricolage Grotesque" panose="020B0604020202020204" charset="0"/>
                <a:ea typeface="Bricolage Grotesque"/>
                <a:cs typeface="Bricolage Grotesque"/>
                <a:sym typeface="Bricolage Grotesque"/>
              </a:rPr>
              <a:t>Module 1 :  </a:t>
            </a:r>
            <a:r>
              <a:rPr lang="en-IN" sz="6000" dirty="0">
                <a:latin typeface="Bricolage Grotesque" panose="020B0604020202020204" charset="0"/>
              </a:rPr>
              <a:t>Client Data &amp; Preprocessing</a:t>
            </a:r>
            <a:endParaRPr lang="en-US" sz="6000" spc="-280" dirty="0">
              <a:solidFill>
                <a:srgbClr val="000000"/>
              </a:solidFill>
              <a:latin typeface="Bricolage Grotesque" panose="020B0604020202020204" charset="0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425DDB-9D1C-694A-67F5-36EB867E5842}"/>
              </a:ext>
            </a:extLst>
          </p:cNvPr>
          <p:cNvSpPr txBox="1"/>
          <p:nvPr/>
        </p:nvSpPr>
        <p:spPr>
          <a:xfrm>
            <a:off x="1277471" y="2424166"/>
            <a:ext cx="6338136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Generate/prepare distributed client datasets.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client data locally.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training and testing data.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raw client data from being transferred to the server. 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data_utils.py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clients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 features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455 training samples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228 test samples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10D5EA8E-6F1E-A011-F607-4C1EA7EFD7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02" y="2781301"/>
            <a:ext cx="9944088" cy="6629393"/>
          </a:xfrm>
          <a:prstGeom prst="rect">
            <a:avLst/>
          </a:prstGeom>
        </p:spPr>
      </p:pic>
      <p:sp>
        <p:nvSpPr>
          <p:cNvPr id="50" name="Freeform 9">
            <a:extLst>
              <a:ext uri="{FF2B5EF4-FFF2-40B4-BE49-F238E27FC236}">
                <a16:creationId xmlns:a16="http://schemas.microsoft.com/office/drawing/2014/main" id="{C2BF9232-E587-1BA5-25BD-013C74D7D0FD}"/>
              </a:ext>
            </a:extLst>
          </p:cNvPr>
          <p:cNvSpPr/>
          <p:nvPr/>
        </p:nvSpPr>
        <p:spPr>
          <a:xfrm>
            <a:off x="35859" y="9524"/>
            <a:ext cx="1219200" cy="1453650"/>
          </a:xfrm>
          <a:custGeom>
            <a:avLst/>
            <a:gdLst/>
            <a:ahLst/>
            <a:cxnLst/>
            <a:rect l="l" t="t" r="r" b="b"/>
            <a:pathLst>
              <a:path w="1640851" h="2086167">
                <a:moveTo>
                  <a:pt x="0" y="0"/>
                </a:moveTo>
                <a:lnTo>
                  <a:pt x="1640851" y="0"/>
                </a:lnTo>
                <a:lnTo>
                  <a:pt x="1640851" y="2086167"/>
                </a:lnTo>
                <a:lnTo>
                  <a:pt x="0" y="20861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887490"/>
            </a:stretch>
          </a:blipFill>
        </p:spPr>
      </p:sp>
      <p:sp>
        <p:nvSpPr>
          <p:cNvPr id="52" name="Freeform 48">
            <a:extLst>
              <a:ext uri="{FF2B5EF4-FFF2-40B4-BE49-F238E27FC236}">
                <a16:creationId xmlns:a16="http://schemas.microsoft.com/office/drawing/2014/main" id="{ABD03799-C09A-8D8F-C60E-9A86F25B0E92}"/>
              </a:ext>
            </a:extLst>
          </p:cNvPr>
          <p:cNvSpPr/>
          <p:nvPr/>
        </p:nvSpPr>
        <p:spPr>
          <a:xfrm>
            <a:off x="16647148" y="0"/>
            <a:ext cx="1640851" cy="1547033"/>
          </a:xfrm>
          <a:custGeom>
            <a:avLst/>
            <a:gdLst/>
            <a:ahLst/>
            <a:cxnLst/>
            <a:rect l="l" t="t" r="r" b="b"/>
            <a:pathLst>
              <a:path w="2244530" h="2124813">
                <a:moveTo>
                  <a:pt x="0" y="0"/>
                </a:moveTo>
                <a:lnTo>
                  <a:pt x="2244530" y="0"/>
                </a:lnTo>
                <a:lnTo>
                  <a:pt x="2244530" y="2124813"/>
                </a:lnTo>
                <a:lnTo>
                  <a:pt x="0" y="2124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0402" r="-254869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591EF-82FA-5AAE-245A-7BA4663B1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A4335513-DE2F-EE74-1980-6C512B2A4FD2}"/>
              </a:ext>
            </a:extLst>
          </p:cNvPr>
          <p:cNvSpPr/>
          <p:nvPr/>
        </p:nvSpPr>
        <p:spPr>
          <a:xfrm>
            <a:off x="0" y="10277475"/>
            <a:ext cx="18288000" cy="0"/>
          </a:xfrm>
          <a:prstGeom prst="line">
            <a:avLst/>
          </a:prstGeom>
          <a:ln w="19050" cap="rnd">
            <a:gradFill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E272296-619C-E643-8D79-FA9B40D8EFCA}"/>
              </a:ext>
            </a:extLst>
          </p:cNvPr>
          <p:cNvSpPr txBox="1"/>
          <p:nvPr/>
        </p:nvSpPr>
        <p:spPr>
          <a:xfrm>
            <a:off x="1773146" y="3191272"/>
            <a:ext cx="720376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model independently at each client.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raw data within the client.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local model parameters. 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lvl="0"/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FederatedModel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parameters: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4,097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EF69B3-1EDD-B8F0-1F3A-9AF431B0C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542" y="2053716"/>
            <a:ext cx="7322608" cy="59157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BCE720-ED0D-C6D9-4294-A9A5542B5C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982"/>
          <a:stretch>
            <a:fillRect/>
          </a:stretch>
        </p:blipFill>
        <p:spPr>
          <a:xfrm>
            <a:off x="9324542" y="7575400"/>
            <a:ext cx="7322606" cy="2605005"/>
          </a:xfrm>
          <a:prstGeom prst="rect">
            <a:avLst/>
          </a:prstGeom>
        </p:spPr>
      </p:pic>
      <p:sp>
        <p:nvSpPr>
          <p:cNvPr id="8" name="Freeform 9">
            <a:extLst>
              <a:ext uri="{FF2B5EF4-FFF2-40B4-BE49-F238E27FC236}">
                <a16:creationId xmlns:a16="http://schemas.microsoft.com/office/drawing/2014/main" id="{865D7890-2966-8C2F-8E1F-45EF13FA5F99}"/>
              </a:ext>
            </a:extLst>
          </p:cNvPr>
          <p:cNvSpPr/>
          <p:nvPr/>
        </p:nvSpPr>
        <p:spPr>
          <a:xfrm>
            <a:off x="0" y="5001"/>
            <a:ext cx="1219200" cy="1453650"/>
          </a:xfrm>
          <a:custGeom>
            <a:avLst/>
            <a:gdLst/>
            <a:ahLst/>
            <a:cxnLst/>
            <a:rect l="l" t="t" r="r" b="b"/>
            <a:pathLst>
              <a:path w="1640851" h="2086167">
                <a:moveTo>
                  <a:pt x="0" y="0"/>
                </a:moveTo>
                <a:lnTo>
                  <a:pt x="1640851" y="0"/>
                </a:lnTo>
                <a:lnTo>
                  <a:pt x="1640851" y="2086167"/>
                </a:lnTo>
                <a:lnTo>
                  <a:pt x="0" y="20861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887490"/>
            </a:stretch>
          </a:blipFill>
        </p:spPr>
      </p:sp>
      <p:sp>
        <p:nvSpPr>
          <p:cNvPr id="10" name="Freeform 48">
            <a:extLst>
              <a:ext uri="{FF2B5EF4-FFF2-40B4-BE49-F238E27FC236}">
                <a16:creationId xmlns:a16="http://schemas.microsoft.com/office/drawing/2014/main" id="{9CB5A7D7-1A18-01CB-4B9C-1A28039B13C2}"/>
              </a:ext>
            </a:extLst>
          </p:cNvPr>
          <p:cNvSpPr/>
          <p:nvPr/>
        </p:nvSpPr>
        <p:spPr>
          <a:xfrm>
            <a:off x="16647148" y="0"/>
            <a:ext cx="1640851" cy="1547033"/>
          </a:xfrm>
          <a:custGeom>
            <a:avLst/>
            <a:gdLst/>
            <a:ahLst/>
            <a:cxnLst/>
            <a:rect l="l" t="t" r="r" b="b"/>
            <a:pathLst>
              <a:path w="2244530" h="2124813">
                <a:moveTo>
                  <a:pt x="0" y="0"/>
                </a:moveTo>
                <a:lnTo>
                  <a:pt x="2244530" y="0"/>
                </a:lnTo>
                <a:lnTo>
                  <a:pt x="2244530" y="2124813"/>
                </a:lnTo>
                <a:lnTo>
                  <a:pt x="0" y="2124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80402" r="-254869"/>
            </a:stretch>
          </a:blipFill>
        </p:spPr>
      </p:sp>
      <p:grpSp>
        <p:nvGrpSpPr>
          <p:cNvPr id="15" name="Group 38">
            <a:extLst>
              <a:ext uri="{FF2B5EF4-FFF2-40B4-BE49-F238E27FC236}">
                <a16:creationId xmlns:a16="http://schemas.microsoft.com/office/drawing/2014/main" id="{10FE2EE1-136C-0689-D777-4BE90BBDCF68}"/>
              </a:ext>
            </a:extLst>
          </p:cNvPr>
          <p:cNvGrpSpPr/>
          <p:nvPr/>
        </p:nvGrpSpPr>
        <p:grpSpPr>
          <a:xfrm>
            <a:off x="1676400" y="463218"/>
            <a:ext cx="47625" cy="1776584"/>
            <a:chOff x="0" y="0"/>
            <a:chExt cx="26250" cy="979219"/>
          </a:xfrm>
        </p:grpSpPr>
        <p:sp>
          <p:nvSpPr>
            <p:cNvPr id="16" name="Freeform 39">
              <a:extLst>
                <a:ext uri="{FF2B5EF4-FFF2-40B4-BE49-F238E27FC236}">
                  <a16:creationId xmlns:a16="http://schemas.microsoft.com/office/drawing/2014/main" id="{8A5C7E43-1729-2EB1-BD23-D6F892CFBA49}"/>
                </a:ext>
              </a:extLst>
            </p:cNvPr>
            <p:cNvSpPr/>
            <p:nvPr/>
          </p:nvSpPr>
          <p:spPr>
            <a:xfrm>
              <a:off x="0" y="0"/>
              <a:ext cx="26250" cy="979219"/>
            </a:xfrm>
            <a:custGeom>
              <a:avLst/>
              <a:gdLst/>
              <a:ahLst/>
              <a:cxnLst/>
              <a:rect l="l" t="t" r="r" b="b"/>
              <a:pathLst>
                <a:path w="26250" h="979219">
                  <a:moveTo>
                    <a:pt x="0" y="0"/>
                  </a:moveTo>
                  <a:lnTo>
                    <a:pt x="26250" y="0"/>
                  </a:lnTo>
                  <a:lnTo>
                    <a:pt x="26250" y="979219"/>
                  </a:lnTo>
                  <a:lnTo>
                    <a:pt x="0" y="97921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TextBox 40">
              <a:extLst>
                <a:ext uri="{FF2B5EF4-FFF2-40B4-BE49-F238E27FC236}">
                  <a16:creationId xmlns:a16="http://schemas.microsoft.com/office/drawing/2014/main" id="{570168E6-FD7B-A428-36CC-94720A400F46}"/>
                </a:ext>
              </a:extLst>
            </p:cNvPr>
            <p:cNvSpPr txBox="1"/>
            <p:nvPr/>
          </p:nvSpPr>
          <p:spPr>
            <a:xfrm>
              <a:off x="0" y="-38100"/>
              <a:ext cx="26250" cy="1017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41">
            <a:extLst>
              <a:ext uri="{FF2B5EF4-FFF2-40B4-BE49-F238E27FC236}">
                <a16:creationId xmlns:a16="http://schemas.microsoft.com/office/drawing/2014/main" id="{8DEB5BC4-3483-89A0-E221-B90D1C016816}"/>
              </a:ext>
            </a:extLst>
          </p:cNvPr>
          <p:cNvSpPr txBox="1"/>
          <p:nvPr/>
        </p:nvSpPr>
        <p:spPr>
          <a:xfrm>
            <a:off x="1905000" y="997567"/>
            <a:ext cx="144780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000" spc="-337" dirty="0">
                <a:solidFill>
                  <a:srgbClr val="000000"/>
                </a:solidFill>
                <a:latin typeface="Bricolage Grotesque" panose="020B0604020202020204" charset="0"/>
                <a:ea typeface="Bricolage Grotesque"/>
                <a:cs typeface="Bricolage Grotesque"/>
                <a:sym typeface="Bricolage Grotesque"/>
              </a:rPr>
              <a:t>Module 2 :  </a:t>
            </a:r>
            <a:r>
              <a:rPr lang="en-IN" sz="6000" dirty="0">
                <a:latin typeface="Bricolage Grotesque" panose="020B0604020202020204" charset="0"/>
              </a:rPr>
              <a:t>Local Model Training</a:t>
            </a:r>
            <a:endParaRPr lang="en-US" sz="6000" spc="-280" dirty="0">
              <a:solidFill>
                <a:srgbClr val="000000"/>
              </a:solidFill>
              <a:latin typeface="Bricolage Grotesque" panose="020B0604020202020204" charset="0"/>
              <a:ea typeface="Bricolage Grotesque"/>
              <a:cs typeface="Bricolage Grotesque"/>
              <a:sym typeface="Bricolage Grotesque"/>
            </a:endParaRPr>
          </a:p>
        </p:txBody>
      </p:sp>
    </p:spTree>
    <p:extLst>
      <p:ext uri="{BB962C8B-B14F-4D97-AF65-F5344CB8AC3E}">
        <p14:creationId xmlns:p14="http://schemas.microsoft.com/office/powerpoint/2010/main" val="3589314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60813-C001-2F17-CFFB-56A0F9056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60B4D3B5-D59A-DAF6-6030-9CFD418953CF}"/>
              </a:ext>
            </a:extLst>
          </p:cNvPr>
          <p:cNvSpPr/>
          <p:nvPr/>
        </p:nvSpPr>
        <p:spPr>
          <a:xfrm>
            <a:off x="0" y="10277475"/>
            <a:ext cx="18288000" cy="0"/>
          </a:xfrm>
          <a:prstGeom prst="line">
            <a:avLst/>
          </a:prstGeom>
          <a:ln w="19050" cap="rnd">
            <a:gradFill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94C40B1-04DB-931F-F4CC-F2CC4482C75E}"/>
              </a:ext>
            </a:extLst>
          </p:cNvPr>
          <p:cNvSpPr txBox="1"/>
          <p:nvPr/>
        </p:nvSpPr>
        <p:spPr>
          <a:xfrm>
            <a:off x="1187824" y="3127499"/>
            <a:ext cx="655320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 training between clients and server.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model updates instead of raw data.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local models using Federated Averaging.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the global federated model. 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Flower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FedAvg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ECAF29-65A1-D16B-7CF8-C57A21C7E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4457700"/>
            <a:ext cx="10046542" cy="3742923"/>
          </a:xfrm>
          <a:prstGeom prst="rect">
            <a:avLst/>
          </a:prstGeom>
        </p:spPr>
      </p:pic>
      <p:sp>
        <p:nvSpPr>
          <p:cNvPr id="6" name="Freeform 9">
            <a:extLst>
              <a:ext uri="{FF2B5EF4-FFF2-40B4-BE49-F238E27FC236}">
                <a16:creationId xmlns:a16="http://schemas.microsoft.com/office/drawing/2014/main" id="{EB0A56CE-16FC-66C8-238D-BA0F0E5BADE5}"/>
              </a:ext>
            </a:extLst>
          </p:cNvPr>
          <p:cNvSpPr/>
          <p:nvPr/>
        </p:nvSpPr>
        <p:spPr>
          <a:xfrm>
            <a:off x="0" y="5001"/>
            <a:ext cx="1219200" cy="1453650"/>
          </a:xfrm>
          <a:custGeom>
            <a:avLst/>
            <a:gdLst/>
            <a:ahLst/>
            <a:cxnLst/>
            <a:rect l="l" t="t" r="r" b="b"/>
            <a:pathLst>
              <a:path w="1640851" h="2086167">
                <a:moveTo>
                  <a:pt x="0" y="0"/>
                </a:moveTo>
                <a:lnTo>
                  <a:pt x="1640851" y="0"/>
                </a:lnTo>
                <a:lnTo>
                  <a:pt x="1640851" y="2086167"/>
                </a:lnTo>
                <a:lnTo>
                  <a:pt x="0" y="20861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887490"/>
            </a:stretch>
          </a:blipFill>
        </p:spPr>
      </p:sp>
      <p:sp>
        <p:nvSpPr>
          <p:cNvPr id="8" name="Freeform 48">
            <a:extLst>
              <a:ext uri="{FF2B5EF4-FFF2-40B4-BE49-F238E27FC236}">
                <a16:creationId xmlns:a16="http://schemas.microsoft.com/office/drawing/2014/main" id="{CA6311DE-D38D-5400-0981-30531E6F8913}"/>
              </a:ext>
            </a:extLst>
          </p:cNvPr>
          <p:cNvSpPr/>
          <p:nvPr/>
        </p:nvSpPr>
        <p:spPr>
          <a:xfrm>
            <a:off x="16647148" y="0"/>
            <a:ext cx="1640851" cy="1547033"/>
          </a:xfrm>
          <a:custGeom>
            <a:avLst/>
            <a:gdLst/>
            <a:ahLst/>
            <a:cxnLst/>
            <a:rect l="l" t="t" r="r" b="b"/>
            <a:pathLst>
              <a:path w="2244530" h="2124813">
                <a:moveTo>
                  <a:pt x="0" y="0"/>
                </a:moveTo>
                <a:lnTo>
                  <a:pt x="2244530" y="0"/>
                </a:lnTo>
                <a:lnTo>
                  <a:pt x="2244530" y="2124813"/>
                </a:lnTo>
                <a:lnTo>
                  <a:pt x="0" y="2124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0402" r="-254869"/>
            </a:stretch>
          </a:blipFill>
        </p:spPr>
      </p:sp>
      <p:grpSp>
        <p:nvGrpSpPr>
          <p:cNvPr id="9" name="Group 38">
            <a:extLst>
              <a:ext uri="{FF2B5EF4-FFF2-40B4-BE49-F238E27FC236}">
                <a16:creationId xmlns:a16="http://schemas.microsoft.com/office/drawing/2014/main" id="{34800F3F-E464-EACE-8C4D-C1616E7548E2}"/>
              </a:ext>
            </a:extLst>
          </p:cNvPr>
          <p:cNvGrpSpPr/>
          <p:nvPr/>
        </p:nvGrpSpPr>
        <p:grpSpPr>
          <a:xfrm>
            <a:off x="1676400" y="463218"/>
            <a:ext cx="47625" cy="1776584"/>
            <a:chOff x="0" y="0"/>
            <a:chExt cx="26250" cy="979219"/>
          </a:xfrm>
        </p:grpSpPr>
        <p:sp>
          <p:nvSpPr>
            <p:cNvPr id="10" name="Freeform 39">
              <a:extLst>
                <a:ext uri="{FF2B5EF4-FFF2-40B4-BE49-F238E27FC236}">
                  <a16:creationId xmlns:a16="http://schemas.microsoft.com/office/drawing/2014/main" id="{B7BAFFE3-B880-D6DF-5BB1-AA38CA51B5D3}"/>
                </a:ext>
              </a:extLst>
            </p:cNvPr>
            <p:cNvSpPr/>
            <p:nvPr/>
          </p:nvSpPr>
          <p:spPr>
            <a:xfrm>
              <a:off x="0" y="0"/>
              <a:ext cx="26250" cy="979219"/>
            </a:xfrm>
            <a:custGeom>
              <a:avLst/>
              <a:gdLst/>
              <a:ahLst/>
              <a:cxnLst/>
              <a:rect l="l" t="t" r="r" b="b"/>
              <a:pathLst>
                <a:path w="26250" h="979219">
                  <a:moveTo>
                    <a:pt x="0" y="0"/>
                  </a:moveTo>
                  <a:lnTo>
                    <a:pt x="26250" y="0"/>
                  </a:lnTo>
                  <a:lnTo>
                    <a:pt x="26250" y="979219"/>
                  </a:lnTo>
                  <a:lnTo>
                    <a:pt x="0" y="97921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" name="TextBox 40">
              <a:extLst>
                <a:ext uri="{FF2B5EF4-FFF2-40B4-BE49-F238E27FC236}">
                  <a16:creationId xmlns:a16="http://schemas.microsoft.com/office/drawing/2014/main" id="{755ADBA8-7C39-0D7F-1D7D-E9F2E4DCB560}"/>
                </a:ext>
              </a:extLst>
            </p:cNvPr>
            <p:cNvSpPr txBox="1"/>
            <p:nvPr/>
          </p:nvSpPr>
          <p:spPr>
            <a:xfrm>
              <a:off x="0" y="-38100"/>
              <a:ext cx="26250" cy="1017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41">
            <a:extLst>
              <a:ext uri="{FF2B5EF4-FFF2-40B4-BE49-F238E27FC236}">
                <a16:creationId xmlns:a16="http://schemas.microsoft.com/office/drawing/2014/main" id="{53C81982-A09E-FBB6-0624-E17AB8CAE451}"/>
              </a:ext>
            </a:extLst>
          </p:cNvPr>
          <p:cNvSpPr txBox="1"/>
          <p:nvPr/>
        </p:nvSpPr>
        <p:spPr>
          <a:xfrm>
            <a:off x="1905000" y="997567"/>
            <a:ext cx="144780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6000" dirty="0">
                <a:latin typeface="Bricolage Grotesque" panose="020B0604020202020204" charset="0"/>
              </a:rPr>
              <a:t>Module 3 : Federated Learning &amp; </a:t>
            </a:r>
            <a:r>
              <a:rPr lang="en-IN" sz="6000" dirty="0" err="1">
                <a:latin typeface="Bricolage Grotesque" panose="020B0604020202020204" charset="0"/>
              </a:rPr>
              <a:t>FedAvg</a:t>
            </a:r>
            <a:endParaRPr lang="en-US" sz="6000" spc="-280" dirty="0">
              <a:solidFill>
                <a:srgbClr val="000000"/>
              </a:solidFill>
              <a:latin typeface="Bricolage Grotesque" panose="020B0604020202020204" charset="0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4753BF-D6D4-8C59-11FB-C61F61E8AB7E}"/>
              </a:ext>
            </a:extLst>
          </p:cNvPr>
          <p:cNvSpPr txBox="1"/>
          <p:nvPr/>
        </p:nvSpPr>
        <p:spPr>
          <a:xfrm>
            <a:off x="7826188" y="3705361"/>
            <a:ext cx="7239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Result: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Group 38">
            <a:extLst>
              <a:ext uri="{FF2B5EF4-FFF2-40B4-BE49-F238E27FC236}">
                <a16:creationId xmlns:a16="http://schemas.microsoft.com/office/drawing/2014/main" id="{A7A9AA34-C1D8-34BC-2E6B-BDC6F0C4676E}"/>
              </a:ext>
            </a:extLst>
          </p:cNvPr>
          <p:cNvGrpSpPr/>
          <p:nvPr/>
        </p:nvGrpSpPr>
        <p:grpSpPr>
          <a:xfrm>
            <a:off x="7712169" y="2718026"/>
            <a:ext cx="47625" cy="6820588"/>
            <a:chOff x="0" y="0"/>
            <a:chExt cx="26250" cy="979219"/>
          </a:xfrm>
        </p:grpSpPr>
        <p:sp>
          <p:nvSpPr>
            <p:cNvPr id="15" name="Freeform 39">
              <a:extLst>
                <a:ext uri="{FF2B5EF4-FFF2-40B4-BE49-F238E27FC236}">
                  <a16:creationId xmlns:a16="http://schemas.microsoft.com/office/drawing/2014/main" id="{9A9F472B-44F9-34B1-589D-3453DF3ABFA3}"/>
                </a:ext>
              </a:extLst>
            </p:cNvPr>
            <p:cNvSpPr/>
            <p:nvPr/>
          </p:nvSpPr>
          <p:spPr>
            <a:xfrm>
              <a:off x="0" y="0"/>
              <a:ext cx="26250" cy="979219"/>
            </a:xfrm>
            <a:custGeom>
              <a:avLst/>
              <a:gdLst/>
              <a:ahLst/>
              <a:cxnLst/>
              <a:rect l="l" t="t" r="r" b="b"/>
              <a:pathLst>
                <a:path w="26250" h="979219">
                  <a:moveTo>
                    <a:pt x="0" y="0"/>
                  </a:moveTo>
                  <a:lnTo>
                    <a:pt x="26250" y="0"/>
                  </a:lnTo>
                  <a:lnTo>
                    <a:pt x="26250" y="979219"/>
                  </a:lnTo>
                  <a:lnTo>
                    <a:pt x="0" y="97921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TextBox 40">
              <a:extLst>
                <a:ext uri="{FF2B5EF4-FFF2-40B4-BE49-F238E27FC236}">
                  <a16:creationId xmlns:a16="http://schemas.microsoft.com/office/drawing/2014/main" id="{BC1E44F1-339A-8510-96A8-16D394F741A3}"/>
                </a:ext>
              </a:extLst>
            </p:cNvPr>
            <p:cNvSpPr txBox="1"/>
            <p:nvPr/>
          </p:nvSpPr>
          <p:spPr>
            <a:xfrm>
              <a:off x="0" y="-38100"/>
              <a:ext cx="26250" cy="1017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69087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C3919-8DD4-2BA7-0196-59934F66C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F1882D46-05A3-C790-67DE-7BD0B930C225}"/>
              </a:ext>
            </a:extLst>
          </p:cNvPr>
          <p:cNvSpPr/>
          <p:nvPr/>
        </p:nvSpPr>
        <p:spPr>
          <a:xfrm>
            <a:off x="0" y="10277475"/>
            <a:ext cx="18288000" cy="0"/>
          </a:xfrm>
          <a:prstGeom prst="line">
            <a:avLst/>
          </a:prstGeom>
          <a:ln w="19050" cap="rnd">
            <a:gradFill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B38B45-55A8-E22A-94F2-E47409AAFF07}"/>
              </a:ext>
            </a:extLst>
          </p:cNvPr>
          <p:cNvSpPr txBox="1"/>
          <p:nvPr/>
        </p:nvSpPr>
        <p:spPr>
          <a:xfrm>
            <a:off x="1048871" y="2434662"/>
            <a:ext cx="8077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distributed client datasets.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training/test sample counts.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 dimensions.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distribution.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global analytics results.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Results: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EB3B8F2-EE9F-0652-3E7D-62986E3FC1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688894"/>
              </p:ext>
            </p:extLst>
          </p:nvPr>
        </p:nvGraphicFramePr>
        <p:xfrm>
          <a:off x="2209800" y="5946065"/>
          <a:ext cx="3818965" cy="2773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15816">
                  <a:extLst>
                    <a:ext uri="{9D8B030D-6E8A-4147-A177-3AD203B41FA5}">
                      <a16:colId xmlns:a16="http://schemas.microsoft.com/office/drawing/2014/main" val="2805746098"/>
                    </a:ext>
                  </a:extLst>
                </a:gridCol>
                <a:gridCol w="1603149">
                  <a:extLst>
                    <a:ext uri="{9D8B030D-6E8A-4147-A177-3AD203B41FA5}">
                      <a16:colId xmlns:a16="http://schemas.microsoft.com/office/drawing/2014/main" val="28086725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anchor="ctr">
                    <a:solidFill>
                      <a:srgbClr val="3753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anchor="ctr">
                    <a:solidFill>
                      <a:srgbClr val="3753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484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8749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Samples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8575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Samples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8009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0345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4070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48856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86687BF-029D-4A1B-AF31-8E2A6575CB4A}"/>
              </a:ext>
            </a:extLst>
          </p:cNvPr>
          <p:cNvSpPr txBox="1"/>
          <p:nvPr/>
        </p:nvSpPr>
        <p:spPr>
          <a:xfrm>
            <a:off x="1048871" y="8946886"/>
            <a:ext cx="809512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file: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analytics_results.json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FCAB190-DB7F-88F9-1701-7A2E7747B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043" y="2017963"/>
            <a:ext cx="8550048" cy="8162446"/>
          </a:xfrm>
          <a:prstGeom prst="rect">
            <a:avLst/>
          </a:prstGeom>
          <a:effectLst>
            <a:softEdge rad="0"/>
          </a:effectLst>
        </p:spPr>
      </p:pic>
      <p:sp>
        <p:nvSpPr>
          <p:cNvPr id="15" name="Freeform 9">
            <a:extLst>
              <a:ext uri="{FF2B5EF4-FFF2-40B4-BE49-F238E27FC236}">
                <a16:creationId xmlns:a16="http://schemas.microsoft.com/office/drawing/2014/main" id="{F0708F87-B05D-8C09-1FA0-EDD838377220}"/>
              </a:ext>
            </a:extLst>
          </p:cNvPr>
          <p:cNvSpPr/>
          <p:nvPr/>
        </p:nvSpPr>
        <p:spPr>
          <a:xfrm>
            <a:off x="0" y="5001"/>
            <a:ext cx="1219200" cy="1453650"/>
          </a:xfrm>
          <a:custGeom>
            <a:avLst/>
            <a:gdLst/>
            <a:ahLst/>
            <a:cxnLst/>
            <a:rect l="l" t="t" r="r" b="b"/>
            <a:pathLst>
              <a:path w="1640851" h="2086167">
                <a:moveTo>
                  <a:pt x="0" y="0"/>
                </a:moveTo>
                <a:lnTo>
                  <a:pt x="1640851" y="0"/>
                </a:lnTo>
                <a:lnTo>
                  <a:pt x="1640851" y="2086167"/>
                </a:lnTo>
                <a:lnTo>
                  <a:pt x="0" y="20861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887490"/>
            </a:stretch>
          </a:blipFill>
        </p:spPr>
      </p:sp>
      <p:sp>
        <p:nvSpPr>
          <p:cNvPr id="17" name="Freeform 48">
            <a:extLst>
              <a:ext uri="{FF2B5EF4-FFF2-40B4-BE49-F238E27FC236}">
                <a16:creationId xmlns:a16="http://schemas.microsoft.com/office/drawing/2014/main" id="{FF2F2DCD-A713-E3B2-DC9E-2934133D37CB}"/>
              </a:ext>
            </a:extLst>
          </p:cNvPr>
          <p:cNvSpPr/>
          <p:nvPr/>
        </p:nvSpPr>
        <p:spPr>
          <a:xfrm>
            <a:off x="16647148" y="0"/>
            <a:ext cx="1640851" cy="1547033"/>
          </a:xfrm>
          <a:custGeom>
            <a:avLst/>
            <a:gdLst/>
            <a:ahLst/>
            <a:cxnLst/>
            <a:rect l="l" t="t" r="r" b="b"/>
            <a:pathLst>
              <a:path w="2244530" h="2124813">
                <a:moveTo>
                  <a:pt x="0" y="0"/>
                </a:moveTo>
                <a:lnTo>
                  <a:pt x="2244530" y="0"/>
                </a:lnTo>
                <a:lnTo>
                  <a:pt x="2244530" y="2124813"/>
                </a:lnTo>
                <a:lnTo>
                  <a:pt x="0" y="2124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0402" r="-254869"/>
            </a:stretch>
          </a:blipFill>
        </p:spPr>
      </p:sp>
      <p:grpSp>
        <p:nvGrpSpPr>
          <p:cNvPr id="18" name="Group 38">
            <a:extLst>
              <a:ext uri="{FF2B5EF4-FFF2-40B4-BE49-F238E27FC236}">
                <a16:creationId xmlns:a16="http://schemas.microsoft.com/office/drawing/2014/main" id="{0F949097-252E-4C92-BF19-9CA5B3F553AF}"/>
              </a:ext>
            </a:extLst>
          </p:cNvPr>
          <p:cNvGrpSpPr/>
          <p:nvPr/>
        </p:nvGrpSpPr>
        <p:grpSpPr>
          <a:xfrm>
            <a:off x="1676400" y="463218"/>
            <a:ext cx="47625" cy="1776584"/>
            <a:chOff x="0" y="0"/>
            <a:chExt cx="26250" cy="979219"/>
          </a:xfrm>
        </p:grpSpPr>
        <p:sp>
          <p:nvSpPr>
            <p:cNvPr id="19" name="Freeform 39">
              <a:extLst>
                <a:ext uri="{FF2B5EF4-FFF2-40B4-BE49-F238E27FC236}">
                  <a16:creationId xmlns:a16="http://schemas.microsoft.com/office/drawing/2014/main" id="{31A9D151-C2BC-FB64-4A82-9E00B450F818}"/>
                </a:ext>
              </a:extLst>
            </p:cNvPr>
            <p:cNvSpPr/>
            <p:nvPr/>
          </p:nvSpPr>
          <p:spPr>
            <a:xfrm>
              <a:off x="0" y="0"/>
              <a:ext cx="26250" cy="979219"/>
            </a:xfrm>
            <a:custGeom>
              <a:avLst/>
              <a:gdLst/>
              <a:ahLst/>
              <a:cxnLst/>
              <a:rect l="l" t="t" r="r" b="b"/>
              <a:pathLst>
                <a:path w="26250" h="979219">
                  <a:moveTo>
                    <a:pt x="0" y="0"/>
                  </a:moveTo>
                  <a:lnTo>
                    <a:pt x="26250" y="0"/>
                  </a:lnTo>
                  <a:lnTo>
                    <a:pt x="26250" y="979219"/>
                  </a:lnTo>
                  <a:lnTo>
                    <a:pt x="0" y="97921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40">
              <a:extLst>
                <a:ext uri="{FF2B5EF4-FFF2-40B4-BE49-F238E27FC236}">
                  <a16:creationId xmlns:a16="http://schemas.microsoft.com/office/drawing/2014/main" id="{944E4856-AC97-091D-9DAE-F028B2B999F4}"/>
                </a:ext>
              </a:extLst>
            </p:cNvPr>
            <p:cNvSpPr txBox="1"/>
            <p:nvPr/>
          </p:nvSpPr>
          <p:spPr>
            <a:xfrm>
              <a:off x="0" y="-38100"/>
              <a:ext cx="26250" cy="1017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41">
            <a:extLst>
              <a:ext uri="{FF2B5EF4-FFF2-40B4-BE49-F238E27FC236}">
                <a16:creationId xmlns:a16="http://schemas.microsoft.com/office/drawing/2014/main" id="{7428055F-63EE-A675-8D7A-5DFA0FC28594}"/>
              </a:ext>
            </a:extLst>
          </p:cNvPr>
          <p:cNvSpPr txBox="1"/>
          <p:nvPr/>
        </p:nvSpPr>
        <p:spPr>
          <a:xfrm>
            <a:off x="1905000" y="997567"/>
            <a:ext cx="144780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6000" dirty="0">
                <a:latin typeface="Bricolage Grotesque" panose="020B0604020202020204" charset="0"/>
              </a:rPr>
              <a:t>Module 4 : Big Data Analytics</a:t>
            </a:r>
            <a:endParaRPr lang="en-US" sz="6000" spc="-280" dirty="0">
              <a:solidFill>
                <a:srgbClr val="000000"/>
              </a:solidFill>
              <a:latin typeface="Bricolage Grotesque" panose="020B0604020202020204" charset="0"/>
              <a:ea typeface="Bricolage Grotesque"/>
              <a:cs typeface="Bricolage Grotesque"/>
              <a:sym typeface="Bricolage Grotesque"/>
            </a:endParaRPr>
          </a:p>
        </p:txBody>
      </p:sp>
    </p:spTree>
    <p:extLst>
      <p:ext uri="{BB962C8B-B14F-4D97-AF65-F5344CB8AC3E}">
        <p14:creationId xmlns:p14="http://schemas.microsoft.com/office/powerpoint/2010/main" val="395956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17F0C-6AEE-99A8-1EBD-BD5A85024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BB4C1AB2-D7AF-2A44-7C2C-BC10EB6342AC}"/>
              </a:ext>
            </a:extLst>
          </p:cNvPr>
          <p:cNvSpPr/>
          <p:nvPr/>
        </p:nvSpPr>
        <p:spPr>
          <a:xfrm>
            <a:off x="0" y="10277475"/>
            <a:ext cx="18288000" cy="0"/>
          </a:xfrm>
          <a:prstGeom prst="line">
            <a:avLst/>
          </a:prstGeom>
          <a:ln w="19050" cap="rnd">
            <a:gradFill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FD47853-B50B-DFBB-7A82-1E5DE6E9BD22}"/>
              </a:ext>
            </a:extLst>
          </p:cNvPr>
          <p:cNvSpPr txBox="1"/>
          <p:nvPr/>
        </p:nvSpPr>
        <p:spPr>
          <a:xfrm>
            <a:off x="406836" y="2721712"/>
            <a:ext cx="5790828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important because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project is specifically cloud-based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federated learning results in Azure.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analytics results.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global model.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the global model from Azure.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independent model evaluation.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prediction results back in Azure.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structure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federated-results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results/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 └──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results.json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analytics/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 └──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analytics_results.json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models/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 └──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global_model.pth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predictions/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└──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azure_prediction_results.json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E83D67-1E4F-A441-6CCF-86A77561A2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33"/>
          <a:stretch>
            <a:fillRect/>
          </a:stretch>
        </p:blipFill>
        <p:spPr>
          <a:xfrm>
            <a:off x="12344400" y="1508208"/>
            <a:ext cx="5838454" cy="87625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B6BC03-A36C-6B0A-6985-12EC20CBE4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72"/>
          <a:stretch>
            <a:fillRect/>
          </a:stretch>
        </p:blipFill>
        <p:spPr>
          <a:xfrm>
            <a:off x="6083358" y="1521657"/>
            <a:ext cx="6099111" cy="8762543"/>
          </a:xfrm>
          <a:prstGeom prst="rect">
            <a:avLst/>
          </a:prstGeom>
        </p:spPr>
      </p:pic>
      <p:sp>
        <p:nvSpPr>
          <p:cNvPr id="8" name="Freeform 9">
            <a:extLst>
              <a:ext uri="{FF2B5EF4-FFF2-40B4-BE49-F238E27FC236}">
                <a16:creationId xmlns:a16="http://schemas.microsoft.com/office/drawing/2014/main" id="{710AD7F9-C4FF-3008-49A6-8A229E56E2B0}"/>
              </a:ext>
            </a:extLst>
          </p:cNvPr>
          <p:cNvSpPr/>
          <p:nvPr/>
        </p:nvSpPr>
        <p:spPr>
          <a:xfrm>
            <a:off x="0" y="5001"/>
            <a:ext cx="1219200" cy="1453650"/>
          </a:xfrm>
          <a:custGeom>
            <a:avLst/>
            <a:gdLst/>
            <a:ahLst/>
            <a:cxnLst/>
            <a:rect l="l" t="t" r="r" b="b"/>
            <a:pathLst>
              <a:path w="1640851" h="2086167">
                <a:moveTo>
                  <a:pt x="0" y="0"/>
                </a:moveTo>
                <a:lnTo>
                  <a:pt x="1640851" y="0"/>
                </a:lnTo>
                <a:lnTo>
                  <a:pt x="1640851" y="2086167"/>
                </a:lnTo>
                <a:lnTo>
                  <a:pt x="0" y="208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887490"/>
            </a:stretch>
          </a:blipFill>
        </p:spPr>
      </p:sp>
      <p:sp>
        <p:nvSpPr>
          <p:cNvPr id="10" name="Freeform 48">
            <a:extLst>
              <a:ext uri="{FF2B5EF4-FFF2-40B4-BE49-F238E27FC236}">
                <a16:creationId xmlns:a16="http://schemas.microsoft.com/office/drawing/2014/main" id="{42EBA992-72F3-A016-7D82-AF534AB3D291}"/>
              </a:ext>
            </a:extLst>
          </p:cNvPr>
          <p:cNvSpPr/>
          <p:nvPr/>
        </p:nvSpPr>
        <p:spPr>
          <a:xfrm>
            <a:off x="16647148" y="0"/>
            <a:ext cx="1640851" cy="1547033"/>
          </a:xfrm>
          <a:custGeom>
            <a:avLst/>
            <a:gdLst/>
            <a:ahLst/>
            <a:cxnLst/>
            <a:rect l="l" t="t" r="r" b="b"/>
            <a:pathLst>
              <a:path w="2244530" h="2124813">
                <a:moveTo>
                  <a:pt x="0" y="0"/>
                </a:moveTo>
                <a:lnTo>
                  <a:pt x="2244530" y="0"/>
                </a:lnTo>
                <a:lnTo>
                  <a:pt x="2244530" y="2124813"/>
                </a:lnTo>
                <a:lnTo>
                  <a:pt x="0" y="21248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80402" r="-254869"/>
            </a:stretch>
          </a:blipFill>
        </p:spPr>
      </p:sp>
      <p:grpSp>
        <p:nvGrpSpPr>
          <p:cNvPr id="11" name="Group 38">
            <a:extLst>
              <a:ext uri="{FF2B5EF4-FFF2-40B4-BE49-F238E27FC236}">
                <a16:creationId xmlns:a16="http://schemas.microsoft.com/office/drawing/2014/main" id="{D51420B2-F648-282F-0DFF-0E1E24DB2173}"/>
              </a:ext>
            </a:extLst>
          </p:cNvPr>
          <p:cNvGrpSpPr/>
          <p:nvPr/>
        </p:nvGrpSpPr>
        <p:grpSpPr>
          <a:xfrm>
            <a:off x="1676400" y="463218"/>
            <a:ext cx="47625" cy="1776584"/>
            <a:chOff x="0" y="0"/>
            <a:chExt cx="26250" cy="979219"/>
          </a:xfrm>
        </p:grpSpPr>
        <p:sp>
          <p:nvSpPr>
            <p:cNvPr id="12" name="Freeform 39">
              <a:extLst>
                <a:ext uri="{FF2B5EF4-FFF2-40B4-BE49-F238E27FC236}">
                  <a16:creationId xmlns:a16="http://schemas.microsoft.com/office/drawing/2014/main" id="{B2E6C890-BD85-69FB-9EF3-41BFE2A226B8}"/>
                </a:ext>
              </a:extLst>
            </p:cNvPr>
            <p:cNvSpPr/>
            <p:nvPr/>
          </p:nvSpPr>
          <p:spPr>
            <a:xfrm>
              <a:off x="0" y="0"/>
              <a:ext cx="26250" cy="979219"/>
            </a:xfrm>
            <a:custGeom>
              <a:avLst/>
              <a:gdLst/>
              <a:ahLst/>
              <a:cxnLst/>
              <a:rect l="l" t="t" r="r" b="b"/>
              <a:pathLst>
                <a:path w="26250" h="979219">
                  <a:moveTo>
                    <a:pt x="0" y="0"/>
                  </a:moveTo>
                  <a:lnTo>
                    <a:pt x="26250" y="0"/>
                  </a:lnTo>
                  <a:lnTo>
                    <a:pt x="26250" y="979219"/>
                  </a:lnTo>
                  <a:lnTo>
                    <a:pt x="0" y="97921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TextBox 40">
              <a:extLst>
                <a:ext uri="{FF2B5EF4-FFF2-40B4-BE49-F238E27FC236}">
                  <a16:creationId xmlns:a16="http://schemas.microsoft.com/office/drawing/2014/main" id="{E42B8777-45A7-F1F8-306A-3BAFFFE8E838}"/>
                </a:ext>
              </a:extLst>
            </p:cNvPr>
            <p:cNvSpPr txBox="1"/>
            <p:nvPr/>
          </p:nvSpPr>
          <p:spPr>
            <a:xfrm>
              <a:off x="0" y="-38100"/>
              <a:ext cx="26250" cy="1017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41">
            <a:extLst>
              <a:ext uri="{FF2B5EF4-FFF2-40B4-BE49-F238E27FC236}">
                <a16:creationId xmlns:a16="http://schemas.microsoft.com/office/drawing/2014/main" id="{AA8890FC-5D92-4EB9-27E4-51C0D8DA169B}"/>
              </a:ext>
            </a:extLst>
          </p:cNvPr>
          <p:cNvSpPr txBox="1"/>
          <p:nvPr/>
        </p:nvSpPr>
        <p:spPr>
          <a:xfrm>
            <a:off x="1845287" y="483389"/>
            <a:ext cx="1447800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6000" dirty="0">
                <a:latin typeface="Bricolage Grotesque" panose="020B0604020202020204" charset="0"/>
              </a:rPr>
              <a:t>Module 5 : Azure Cloud Storage &amp; Model Prediction</a:t>
            </a:r>
            <a:endParaRPr lang="en-US" sz="6000" spc="-280" dirty="0">
              <a:solidFill>
                <a:srgbClr val="000000"/>
              </a:solidFill>
              <a:latin typeface="Bricolage Grotesque" panose="020B0604020202020204" charset="0"/>
              <a:ea typeface="Bricolage Grotesque"/>
              <a:cs typeface="Bricolage Grotesque"/>
              <a:sym typeface="Bricolage Grotesque"/>
            </a:endParaRPr>
          </a:p>
        </p:txBody>
      </p:sp>
    </p:spTree>
    <p:extLst>
      <p:ext uri="{BB962C8B-B14F-4D97-AF65-F5344CB8AC3E}">
        <p14:creationId xmlns:p14="http://schemas.microsoft.com/office/powerpoint/2010/main" val="323947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69200-E18C-DA7A-087D-A32F6420F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5EEB1959-2A70-ACAB-3D89-3A759CF4A990}"/>
              </a:ext>
            </a:extLst>
          </p:cNvPr>
          <p:cNvSpPr/>
          <p:nvPr/>
        </p:nvSpPr>
        <p:spPr>
          <a:xfrm>
            <a:off x="0" y="10277475"/>
            <a:ext cx="18288000" cy="0"/>
          </a:xfrm>
          <a:prstGeom prst="line">
            <a:avLst/>
          </a:prstGeom>
          <a:ln w="19050" cap="rnd">
            <a:gradFill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FB5B904-F4B8-BB49-D925-8DEE40DC29CC}"/>
              </a:ext>
            </a:extLst>
          </p:cNvPr>
          <p:cNvSpPr txBox="1"/>
          <p:nvPr/>
        </p:nvSpPr>
        <p:spPr>
          <a:xfrm>
            <a:off x="430399" y="2630540"/>
            <a:ext cx="3885438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visual interface for the complete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federated learning results.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Big Data analytics.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Azure model status.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live predictions using the global model.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features: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Summary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Graph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Round-wise Results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Analytics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Distribution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Global Model Prediction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Integrity Verification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Prediction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Status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Conclusion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Blob Storage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66D9AB-7EBF-22DD-28A8-BC32F901F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5198" y="3086101"/>
            <a:ext cx="6122802" cy="50291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B4461B-A7FD-B426-05AE-7EEB6FE39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462" y="3086101"/>
            <a:ext cx="7682859" cy="5709454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40BF46E7-6876-BE02-AB78-4B1A0EBDA7A7}"/>
              </a:ext>
            </a:extLst>
          </p:cNvPr>
          <p:cNvSpPr/>
          <p:nvPr/>
        </p:nvSpPr>
        <p:spPr>
          <a:xfrm>
            <a:off x="0" y="5001"/>
            <a:ext cx="1219200" cy="1453650"/>
          </a:xfrm>
          <a:custGeom>
            <a:avLst/>
            <a:gdLst/>
            <a:ahLst/>
            <a:cxnLst/>
            <a:rect l="l" t="t" r="r" b="b"/>
            <a:pathLst>
              <a:path w="1640851" h="2086167">
                <a:moveTo>
                  <a:pt x="0" y="0"/>
                </a:moveTo>
                <a:lnTo>
                  <a:pt x="1640851" y="0"/>
                </a:lnTo>
                <a:lnTo>
                  <a:pt x="1640851" y="2086167"/>
                </a:lnTo>
                <a:lnTo>
                  <a:pt x="0" y="20861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887490"/>
            </a:stretch>
          </a:blipFill>
        </p:spPr>
      </p:sp>
      <p:sp>
        <p:nvSpPr>
          <p:cNvPr id="12" name="Freeform 48">
            <a:extLst>
              <a:ext uri="{FF2B5EF4-FFF2-40B4-BE49-F238E27FC236}">
                <a16:creationId xmlns:a16="http://schemas.microsoft.com/office/drawing/2014/main" id="{627EAA42-F57F-27E2-9465-8E7018D03268}"/>
              </a:ext>
            </a:extLst>
          </p:cNvPr>
          <p:cNvSpPr/>
          <p:nvPr/>
        </p:nvSpPr>
        <p:spPr>
          <a:xfrm>
            <a:off x="16647148" y="0"/>
            <a:ext cx="1640851" cy="1547033"/>
          </a:xfrm>
          <a:custGeom>
            <a:avLst/>
            <a:gdLst/>
            <a:ahLst/>
            <a:cxnLst/>
            <a:rect l="l" t="t" r="r" b="b"/>
            <a:pathLst>
              <a:path w="2244530" h="2124813">
                <a:moveTo>
                  <a:pt x="0" y="0"/>
                </a:moveTo>
                <a:lnTo>
                  <a:pt x="2244530" y="0"/>
                </a:lnTo>
                <a:lnTo>
                  <a:pt x="2244530" y="2124813"/>
                </a:lnTo>
                <a:lnTo>
                  <a:pt x="0" y="2124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80402" r="-254869"/>
            </a:stretch>
          </a:blipFill>
        </p:spPr>
      </p:sp>
      <p:grpSp>
        <p:nvGrpSpPr>
          <p:cNvPr id="13" name="Group 38">
            <a:extLst>
              <a:ext uri="{FF2B5EF4-FFF2-40B4-BE49-F238E27FC236}">
                <a16:creationId xmlns:a16="http://schemas.microsoft.com/office/drawing/2014/main" id="{8DB037D9-46AF-6B14-6BD1-6F012C6DEC79}"/>
              </a:ext>
            </a:extLst>
          </p:cNvPr>
          <p:cNvGrpSpPr/>
          <p:nvPr/>
        </p:nvGrpSpPr>
        <p:grpSpPr>
          <a:xfrm>
            <a:off x="1676400" y="463218"/>
            <a:ext cx="47625" cy="1776584"/>
            <a:chOff x="0" y="0"/>
            <a:chExt cx="26250" cy="979219"/>
          </a:xfrm>
        </p:grpSpPr>
        <p:sp>
          <p:nvSpPr>
            <p:cNvPr id="14" name="Freeform 39">
              <a:extLst>
                <a:ext uri="{FF2B5EF4-FFF2-40B4-BE49-F238E27FC236}">
                  <a16:creationId xmlns:a16="http://schemas.microsoft.com/office/drawing/2014/main" id="{6A0DDC56-B0CA-0309-0999-173009F5326A}"/>
                </a:ext>
              </a:extLst>
            </p:cNvPr>
            <p:cNvSpPr/>
            <p:nvPr/>
          </p:nvSpPr>
          <p:spPr>
            <a:xfrm>
              <a:off x="0" y="0"/>
              <a:ext cx="26250" cy="979219"/>
            </a:xfrm>
            <a:custGeom>
              <a:avLst/>
              <a:gdLst/>
              <a:ahLst/>
              <a:cxnLst/>
              <a:rect l="l" t="t" r="r" b="b"/>
              <a:pathLst>
                <a:path w="26250" h="979219">
                  <a:moveTo>
                    <a:pt x="0" y="0"/>
                  </a:moveTo>
                  <a:lnTo>
                    <a:pt x="26250" y="0"/>
                  </a:lnTo>
                  <a:lnTo>
                    <a:pt x="26250" y="979219"/>
                  </a:lnTo>
                  <a:lnTo>
                    <a:pt x="0" y="97921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" name="TextBox 40">
              <a:extLst>
                <a:ext uri="{FF2B5EF4-FFF2-40B4-BE49-F238E27FC236}">
                  <a16:creationId xmlns:a16="http://schemas.microsoft.com/office/drawing/2014/main" id="{38DEC909-4821-6B41-5C3A-6065574B87F8}"/>
                </a:ext>
              </a:extLst>
            </p:cNvPr>
            <p:cNvSpPr txBox="1"/>
            <p:nvPr/>
          </p:nvSpPr>
          <p:spPr>
            <a:xfrm>
              <a:off x="0" y="-38100"/>
              <a:ext cx="26250" cy="1017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41">
            <a:extLst>
              <a:ext uri="{FF2B5EF4-FFF2-40B4-BE49-F238E27FC236}">
                <a16:creationId xmlns:a16="http://schemas.microsoft.com/office/drawing/2014/main" id="{31CAB513-CA14-4BD4-9062-662E480693E0}"/>
              </a:ext>
            </a:extLst>
          </p:cNvPr>
          <p:cNvSpPr txBox="1"/>
          <p:nvPr/>
        </p:nvSpPr>
        <p:spPr>
          <a:xfrm>
            <a:off x="1724025" y="469482"/>
            <a:ext cx="1447800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6000" dirty="0">
                <a:latin typeface="Bricolage Grotesque" panose="020B0604020202020204" charset="0"/>
              </a:rPr>
              <a:t>Module 6 : </a:t>
            </a:r>
            <a:r>
              <a:rPr lang="en-IN" sz="6000" dirty="0" err="1">
                <a:latin typeface="Bricolage Grotesque" panose="020B0604020202020204" charset="0"/>
              </a:rPr>
              <a:t>Streamlit</a:t>
            </a:r>
            <a:r>
              <a:rPr lang="en-IN" sz="6000" dirty="0">
                <a:latin typeface="Bricolage Grotesque" panose="020B0604020202020204" charset="0"/>
              </a:rPr>
              <a:t> Dashboard &amp; Live Prediction</a:t>
            </a:r>
            <a:endParaRPr lang="en-US" sz="6000" spc="-280" dirty="0">
              <a:solidFill>
                <a:srgbClr val="000000"/>
              </a:solidFill>
              <a:latin typeface="Bricolage Grotesque" panose="020B0604020202020204" charset="0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22" name="Speech Bubble: Oval 21">
            <a:extLst>
              <a:ext uri="{FF2B5EF4-FFF2-40B4-BE49-F238E27FC236}">
                <a16:creationId xmlns:a16="http://schemas.microsoft.com/office/drawing/2014/main" id="{932FBC77-9395-C76D-A496-74632ACF63C5}"/>
              </a:ext>
            </a:extLst>
          </p:cNvPr>
          <p:cNvSpPr/>
          <p:nvPr/>
        </p:nvSpPr>
        <p:spPr>
          <a:xfrm rot="10800000" flipH="1">
            <a:off x="12165198" y="8362462"/>
            <a:ext cx="2922402" cy="1810229"/>
          </a:xfrm>
          <a:prstGeom prst="wedgeEllipseCallout">
            <a:avLst/>
          </a:prstGeom>
          <a:solidFill>
            <a:srgbClr val="0E111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FD1DB12-7BCA-56E7-2819-EEB2DBAE27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364" r="82139"/>
          <a:stretch>
            <a:fillRect/>
          </a:stretch>
        </p:blipFill>
        <p:spPr>
          <a:xfrm>
            <a:off x="12629097" y="8642169"/>
            <a:ext cx="1994602" cy="125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395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436107" y="2765941"/>
            <a:ext cx="10422382" cy="6894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demonstrates a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Learning-Based Privacy-Preserving Big Data Analytics on Cloud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implementation:</a:t>
            </a:r>
          </a:p>
          <a:p>
            <a:pPr marL="514350" lvl="0" indent="-5143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federated clients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0" indent="-5143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local training </a:t>
            </a:r>
          </a:p>
          <a:p>
            <a:pPr marL="514350" lvl="0" indent="-5143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FedAvg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aggregation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0" indent="-5143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federated rounds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0" indent="-5143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93.41% final federated accuracy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0" indent="-5143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455 training samples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0" indent="-5143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228 test samples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0" indent="-5143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 features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0" indent="-5143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results and the global model in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Blob Storage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0" indent="-5143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Downloads and independently evaluates the Azure global model </a:t>
            </a:r>
          </a:p>
          <a:p>
            <a:pPr marL="514350" lvl="0" indent="-5143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88.16% independent test accuracy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0" indent="-5143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interactive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0" indent="-5143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raw client data local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242790" y="238586"/>
            <a:ext cx="47625" cy="1381983"/>
            <a:chOff x="0" y="0"/>
            <a:chExt cx="24659" cy="7155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659" cy="715545"/>
            </a:xfrm>
            <a:custGeom>
              <a:avLst/>
              <a:gdLst/>
              <a:ahLst/>
              <a:cxnLst/>
              <a:rect l="l" t="t" r="r" b="b"/>
              <a:pathLst>
                <a:path w="24659" h="715545">
                  <a:moveTo>
                    <a:pt x="0" y="0"/>
                  </a:moveTo>
                  <a:lnTo>
                    <a:pt x="24659" y="0"/>
                  </a:lnTo>
                  <a:lnTo>
                    <a:pt x="24659" y="715545"/>
                  </a:lnTo>
                  <a:lnTo>
                    <a:pt x="0" y="71554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659" cy="753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666190">
            <a:off x="12611228" y="2129178"/>
            <a:ext cx="3243898" cy="3112306"/>
          </a:xfrm>
          <a:custGeom>
            <a:avLst/>
            <a:gdLst/>
            <a:ahLst/>
            <a:cxnLst/>
            <a:rect l="l" t="t" r="r" b="b"/>
            <a:pathLst>
              <a:path w="2315926" h="2223289">
                <a:moveTo>
                  <a:pt x="0" y="0"/>
                </a:moveTo>
                <a:lnTo>
                  <a:pt x="2315926" y="0"/>
                </a:lnTo>
                <a:lnTo>
                  <a:pt x="2315926" y="2223289"/>
                </a:lnTo>
                <a:lnTo>
                  <a:pt x="0" y="2223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554200" y="5259296"/>
            <a:ext cx="3442784" cy="1965754"/>
          </a:xfrm>
          <a:custGeom>
            <a:avLst/>
            <a:gdLst/>
            <a:ahLst/>
            <a:cxnLst/>
            <a:rect l="l" t="t" r="r" b="b"/>
            <a:pathLst>
              <a:path w="2147384" h="1556853">
                <a:moveTo>
                  <a:pt x="0" y="0"/>
                </a:moveTo>
                <a:lnTo>
                  <a:pt x="2147384" y="0"/>
                </a:lnTo>
                <a:lnTo>
                  <a:pt x="2147384" y="1556854"/>
                </a:lnTo>
                <a:lnTo>
                  <a:pt x="0" y="15568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692956" y="7725092"/>
            <a:ext cx="3080444" cy="2295207"/>
          </a:xfrm>
          <a:custGeom>
            <a:avLst/>
            <a:gdLst/>
            <a:ahLst/>
            <a:cxnLst/>
            <a:rect l="l" t="t" r="r" b="b"/>
            <a:pathLst>
              <a:path w="2523344" h="1715874">
                <a:moveTo>
                  <a:pt x="0" y="0"/>
                </a:moveTo>
                <a:lnTo>
                  <a:pt x="2523344" y="0"/>
                </a:lnTo>
                <a:lnTo>
                  <a:pt x="2523344" y="1715874"/>
                </a:lnTo>
                <a:lnTo>
                  <a:pt x="0" y="17158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380696" y="597729"/>
            <a:ext cx="6763304" cy="787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906"/>
              </a:lnSpc>
            </a:pPr>
            <a:r>
              <a:rPr lang="en-US" sz="6027" spc="-385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Conclusion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043470" y="0"/>
            <a:ext cx="2244530" cy="2124813"/>
          </a:xfrm>
          <a:custGeom>
            <a:avLst/>
            <a:gdLst/>
            <a:ahLst/>
            <a:cxnLst/>
            <a:rect l="l" t="t" r="r" b="b"/>
            <a:pathLst>
              <a:path w="2244530" h="2124813">
                <a:moveTo>
                  <a:pt x="0" y="0"/>
                </a:moveTo>
                <a:lnTo>
                  <a:pt x="2244530" y="0"/>
                </a:lnTo>
                <a:lnTo>
                  <a:pt x="2244530" y="2124813"/>
                </a:lnTo>
                <a:lnTo>
                  <a:pt x="0" y="21248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80402" r="-254869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7832" y="-14383"/>
            <a:ext cx="1640851" cy="2086167"/>
          </a:xfrm>
          <a:custGeom>
            <a:avLst/>
            <a:gdLst/>
            <a:ahLst/>
            <a:cxnLst/>
            <a:rect l="l" t="t" r="r" b="b"/>
            <a:pathLst>
              <a:path w="1640851" h="2086167">
                <a:moveTo>
                  <a:pt x="0" y="0"/>
                </a:moveTo>
                <a:lnTo>
                  <a:pt x="1640851" y="0"/>
                </a:lnTo>
                <a:lnTo>
                  <a:pt x="1640851" y="2086166"/>
                </a:lnTo>
                <a:lnTo>
                  <a:pt x="0" y="20861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887490"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985D3-27A8-70BA-4221-1F88C0D6F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132E59B-B7CB-1D19-F9AC-5C793F593AD0}"/>
              </a:ext>
            </a:extLst>
          </p:cNvPr>
          <p:cNvSpPr txBox="1"/>
          <p:nvPr/>
        </p:nvSpPr>
        <p:spPr>
          <a:xfrm>
            <a:off x="1143000" y="2877671"/>
            <a:ext cx="8862459" cy="6401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More Clients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from 2 clients to many distributed clients.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Larger Datasets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larger real-world datasets for stronger validation.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Advanced Privacy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Privacy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Aggregation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Homomorphic Encryption 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Cloud Deployment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complete dashboard and federated server to Azure.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CD93429-CC46-73C5-61A8-B640A909DABA}"/>
              </a:ext>
            </a:extLst>
          </p:cNvPr>
          <p:cNvGrpSpPr/>
          <p:nvPr/>
        </p:nvGrpSpPr>
        <p:grpSpPr>
          <a:xfrm>
            <a:off x="2242790" y="238586"/>
            <a:ext cx="47625" cy="1381983"/>
            <a:chOff x="0" y="0"/>
            <a:chExt cx="24659" cy="7155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20BB274-BAB4-5DDE-0C40-BBED966C1277}"/>
                </a:ext>
              </a:extLst>
            </p:cNvPr>
            <p:cNvSpPr/>
            <p:nvPr/>
          </p:nvSpPr>
          <p:spPr>
            <a:xfrm>
              <a:off x="0" y="0"/>
              <a:ext cx="24659" cy="715545"/>
            </a:xfrm>
            <a:custGeom>
              <a:avLst/>
              <a:gdLst/>
              <a:ahLst/>
              <a:cxnLst/>
              <a:rect l="l" t="t" r="r" b="b"/>
              <a:pathLst>
                <a:path w="24659" h="715545">
                  <a:moveTo>
                    <a:pt x="0" y="0"/>
                  </a:moveTo>
                  <a:lnTo>
                    <a:pt x="24659" y="0"/>
                  </a:lnTo>
                  <a:lnTo>
                    <a:pt x="24659" y="715545"/>
                  </a:lnTo>
                  <a:lnTo>
                    <a:pt x="0" y="71554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2290567-B542-89D7-D509-73F38D287AC0}"/>
                </a:ext>
              </a:extLst>
            </p:cNvPr>
            <p:cNvSpPr txBox="1"/>
            <p:nvPr/>
          </p:nvSpPr>
          <p:spPr>
            <a:xfrm>
              <a:off x="0" y="-38100"/>
              <a:ext cx="24659" cy="753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2B98BD87-D5AE-EA50-3A76-C229287A7713}"/>
              </a:ext>
            </a:extLst>
          </p:cNvPr>
          <p:cNvSpPr txBox="1"/>
          <p:nvPr/>
        </p:nvSpPr>
        <p:spPr>
          <a:xfrm>
            <a:off x="2380696" y="597729"/>
            <a:ext cx="7753904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en-IN" sz="6600" dirty="0">
                <a:latin typeface="Bricolage Grotesque" panose="020B0604020202020204" charset="0"/>
              </a:rPr>
              <a:t>Future Scope</a:t>
            </a:r>
            <a:endParaRPr lang="en-US" sz="6027" spc="-385" dirty="0">
              <a:solidFill>
                <a:srgbClr val="000000"/>
              </a:solidFill>
              <a:latin typeface="Bricolage Grotesque" panose="020B0604020202020204" charset="0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80FDC235-5908-C923-28F1-217505D6D6A5}"/>
              </a:ext>
            </a:extLst>
          </p:cNvPr>
          <p:cNvSpPr/>
          <p:nvPr/>
        </p:nvSpPr>
        <p:spPr>
          <a:xfrm>
            <a:off x="16043470" y="0"/>
            <a:ext cx="2244530" cy="2124813"/>
          </a:xfrm>
          <a:custGeom>
            <a:avLst/>
            <a:gdLst/>
            <a:ahLst/>
            <a:cxnLst/>
            <a:rect l="l" t="t" r="r" b="b"/>
            <a:pathLst>
              <a:path w="2244530" h="2124813">
                <a:moveTo>
                  <a:pt x="0" y="0"/>
                </a:moveTo>
                <a:lnTo>
                  <a:pt x="2244530" y="0"/>
                </a:lnTo>
                <a:lnTo>
                  <a:pt x="2244530" y="2124813"/>
                </a:lnTo>
                <a:lnTo>
                  <a:pt x="0" y="2124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0402" r="-254869"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115A4254-FF22-6DD8-8442-1772670E3016}"/>
              </a:ext>
            </a:extLst>
          </p:cNvPr>
          <p:cNvSpPr/>
          <p:nvPr/>
        </p:nvSpPr>
        <p:spPr>
          <a:xfrm>
            <a:off x="77832" y="-14383"/>
            <a:ext cx="1640851" cy="2086167"/>
          </a:xfrm>
          <a:custGeom>
            <a:avLst/>
            <a:gdLst/>
            <a:ahLst/>
            <a:cxnLst/>
            <a:rect l="l" t="t" r="r" b="b"/>
            <a:pathLst>
              <a:path w="1640851" h="2086167">
                <a:moveTo>
                  <a:pt x="0" y="0"/>
                </a:moveTo>
                <a:lnTo>
                  <a:pt x="1640851" y="0"/>
                </a:lnTo>
                <a:lnTo>
                  <a:pt x="1640851" y="2086166"/>
                </a:lnTo>
                <a:lnTo>
                  <a:pt x="0" y="2086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887490"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9F43CF-89F7-9574-3D91-E61CB56CE90C}"/>
              </a:ext>
            </a:extLst>
          </p:cNvPr>
          <p:cNvSpPr txBox="1"/>
          <p:nvPr/>
        </p:nvSpPr>
        <p:spPr>
          <a:xfrm>
            <a:off x="11201400" y="3323947"/>
            <a:ext cx="75438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Advanced Models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with: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models 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Real-Time Analytics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real-time monitoring of: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participation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performance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accuracy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metrics</a:t>
            </a:r>
          </a:p>
        </p:txBody>
      </p:sp>
      <p:grpSp>
        <p:nvGrpSpPr>
          <p:cNvPr id="15" name="Group 38">
            <a:extLst>
              <a:ext uri="{FF2B5EF4-FFF2-40B4-BE49-F238E27FC236}">
                <a16:creationId xmlns:a16="http://schemas.microsoft.com/office/drawing/2014/main" id="{F64CC1E1-B84D-B9C2-EE40-1AA5586F516C}"/>
              </a:ext>
            </a:extLst>
          </p:cNvPr>
          <p:cNvGrpSpPr/>
          <p:nvPr/>
        </p:nvGrpSpPr>
        <p:grpSpPr>
          <a:xfrm>
            <a:off x="10439400" y="2552700"/>
            <a:ext cx="47625" cy="6820588"/>
            <a:chOff x="0" y="0"/>
            <a:chExt cx="26250" cy="979219"/>
          </a:xfrm>
        </p:grpSpPr>
        <p:sp>
          <p:nvSpPr>
            <p:cNvPr id="16" name="Freeform 39">
              <a:extLst>
                <a:ext uri="{FF2B5EF4-FFF2-40B4-BE49-F238E27FC236}">
                  <a16:creationId xmlns:a16="http://schemas.microsoft.com/office/drawing/2014/main" id="{FCC17C0A-343F-4807-55CB-EC633C167FA8}"/>
                </a:ext>
              </a:extLst>
            </p:cNvPr>
            <p:cNvSpPr/>
            <p:nvPr/>
          </p:nvSpPr>
          <p:spPr>
            <a:xfrm>
              <a:off x="0" y="0"/>
              <a:ext cx="26250" cy="979219"/>
            </a:xfrm>
            <a:custGeom>
              <a:avLst/>
              <a:gdLst/>
              <a:ahLst/>
              <a:cxnLst/>
              <a:rect l="l" t="t" r="r" b="b"/>
              <a:pathLst>
                <a:path w="26250" h="979219">
                  <a:moveTo>
                    <a:pt x="0" y="0"/>
                  </a:moveTo>
                  <a:lnTo>
                    <a:pt x="26250" y="0"/>
                  </a:lnTo>
                  <a:lnTo>
                    <a:pt x="26250" y="979219"/>
                  </a:lnTo>
                  <a:lnTo>
                    <a:pt x="0" y="97921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TextBox 40">
              <a:extLst>
                <a:ext uri="{FF2B5EF4-FFF2-40B4-BE49-F238E27FC236}">
                  <a16:creationId xmlns:a16="http://schemas.microsoft.com/office/drawing/2014/main" id="{DB07C23B-5C35-14EF-48FA-AD22DD783D2C}"/>
                </a:ext>
              </a:extLst>
            </p:cNvPr>
            <p:cNvSpPr txBox="1"/>
            <p:nvPr/>
          </p:nvSpPr>
          <p:spPr>
            <a:xfrm>
              <a:off x="0" y="-38100"/>
              <a:ext cx="26250" cy="1017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97435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0503" y="2407920"/>
            <a:ext cx="18022156" cy="7755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T. R.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Gadekallu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Q.-V. Pham, T. Huynh-The, H. Feng, K. Fang, S. Pandya, M. Liyanage, W. Wang, and T. T. Nguyen, “Federated learning for big data: A survey on opportunities, applications, and future directions,” </a:t>
            </a: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Applications of Artificial Intelligence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166, Part B, Art. no. 113614, 2026,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10.1016/j.engappai.2025.113614.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Baduwal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Paudel, and V. Chaudhary, “Federated Learning: A Survey of Core Challenges, Current Methods, and Opportunities,” </a:t>
            </a: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15, no. 3, Art. no. 155, 2026,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10.3390/computers15030155.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Alsofyani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Alturaiki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H.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Mathkour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 Fairness Perspective on Client Selection and Aggregation Methods for Non-IID Mitigation in Federated Learning: A Survey,” </a:t>
            </a: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15, no. 14, Art. no. 3178, 2026,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10.3390/electronics15143178.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Djemaa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Djenouri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P. Legg, “Heterogeneity-Aware Poisoning Attacks and Mitigation in Federated Learning: A Comprehensive Survey and Taxonomy,” </a:t>
            </a: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15, no. 13, Art. no. 2876, 2026,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10.3390/electronics15132876.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L. Zhu, B. Zhao, and R. Peng, “Blockchain-Enabled Federated Learning: A Survey on System Design, Key Challenges, and Future Directions,” </a:t>
            </a: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15, no. 8, Art. no. 1572, 2026,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10.3390/electronics15081572.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Y. Li, Z. Guo, N. Yang, H. Chen, D. Yuan, and W. Ding, “Threats and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Federated Learning Life Cycle: A Comprehensive Survey and Challenges,” </a:t>
            </a: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Neural Networks and Learning Systems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36, no. 9, pp. 15643–15663, 2025,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10.1109/TNNLS.2025.3563537.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Guo, L. Yang, and Z. Wang, “Intent-based agentic AI framework for privacy-preserving cross-cloud federated learning and green big data analytics in edge-cloud networks,” </a:t>
            </a: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Communications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257, Art. no. 108611, 2026,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10.1016/j.comcom.2026.108611.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603895" y="275618"/>
            <a:ext cx="62671" cy="1700060"/>
            <a:chOff x="0" y="0"/>
            <a:chExt cx="32449" cy="8802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449" cy="880235"/>
            </a:xfrm>
            <a:custGeom>
              <a:avLst/>
              <a:gdLst/>
              <a:ahLst/>
              <a:cxnLst/>
              <a:rect l="l" t="t" r="r" b="b"/>
              <a:pathLst>
                <a:path w="32449" h="880235">
                  <a:moveTo>
                    <a:pt x="0" y="0"/>
                  </a:moveTo>
                  <a:lnTo>
                    <a:pt x="32449" y="0"/>
                  </a:lnTo>
                  <a:lnTo>
                    <a:pt x="32449" y="880235"/>
                  </a:lnTo>
                  <a:lnTo>
                    <a:pt x="0" y="8802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2449" cy="927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33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563810" y="690168"/>
            <a:ext cx="7166777" cy="870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494"/>
              </a:lnSpc>
            </a:pPr>
            <a:r>
              <a:rPr lang="en-US" sz="6627" spc="-424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References</a:t>
            </a:r>
          </a:p>
        </p:txBody>
      </p:sp>
      <p:sp>
        <p:nvSpPr>
          <p:cNvPr id="7" name="Freeform 7"/>
          <p:cNvSpPr/>
          <p:nvPr/>
        </p:nvSpPr>
        <p:spPr>
          <a:xfrm>
            <a:off x="16043470" y="0"/>
            <a:ext cx="2244530" cy="2124813"/>
          </a:xfrm>
          <a:custGeom>
            <a:avLst/>
            <a:gdLst/>
            <a:ahLst/>
            <a:cxnLst/>
            <a:rect l="l" t="t" r="r" b="b"/>
            <a:pathLst>
              <a:path w="2244530" h="2124813">
                <a:moveTo>
                  <a:pt x="0" y="0"/>
                </a:moveTo>
                <a:lnTo>
                  <a:pt x="2244530" y="0"/>
                </a:lnTo>
                <a:lnTo>
                  <a:pt x="2244530" y="2124813"/>
                </a:lnTo>
                <a:lnTo>
                  <a:pt x="0" y="2124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0402" r="-254869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7832" y="-14383"/>
            <a:ext cx="1640851" cy="2086167"/>
          </a:xfrm>
          <a:custGeom>
            <a:avLst/>
            <a:gdLst/>
            <a:ahLst/>
            <a:cxnLst/>
            <a:rect l="l" t="t" r="r" b="b"/>
            <a:pathLst>
              <a:path w="1640851" h="2086167">
                <a:moveTo>
                  <a:pt x="0" y="0"/>
                </a:moveTo>
                <a:lnTo>
                  <a:pt x="1640851" y="0"/>
                </a:lnTo>
                <a:lnTo>
                  <a:pt x="1640851" y="2086166"/>
                </a:lnTo>
                <a:lnTo>
                  <a:pt x="0" y="2086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887490"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00585" y="1172167"/>
            <a:ext cx="1723707" cy="7770981"/>
            <a:chOff x="0" y="0"/>
            <a:chExt cx="2298277" cy="10361307"/>
          </a:xfrm>
        </p:grpSpPr>
        <p:sp>
          <p:nvSpPr>
            <p:cNvPr id="3" name="Freeform 3"/>
            <p:cNvSpPr/>
            <p:nvPr/>
          </p:nvSpPr>
          <p:spPr>
            <a:xfrm>
              <a:off x="651979" y="0"/>
              <a:ext cx="981294" cy="947395"/>
            </a:xfrm>
            <a:custGeom>
              <a:avLst/>
              <a:gdLst/>
              <a:ahLst/>
              <a:cxnLst/>
              <a:rect l="l" t="t" r="r" b="b"/>
              <a:pathLst>
                <a:path w="981294" h="947395">
                  <a:moveTo>
                    <a:pt x="0" y="0"/>
                  </a:moveTo>
                  <a:lnTo>
                    <a:pt x="981294" y="0"/>
                  </a:lnTo>
                  <a:lnTo>
                    <a:pt x="981294" y="947395"/>
                  </a:lnTo>
                  <a:lnTo>
                    <a:pt x="0" y="947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1253511"/>
              <a:ext cx="2272228" cy="1440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108"/>
                </a:lnSpc>
              </a:pPr>
              <a:r>
                <a:rPr lang="en-US" sz="1970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</a:t>
              </a:r>
            </a:p>
            <a:p>
              <a:pPr marL="0" lvl="0" indent="0" algn="ctr">
                <a:lnSpc>
                  <a:spcPts val="2108"/>
                </a:lnSpc>
              </a:pPr>
              <a:r>
                <a:rPr lang="en-US" sz="1970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Project</a:t>
              </a:r>
            </a:p>
            <a:p>
              <a:pPr lvl="0" algn="ctr">
                <a:lnSpc>
                  <a:spcPts val="2108"/>
                </a:lnSpc>
              </a:pPr>
              <a:r>
                <a:rPr lang="en-US" sz="1970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From</a:t>
              </a:r>
            </a:p>
            <a:p>
              <a:pPr lvl="0" algn="ctr">
                <a:lnSpc>
                  <a:spcPts val="2108"/>
                </a:lnSpc>
              </a:pPr>
              <a:r>
                <a:rPr lang="en-US" sz="1970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MR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3024" y="1652492"/>
              <a:ext cx="2272228" cy="363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108"/>
                </a:lnSpc>
              </a:pPr>
              <a:endParaRPr lang="en-US" sz="197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024" y="9563341"/>
              <a:ext cx="2272228" cy="39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108"/>
                </a:lnSpc>
              </a:pPr>
              <a:r>
                <a:rPr lang="en-US" sz="1970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2026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6049" y="9962324"/>
              <a:ext cx="2272228" cy="39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108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18029" y="0"/>
            <a:ext cx="4378150" cy="10287000"/>
            <a:chOff x="0" y="0"/>
            <a:chExt cx="678290" cy="15937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8290" cy="1593725"/>
            </a:xfrm>
            <a:custGeom>
              <a:avLst/>
              <a:gdLst/>
              <a:ahLst/>
              <a:cxnLst/>
              <a:rect l="l" t="t" r="r" b="b"/>
              <a:pathLst>
                <a:path w="678290" h="1593725">
                  <a:moveTo>
                    <a:pt x="0" y="0"/>
                  </a:moveTo>
                  <a:lnTo>
                    <a:pt x="678290" y="0"/>
                  </a:lnTo>
                  <a:lnTo>
                    <a:pt x="67829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t="-70" b="-70"/>
              </a:stretch>
            </a:blipFill>
          </p:spPr>
        </p:sp>
      </p:grpSp>
      <p:sp>
        <p:nvSpPr>
          <p:cNvPr id="10" name="AutoShape 10"/>
          <p:cNvSpPr/>
          <p:nvPr/>
        </p:nvSpPr>
        <p:spPr>
          <a:xfrm>
            <a:off x="16103043" y="-85843"/>
            <a:ext cx="0" cy="1028700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825905" y="3283077"/>
            <a:ext cx="9458990" cy="2688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917"/>
              </a:lnSpc>
              <a:spcBef>
                <a:spcPct val="0"/>
              </a:spcBef>
            </a:pPr>
            <a:r>
              <a:rPr lang="en-US" sz="15655" b="1" spc="-100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2287</Words>
  <Application>Microsoft Office PowerPoint</Application>
  <PresentationFormat>Custom</PresentationFormat>
  <Paragraphs>367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Bricolage Grotesque</vt:lpstr>
      <vt:lpstr>Segoe UI Emoji</vt:lpstr>
      <vt:lpstr>Aptos</vt:lpstr>
      <vt:lpstr>Poppins Bold</vt:lpstr>
      <vt:lpstr>Arial</vt:lpstr>
      <vt:lpstr>Times New Roman</vt:lpstr>
      <vt:lpstr>Bricolage Grotesque Bold</vt:lpstr>
      <vt:lpstr>Wingdings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Federated Learning-Based Privacy- Preserving Big Data Analytics on Cloud</dc:title>
  <dc:creator>MOGO</dc:creator>
  <cp:lastModifiedBy>Mohan Ram</cp:lastModifiedBy>
  <cp:revision>11</cp:revision>
  <dcterms:created xsi:type="dcterms:W3CDTF">2006-08-16T00:00:00Z</dcterms:created>
  <dcterms:modified xsi:type="dcterms:W3CDTF">2026-08-30T11:25:50Z</dcterms:modified>
  <dc:identifier>DAHQ6iloLsA</dc:identifier>
</cp:coreProperties>
</file>